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fntdata" ContentType="application/x-fontdata"/>
  <Default Extension="png" ContentType="image/png"/>
  <Default Extension="jpg" ContentType="image/jpeg"/>
  <Default Extension="svg" ContentType="image/svg+xml"/>
  <Default Extension="rels" ContentType="application/vnd.openxmlformats-package.relationships+xml"/>
  <Override PartName="/ppt/notesMasters/notesMaster1.xml" ContentType="application/vnd.openxmlformats-officedocument.presentationml.notesMaster+xml"/>
  <Override PartName="/ppt/notesMasters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36c7fc44f5b4947" /><Relationship Type="http://schemas.openxmlformats.org/package/2006/relationships/metadata/core-properties" Target="/docProps/core.xml" Id="Rd331834d998f4528" /><Relationship Type="http://schemas.openxmlformats.org/officeDocument/2006/relationships/extended-properties" Target="/docProps/app.xml" Id="R050e0985829c4a30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true" saveSubsetFonts="1">
  <p:sldMasterIdLst>
    <p:sldMasterId id="2147483648" r:id="R7ac05bbfb58a4bc9"/>
  </p:sldMasterIdLst>
  <p:notesMasterIdLst>
    <p:notesMasterId r:id="R4fb085be3aad4fdf"/>
  </p:notesMasterIdLst>
  <p:sldIdLst>
    <p:sldId id="256" r:id="Ree05b4f9442547ef"/>
    <p:sldId id="257" r:id="R6caa3d2b4fa1490d"/>
    <p:sldId id="258" r:id="R8687971c33ff4031"/>
    <p:sldId id="259" r:id="Rd4609bc319ec4021"/>
    <p:sldId id="260" r:id="R2ddded1995e94d4a"/>
    <p:sldId id="261" r:id="R7e8f14764dc1479c"/>
    <p:sldId id="262" r:id="R025f3aa5200c4068"/>
    <p:sldId id="263" r:id="R5986226167834186"/>
    <p:sldId id="264" r:id="R90b1e1299d0843e7"/>
    <p:sldId id="265" r:id="R46035b1c6d6749bc"/>
    <p:sldId id="266" r:id="Rc7d997daa99d41fc"/>
    <p:sldId id="267" r:id="R86e1d96cbd3548e8"/>
    <p:sldId id="268" r:id="R23d9bda12dba4355"/>
    <p:sldId id="269" r:id="R884cf6b872fa4b9e"/>
    <p:sldId id="270" r:id="Re044f0ff17b74fd0"/>
    <p:sldId id="271" r:id="R12f15f6729034449"/>
    <p:sldId id="272" r:id="R7227ec0272374e79"/>
    <p:sldId id="273" r:id="R703bd69e87874c19"/>
    <p:sldId id="274" r:id="R31c9cca6a80448f5"/>
    <p:sldId id="275" r:id="R957f8ba5b29e4423"/>
    <p:sldId id="276" r:id="R52cb85df396344c4"/>
    <p:sldId id="277" r:id="R152d160b206742d5"/>
    <p:sldId id="278" r:id="R9c19a883be1f42ac"/>
    <p:sldId id="279" r:id="Ree362a3ffd024334"/>
    <p:sldId id="280" r:id="R3781ef3bb6404d4a"/>
    <p:sldId id="281" r:id="R513aecdde6df4bbd"/>
    <p:sldId id="282" r:id="R967421cf92114c7f"/>
    <p:sldId id="283" r:id="R10b761644116472e"/>
    <p:sldId id="284" r:id="R0ce88097e8794f1b"/>
    <p:sldId id="285" r:id="R3bca49ef9a5c4f0e"/>
  </p:sldIdLst>
  <p:sldSz cx="18288000" cy="10287000"/>
  <p:notesSz cx="6858000" cy="9144000"/>
  <p:embeddedFontLst>
    <p:embeddedFont>
      <p:font typeface="Arimo Bold" panose="020B0704020202020204" charset="1"/>
      <p:regular r:id="rcId6bcda0392d2940fc"/>
    </p:embeddedFont>
    <p:embeddedFont>
      <p:font typeface="Open Sans Bold" panose="00000000000000000000" charset="1"/>
      <p:regular r:id="rcIdf597a29c6efc41a2"/>
    </p:embeddedFont>
    <p:embeddedFont>
      <p:font typeface="Open Sans" panose="00000000000000000000" charset="1"/>
      <p:regular r:id="rcId3f9a3cf9407a4a35"/>
    </p:embeddedFont>
    <p:embeddedFont>
      <p:font typeface="Open Sans Italics" panose="00000000000000000000" charset="1"/>
      <p:regular r:id="rcIddba2ceb4a3c4468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font" Target="/ppt/fonts/font.fntdata" Id="rcId6bcda0392d2940fc" /><Relationship Type="http://schemas.openxmlformats.org/officeDocument/2006/relationships/font" Target="/ppt/fonts/font2.fntdata" Id="rcIdf597a29c6efc41a2" /><Relationship Type="http://schemas.openxmlformats.org/officeDocument/2006/relationships/font" Target="/ppt/fonts/font3.fntdata" Id="rcId3f9a3cf9407a4a35" /><Relationship Type="http://schemas.openxmlformats.org/officeDocument/2006/relationships/font" Target="/ppt/fonts/font4.fntdata" Id="rcIddba2ceb4a3c44681" /><Relationship Type="http://schemas.openxmlformats.org/officeDocument/2006/relationships/notesMaster" Target="/ppt/notesMasters/notesMaster1.xml" Id="R4fb085be3aad4fdf" /><Relationship Type="http://schemas.openxmlformats.org/officeDocument/2006/relationships/presProps" Target="/ppt/presProps.xml" Id="R184855bd33764b75" /><Relationship Type="http://schemas.openxmlformats.org/officeDocument/2006/relationships/viewProps" Target="/ppt/viewProps.xml" Id="R24377ba493ef4772" /><Relationship Type="http://schemas.openxmlformats.org/officeDocument/2006/relationships/slideMaster" Target="/ppt/slideMasters/slideMaster1.xml" Id="R7ac05bbfb58a4bc9" /><Relationship Type="http://schemas.openxmlformats.org/officeDocument/2006/relationships/theme" Target="/ppt/slideMasters/theme/theme2.xml" Id="Rb6ed83373cc34df1" /><Relationship Type="http://schemas.openxmlformats.org/officeDocument/2006/relationships/slide" Target="/ppt/slides/slide1.xml" Id="Ree05b4f9442547ef" /><Relationship Type="http://schemas.openxmlformats.org/officeDocument/2006/relationships/slide" Target="/ppt/slides/slide2.xml" Id="R6caa3d2b4fa1490d" /><Relationship Type="http://schemas.openxmlformats.org/officeDocument/2006/relationships/slide" Target="/ppt/slides/slide3.xml" Id="R8687971c33ff4031" /><Relationship Type="http://schemas.openxmlformats.org/officeDocument/2006/relationships/slide" Target="/ppt/slides/slide4.xml" Id="Rd4609bc319ec4021" /><Relationship Type="http://schemas.openxmlformats.org/officeDocument/2006/relationships/slide" Target="/ppt/slides/slide5.xml" Id="R2ddded1995e94d4a" /><Relationship Type="http://schemas.openxmlformats.org/officeDocument/2006/relationships/slide" Target="/ppt/slides/slide6.xml" Id="R7e8f14764dc1479c" /><Relationship Type="http://schemas.openxmlformats.org/officeDocument/2006/relationships/slide" Target="/ppt/slides/slide7.xml" Id="R025f3aa5200c4068" /><Relationship Type="http://schemas.openxmlformats.org/officeDocument/2006/relationships/slide" Target="/ppt/slides/slide8.xml" Id="R5986226167834186" /><Relationship Type="http://schemas.openxmlformats.org/officeDocument/2006/relationships/slide" Target="/ppt/slides/slide9.xml" Id="R90b1e1299d0843e7" /><Relationship Type="http://schemas.openxmlformats.org/officeDocument/2006/relationships/slide" Target="/ppt/slides/slide10.xml" Id="R46035b1c6d6749bc" /><Relationship Type="http://schemas.openxmlformats.org/officeDocument/2006/relationships/slide" Target="/ppt/slides/slide11.xml" Id="Rc7d997daa99d41fc" /><Relationship Type="http://schemas.openxmlformats.org/officeDocument/2006/relationships/slide" Target="/ppt/slides/slide12.xml" Id="R86e1d96cbd3548e8" /><Relationship Type="http://schemas.openxmlformats.org/officeDocument/2006/relationships/slide" Target="/ppt/slides/slide13.xml" Id="R23d9bda12dba4355" /><Relationship Type="http://schemas.openxmlformats.org/officeDocument/2006/relationships/slide" Target="/ppt/slides/slide14.xml" Id="R884cf6b872fa4b9e" /><Relationship Type="http://schemas.openxmlformats.org/officeDocument/2006/relationships/slide" Target="/ppt/slides/slide15.xml" Id="Re044f0ff17b74fd0" /><Relationship Type="http://schemas.openxmlformats.org/officeDocument/2006/relationships/slide" Target="/ppt/slides/slide16.xml" Id="R12f15f6729034449" /><Relationship Type="http://schemas.openxmlformats.org/officeDocument/2006/relationships/slide" Target="/ppt/slides/slide17.xml" Id="R7227ec0272374e79" /><Relationship Type="http://schemas.openxmlformats.org/officeDocument/2006/relationships/slide" Target="/ppt/slides/slide18.xml" Id="R703bd69e87874c19" /><Relationship Type="http://schemas.openxmlformats.org/officeDocument/2006/relationships/slide" Target="/ppt/slides/slide19.xml" Id="R31c9cca6a80448f5" /><Relationship Type="http://schemas.openxmlformats.org/officeDocument/2006/relationships/slide" Target="/ppt/slides/slide20.xml" Id="R957f8ba5b29e4423" /><Relationship Type="http://schemas.openxmlformats.org/officeDocument/2006/relationships/slide" Target="/ppt/slides/slide21.xml" Id="R52cb85df396344c4" /><Relationship Type="http://schemas.openxmlformats.org/officeDocument/2006/relationships/slide" Target="/ppt/slides/slide22.xml" Id="R152d160b206742d5" /><Relationship Type="http://schemas.openxmlformats.org/officeDocument/2006/relationships/slide" Target="/ppt/slides/slide23.xml" Id="R9c19a883be1f42ac" /><Relationship Type="http://schemas.openxmlformats.org/officeDocument/2006/relationships/slide" Target="/ppt/slides/slide24.xml" Id="Ree362a3ffd024334" /><Relationship Type="http://schemas.openxmlformats.org/officeDocument/2006/relationships/slide" Target="/ppt/slides/slide25.xml" Id="R3781ef3bb6404d4a" /><Relationship Type="http://schemas.openxmlformats.org/officeDocument/2006/relationships/slide" Target="/ppt/slides/slide26.xml" Id="R513aecdde6df4bbd" /><Relationship Type="http://schemas.openxmlformats.org/officeDocument/2006/relationships/slide" Target="/ppt/slides/slide27.xml" Id="R967421cf92114c7f" /><Relationship Type="http://schemas.openxmlformats.org/officeDocument/2006/relationships/slide" Target="/ppt/slides/slide28.xml" Id="R10b761644116472e" /><Relationship Type="http://schemas.openxmlformats.org/officeDocument/2006/relationships/slide" Target="/ppt/slides/slide29.xml" Id="R0ce88097e8794f1b" /><Relationship Type="http://schemas.openxmlformats.org/officeDocument/2006/relationships/slide" Target="/ppt/slides/slide30.xml" Id="R3bca49ef9a5c4f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.xml" Id="R63e792f39c4448b2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7149efdbdf46d6" /><Relationship Type="http://schemas.openxmlformats.org/officeDocument/2006/relationships/notesMaster" Target="/ppt/notesMasters/notesMaster1.xml" Id="R4524dd44f16f45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148d5946824563" /><Relationship Type="http://schemas.openxmlformats.org/officeDocument/2006/relationships/notesMaster" Target="/ppt/notesMasters/notesMaster1.xml" Id="R636166059b0541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7facda3d1c419d" /><Relationship Type="http://schemas.openxmlformats.org/officeDocument/2006/relationships/notesMaster" Target="/ppt/notesMasters/notesMaster1.xml" Id="Re4b729ac384b45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f559bcbb4d4e5e" /><Relationship Type="http://schemas.openxmlformats.org/officeDocument/2006/relationships/notesMaster" Target="/ppt/notesMasters/notesMaster1.xml" Id="R103e46a739eb4d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28b4326644460b" /><Relationship Type="http://schemas.openxmlformats.org/officeDocument/2006/relationships/notesMaster" Target="/ppt/notesMasters/notesMaster1.xml" Id="Rfdeafc29639246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fe95f860b24c71" /><Relationship Type="http://schemas.openxmlformats.org/officeDocument/2006/relationships/notesMaster" Target="/ppt/notesMasters/notesMaster1.xml" Id="Rb5e106c95d114e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2f8c796e5f4ed8" /><Relationship Type="http://schemas.openxmlformats.org/officeDocument/2006/relationships/notesMaster" Target="/ppt/notesMasters/notesMaster1.xml" Id="Rb637e3be16e243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e1cac0a09d4108" /><Relationship Type="http://schemas.openxmlformats.org/officeDocument/2006/relationships/notesMaster" Target="/ppt/notesMasters/notesMaster1.xml" Id="Rf56f4d79fc794d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6adf6fdfe14385" /><Relationship Type="http://schemas.openxmlformats.org/officeDocument/2006/relationships/notesMaster" Target="/ppt/notesMasters/notesMaster1.xml" Id="R769d3f82ada94d1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1059961eb3e443b" /><Relationship Type="http://schemas.openxmlformats.org/officeDocument/2006/relationships/notesMaster" Target="/ppt/notesMasters/notesMaster1.xml" Id="Rce606293af2a441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a3bf32cc3e74e86" /><Relationship Type="http://schemas.openxmlformats.org/officeDocument/2006/relationships/notesMaster" Target="/ppt/notesMasters/notesMaster1.xml" Id="Re618ce6b45b444a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35e9ca49e054869" /><Relationship Type="http://schemas.openxmlformats.org/officeDocument/2006/relationships/notesMaster" Target="/ppt/notesMasters/notesMaster1.xml" Id="R1be11cbfa8704e7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cb9232a055f4705" /><Relationship Type="http://schemas.openxmlformats.org/officeDocument/2006/relationships/notesMaster" Target="/ppt/notesMasters/notesMaster1.xml" Id="R84c761a579024f5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1770220ec5f4e13" /><Relationship Type="http://schemas.openxmlformats.org/officeDocument/2006/relationships/notesMaster" Target="/ppt/notesMasters/notesMaster1.xml" Id="R6fd0b67b9d9843b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4e1e64514ad4929" /><Relationship Type="http://schemas.openxmlformats.org/officeDocument/2006/relationships/notesMaster" Target="/ppt/notesMasters/notesMaster1.xml" Id="R1a5139254ec8462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c31a543059d433a" /><Relationship Type="http://schemas.openxmlformats.org/officeDocument/2006/relationships/notesMaster" Target="/ppt/notesMasters/notesMaster1.xml" Id="Re2ffaadb816b4ef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9de79863ce04551" /><Relationship Type="http://schemas.openxmlformats.org/officeDocument/2006/relationships/notesMaster" Target="/ppt/notesMasters/notesMaster1.xml" Id="R74fe115714bd4e7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ebca8d9f97a4738" /><Relationship Type="http://schemas.openxmlformats.org/officeDocument/2006/relationships/notesMaster" Target="/ppt/notesMasters/notesMaster1.xml" Id="Rf0e233db77394ab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0781d1e783f48ab" /><Relationship Type="http://schemas.openxmlformats.org/officeDocument/2006/relationships/notesMaster" Target="/ppt/notesMasters/notesMaster1.xml" Id="Racfe581afd934a0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8cd462dd8ac4937" /><Relationship Type="http://schemas.openxmlformats.org/officeDocument/2006/relationships/notesMaster" Target="/ppt/notesMasters/notesMaster1.xml" Id="R3c8c1db45a4d469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6111d13325c4430" /><Relationship Type="http://schemas.openxmlformats.org/officeDocument/2006/relationships/notesMaster" Target="/ppt/notesMasters/notesMaster1.xml" Id="R971dad0653a247d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0665e586b7741fa" /><Relationship Type="http://schemas.openxmlformats.org/officeDocument/2006/relationships/notesMaster" Target="/ppt/notesMasters/notesMaster1.xml" Id="R5a91d9328d214c4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7f96546bb534b1a" /><Relationship Type="http://schemas.openxmlformats.org/officeDocument/2006/relationships/notesMaster" Target="/ppt/notesMasters/notesMaster1.xml" Id="Rdb267af323c9457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359a1a2de4c4690" /><Relationship Type="http://schemas.openxmlformats.org/officeDocument/2006/relationships/notesMaster" Target="/ppt/notesMasters/notesMaster1.xml" Id="Rf22c480d883e424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80439e60588488d" /><Relationship Type="http://schemas.openxmlformats.org/officeDocument/2006/relationships/notesMaster" Target="/ppt/notesMasters/notesMaster1.xml" Id="Ra603b9e403cc4d7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ee1b263b13f4b8c" /><Relationship Type="http://schemas.openxmlformats.org/officeDocument/2006/relationships/notesMaster" Target="/ppt/notesMasters/notesMaster1.xml" Id="R2a058437455742e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5d52b177153420d" /><Relationship Type="http://schemas.openxmlformats.org/officeDocument/2006/relationships/notesMaster" Target="/ppt/notesMasters/notesMaster1.xml" Id="Rcaf28ecd4ed440f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bdcbdd3a7b44827" /><Relationship Type="http://schemas.openxmlformats.org/officeDocument/2006/relationships/notesMaster" Target="/ppt/notesMasters/notesMaster1.xml" Id="Rad46dee04db748f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8ae95f305124d94" /><Relationship Type="http://schemas.openxmlformats.org/officeDocument/2006/relationships/notesMaster" Target="/ppt/notesMasters/notesMaster1.xml" Id="Rc82538ea7b4d4c9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ddc059fb26f41dc" /><Relationship Type="http://schemas.openxmlformats.org/officeDocument/2006/relationships/notesMaster" Target="/ppt/notesMasters/notesMaster1.xml" Id="R699ab3d539fa4b48" 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a489d57875437a" /></Relationships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ffd00392df4cb0" /><Relationship Type="http://schemas.openxmlformats.org/officeDocument/2006/relationships/slideLayout" Target="/ppt/slideLayouts/slideLayout9.xml" Id="R82465d95ee6d4682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82465d95ee6d468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.png" Id="R00496b3b42154242" /><Relationship Type="http://schemas.openxmlformats.org/officeDocument/2006/relationships/image" Target="/ppt/media/image.jpg" Id="R3c0ff27ac2bf44dc" /><Relationship Type="http://schemas.openxmlformats.org/officeDocument/2006/relationships/image" Target="/ppt/media/image2.jpg" Id="Rf77882c6f8064656" /><Relationship Type="http://schemas.openxmlformats.org/officeDocument/2006/relationships/notesSlide" Target="/ppt/notesSlides/notesSlide1.xml" Id="Ra9f40796050244c0" /><Relationship Type="http://schemas.openxmlformats.org/officeDocument/2006/relationships/slideLayout" Target="/ppt/slideLayouts/slideLayout9.xml" Id="Rfb14f56e014d4a74" /><Relationship Type="http://schemas.openxmlformats.org/officeDocument/2006/relationships/hyperlink" Target="https://gamma.app/?utm_source=made-with-gamma" TargetMode="External" Id="rcIdf1b9eeb98a8a48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.png" Id="Ra304a078776142c7" /><Relationship Type="http://schemas.openxmlformats.org/officeDocument/2006/relationships/image" Target="/ppt/media/image3.jpg" Id="Re5852dda96ae4823" /><Relationship Type="http://schemas.openxmlformats.org/officeDocument/2006/relationships/notesSlide" Target="/ppt/notesSlides/notesSlide2.xml" Id="R9b76a99bc045491a" /><Relationship Type="http://schemas.openxmlformats.org/officeDocument/2006/relationships/slideLayout" Target="/ppt/slideLayouts/slideLayout9.xml" Id="R24c9322eaa2b4765" /><Relationship Type="http://schemas.openxmlformats.org/officeDocument/2006/relationships/hyperlink" Target="https://gamma.app/?utm_source=made-with-gamma" TargetMode="External" Id="rcId45b47d5343a449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.png" Id="Rebd4b72c5270421a" /><Relationship Type="http://schemas.openxmlformats.org/officeDocument/2006/relationships/image" Target="/ppt/media/image2.png" Id="Rdeebf37aeda34015" /><Relationship Type="http://schemas.openxmlformats.org/officeDocument/2006/relationships/image" Target="/ppt/media/image.svg" Id="R4a192c1367074bd5" /><Relationship Type="http://schemas.openxmlformats.org/officeDocument/2006/relationships/notesSlide" Target="/ppt/notesSlides/notesSlide3.xml" Id="Rda668e78531b4471" /><Relationship Type="http://schemas.openxmlformats.org/officeDocument/2006/relationships/slideLayout" Target="/ppt/slideLayouts/slideLayout9.xml" Id="Raa53ad424b344e06" /><Relationship Type="http://schemas.openxmlformats.org/officeDocument/2006/relationships/hyperlink" Target="https://gamma.app/?utm_source=made-with-gamma" TargetMode="External" Id="rcId2a5c54dfba8347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.png" Id="R6ba0d1f0f7304514" /><Relationship Type="http://schemas.openxmlformats.org/officeDocument/2006/relationships/image" Target="/ppt/media/image4.jpg" Id="Ra0f5644bcba54abb" /><Relationship Type="http://schemas.openxmlformats.org/officeDocument/2006/relationships/image" Target="/ppt/media/image3.png" Id="Rcf29498a58734324" /><Relationship Type="http://schemas.openxmlformats.org/officeDocument/2006/relationships/image" Target="/ppt/media/image4.png" Id="R68711bf873884cf2" /><Relationship Type="http://schemas.openxmlformats.org/officeDocument/2006/relationships/image" Target="/ppt/media/image5.png" Id="R2951c4c687b44f1d" /><Relationship Type="http://schemas.openxmlformats.org/officeDocument/2006/relationships/notesSlide" Target="/ppt/notesSlides/notesSlide4.xml" Id="R97c105fa8df34b26" /><Relationship Type="http://schemas.openxmlformats.org/officeDocument/2006/relationships/slideLayout" Target="/ppt/slideLayouts/slideLayout9.xml" Id="Rc512d0dbe3cb44d0" /><Relationship Type="http://schemas.openxmlformats.org/officeDocument/2006/relationships/hyperlink" Target="https://gamma.app/?utm_source=made-with-gamma" TargetMode="External" Id="rcIdc8a5fa6cc8784c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.png" Id="R66363bb5e2ba462d" /><Relationship Type="http://schemas.openxmlformats.org/officeDocument/2006/relationships/image" Target="/ppt/media/image5.jpg" Id="Ra13f0c252dc6435c" /><Relationship Type="http://schemas.openxmlformats.org/officeDocument/2006/relationships/image" Target="/ppt/media/image6.png" Id="R6a3478238180436b" /><Relationship Type="http://schemas.openxmlformats.org/officeDocument/2006/relationships/notesSlide" Target="/ppt/notesSlides/notesSlide5.xml" Id="Racc3c56311ef4f15" /><Relationship Type="http://schemas.openxmlformats.org/officeDocument/2006/relationships/slideLayout" Target="/ppt/slideLayouts/slideLayout9.xml" Id="R61ab3464404a44b5" /><Relationship Type="http://schemas.openxmlformats.org/officeDocument/2006/relationships/hyperlink" Target="https://gamma.app/?utm_source=made-with-gamma" TargetMode="External" Id="rcIdc161df998fc347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7.png" Id="R93bbcce67e47458f" /><Relationship Type="http://schemas.openxmlformats.org/officeDocument/2006/relationships/image" Target="/ppt/media/image6.jpg" Id="R0ba84dbc9ebe4d1f" /><Relationship Type="http://schemas.openxmlformats.org/officeDocument/2006/relationships/notesSlide" Target="/ppt/notesSlides/notesSlide6.xml" Id="R1b6f295d0daf4314" /><Relationship Type="http://schemas.openxmlformats.org/officeDocument/2006/relationships/slideLayout" Target="/ppt/slideLayouts/slideLayout9.xml" Id="R2fb4b1da991649cc" /><Relationship Type="http://schemas.openxmlformats.org/officeDocument/2006/relationships/hyperlink" Target="https://gamma.app/?utm_source=made-with-gamma" TargetMode="External" Id="rcIde4c178ddba2347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7.png" Id="Rd594c4dbb9e3486e" /><Relationship Type="http://schemas.openxmlformats.org/officeDocument/2006/relationships/image" Target="/ppt/media/image7.jpg" Id="Ree0619c5d35b4640" /><Relationship Type="http://schemas.openxmlformats.org/officeDocument/2006/relationships/notesSlide" Target="/ppt/notesSlides/notesSlide7.xml" Id="R2888245445dd465f" /><Relationship Type="http://schemas.openxmlformats.org/officeDocument/2006/relationships/slideLayout" Target="/ppt/slideLayouts/slideLayout9.xml" Id="R68aab9f54a5648e8" /><Relationship Type="http://schemas.openxmlformats.org/officeDocument/2006/relationships/hyperlink" Target="https://gamma.app/?utm_source=made-with-gamma" TargetMode="External" Id="rcId085b510564024d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8.jpg" Id="R7cdcd9e62c644306" /><Relationship Type="http://schemas.openxmlformats.org/officeDocument/2006/relationships/notesSlide" Target="/ppt/notesSlides/notesSlide8.xml" Id="R4f9200991c294dae" /><Relationship Type="http://schemas.openxmlformats.org/officeDocument/2006/relationships/slideLayout" Target="/ppt/slideLayouts/slideLayout9.xml" Id="R9564bb50013844b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image" Target="/ppt/media/image9.jpg" Id="R899670522c914639" /><Relationship Type="http://schemas.openxmlformats.org/officeDocument/2006/relationships/image" Target="/ppt/media/image8.png" Id="R24ec1d2d85674b2c" /><Relationship Type="http://schemas.openxmlformats.org/officeDocument/2006/relationships/notesSlide" Target="/ppt/notesSlides/notesSlide9.xml" Id="R75bc4e7952c14490" /><Relationship Type="http://schemas.openxmlformats.org/officeDocument/2006/relationships/slideLayout" Target="/ppt/slideLayouts/slideLayout9.xml" Id="R147d190e885b45f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7.png" Id="R338e89f8468f45ae" /><Relationship Type="http://schemas.openxmlformats.org/officeDocument/2006/relationships/image" Target="/ppt/media/image10.jpg" Id="R4348f9f794034956" /><Relationship Type="http://schemas.openxmlformats.org/officeDocument/2006/relationships/notesSlide" Target="/ppt/notesSlides/notesSlide10.xml" Id="Rba5d1216fb584311" /><Relationship Type="http://schemas.openxmlformats.org/officeDocument/2006/relationships/slideLayout" Target="/ppt/slideLayouts/slideLayout9.xml" Id="R6373670f91564774" /><Relationship Type="http://schemas.openxmlformats.org/officeDocument/2006/relationships/hyperlink" Target="https://gamma.app/?utm_source=made-with-gamma" TargetMode="External" Id="rcId5223ad556cf74fd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image" Target="/ppt/media/image7.png" Id="R07a20ac2784042a5" /><Relationship Type="http://schemas.openxmlformats.org/officeDocument/2006/relationships/image" Target="/ppt/media/image11.jpg" Id="Rf77b6e3d2d04468e" /><Relationship Type="http://schemas.openxmlformats.org/officeDocument/2006/relationships/image" Target="/ppt/media/image12.jpg" Id="Rb94e015b94014886" /><Relationship Type="http://schemas.openxmlformats.org/officeDocument/2006/relationships/notesSlide" Target="/ppt/notesSlides/notesSlide11.xml" Id="R11122affe4da45b3" /><Relationship Type="http://schemas.openxmlformats.org/officeDocument/2006/relationships/slideLayout" Target="/ppt/slideLayouts/slideLayout9.xml" Id="R9ba29603ace247a6" /><Relationship Type="http://schemas.openxmlformats.org/officeDocument/2006/relationships/hyperlink" Target="https://gamma.app/?utm_source=made-with-gamma" TargetMode="External" Id="rcIdf2574e78b8fd443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image" Target="/ppt/media/image13.jpg" Id="Rda6e2c178c6e4db4" /><Relationship Type="http://schemas.openxmlformats.org/officeDocument/2006/relationships/notesSlide" Target="/ppt/notesSlides/notesSlide12.xml" Id="Ra4637a73e57e4eb0" /><Relationship Type="http://schemas.openxmlformats.org/officeDocument/2006/relationships/slideLayout" Target="/ppt/slideLayouts/slideLayout9.xml" Id="Rbe8849e372cb4d5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image" Target="/ppt/media/image14.jpg" Id="R6aaca523af944df0" /><Relationship Type="http://schemas.openxmlformats.org/officeDocument/2006/relationships/image" Target="/ppt/media/image9.png" Id="R4faf859be73b4f88" /><Relationship Type="http://schemas.openxmlformats.org/officeDocument/2006/relationships/image" Target="/ppt/media/image2.svg" Id="R93dd4622e5a140b4" /><Relationship Type="http://schemas.openxmlformats.org/officeDocument/2006/relationships/image" Target="/ppt/media/image10.png" Id="Rc2a5e81db05642b2" /><Relationship Type="http://schemas.openxmlformats.org/officeDocument/2006/relationships/image" Target="/ppt/media/image3.svg" Id="R468792411ce149a7" /><Relationship Type="http://schemas.openxmlformats.org/officeDocument/2006/relationships/notesSlide" Target="/ppt/notesSlides/notesSlide13.xml" Id="R061f0d3be2534a13" /><Relationship Type="http://schemas.openxmlformats.org/officeDocument/2006/relationships/slideLayout" Target="/ppt/slideLayouts/slideLayout9.xml" Id="Rd27360e192a3461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image" Target="/ppt/media/image15.jpg" Id="R3b319c60ca424047" /><Relationship Type="http://schemas.openxmlformats.org/officeDocument/2006/relationships/image" Target="/ppt/media/image11.png" Id="R0b998683504546a9" /><Relationship Type="http://schemas.openxmlformats.org/officeDocument/2006/relationships/notesSlide" Target="/ppt/notesSlides/notesSlide14.xml" Id="R92cf584c58c045e8" /><Relationship Type="http://schemas.openxmlformats.org/officeDocument/2006/relationships/slideLayout" Target="/ppt/slideLayouts/slideLayout9.xml" Id="R08dfffef4dd5406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image" Target="/ppt/media/image7.png" Id="R62a90f9288a84b07" /><Relationship Type="http://schemas.openxmlformats.org/officeDocument/2006/relationships/image" Target="/ppt/media/image16.jpg" Id="Rabf68fc43db74607" /><Relationship Type="http://schemas.openxmlformats.org/officeDocument/2006/relationships/notesSlide" Target="/ppt/notesSlides/notesSlide15.xml" Id="Rb7ef44fb97754863" /><Relationship Type="http://schemas.openxmlformats.org/officeDocument/2006/relationships/slideLayout" Target="/ppt/slideLayouts/slideLayout9.xml" Id="R1e6f1155e4de483c" /><Relationship Type="http://schemas.openxmlformats.org/officeDocument/2006/relationships/hyperlink" Target="https://gamma.app/?utm_source=made-with-gamma" TargetMode="External" Id="rcId418c2bfb9e9c4a9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image" Target="/ppt/media/image17.jpg" Id="R994eb88f2a4a4786" /><Relationship Type="http://schemas.openxmlformats.org/officeDocument/2006/relationships/notesSlide" Target="/ppt/notesSlides/notesSlide16.xml" Id="Rc11b34f936cb47e4" /><Relationship Type="http://schemas.openxmlformats.org/officeDocument/2006/relationships/slideLayout" Target="/ppt/slideLayouts/slideLayout9.xml" Id="Rdb0a42567b6642c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image" Target="/ppt/media/image18.jpg" Id="Rcfd248e03dcb4364" /><Relationship Type="http://schemas.openxmlformats.org/officeDocument/2006/relationships/image" Target="/ppt/media/image12.png" Id="Rbdc84f36b5054f9a" /><Relationship Type="http://schemas.openxmlformats.org/officeDocument/2006/relationships/image" Target="/ppt/media/image13.png" Id="R49e6b3561b754e56" /><Relationship Type="http://schemas.openxmlformats.org/officeDocument/2006/relationships/image" Target="/ppt/media/image14.png" Id="Rba943afb392b497a" /><Relationship Type="http://schemas.openxmlformats.org/officeDocument/2006/relationships/image" Target="/ppt/media/image15.png" Id="R710298b45e684d85" /><Relationship Type="http://schemas.openxmlformats.org/officeDocument/2006/relationships/notesSlide" Target="/ppt/notesSlides/notesSlide17.xml" Id="R4b66561df41142c4" /><Relationship Type="http://schemas.openxmlformats.org/officeDocument/2006/relationships/slideLayout" Target="/ppt/slideLayouts/slideLayout9.xml" Id="Ra5af0910ed10483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image" Target="/ppt/media/image16.png" Id="R0d3992775f3c4edf" /><Relationship Type="http://schemas.openxmlformats.org/officeDocument/2006/relationships/image" Target="/ppt/media/image4.svg" Id="R40a0c568f4254fc5" /><Relationship Type="http://schemas.openxmlformats.org/officeDocument/2006/relationships/image" Target="/ppt/media/image17.png" Id="Rb087c60deb334844" /><Relationship Type="http://schemas.openxmlformats.org/officeDocument/2006/relationships/image" Target="/ppt/media/image5.svg" Id="Ree8271e170a44560" /><Relationship Type="http://schemas.openxmlformats.org/officeDocument/2006/relationships/image" Target="/ppt/media/image18.png" Id="R4e8e9a56ff5240ed" /><Relationship Type="http://schemas.openxmlformats.org/officeDocument/2006/relationships/notesSlide" Target="/ppt/notesSlides/notesSlide18.xml" Id="R5a2990b4cb0c43db" /><Relationship Type="http://schemas.openxmlformats.org/officeDocument/2006/relationships/slideLayout" Target="/ppt/slideLayouts/slideLayout9.xml" Id="R9be70c1a20bc487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image" Target="/ppt/media/image19.png" Id="R82bc3730c76146ee" /><Relationship Type="http://schemas.openxmlformats.org/officeDocument/2006/relationships/notesSlide" Target="/ppt/notesSlides/notesSlide19.xml" Id="R7dc05b9396e04383" /><Relationship Type="http://schemas.openxmlformats.org/officeDocument/2006/relationships/slideLayout" Target="/ppt/slideLayouts/slideLayout9.xml" Id="R7aa7a52459dd405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image" Target="/ppt/media/image.png" Id="Rd49e7cc36f124cf2" /><Relationship Type="http://schemas.openxmlformats.org/officeDocument/2006/relationships/image" Target="/ppt/media/image19.jpg" Id="Rcda870cb54af45e3" /><Relationship Type="http://schemas.openxmlformats.org/officeDocument/2006/relationships/notesSlide" Target="/ppt/notesSlides/notesSlide20.xml" Id="R3b8ce5054839439c" /><Relationship Type="http://schemas.openxmlformats.org/officeDocument/2006/relationships/slideLayout" Target="/ppt/slideLayouts/slideLayout9.xml" Id="R73ecaa010a8d49b2" /><Relationship Type="http://schemas.openxmlformats.org/officeDocument/2006/relationships/hyperlink" Target="https://gamma.app/?utm_source=made-with-gamma" TargetMode="External" Id="rcId1930a4aee3c74ee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image" Target="/ppt/media/image7.png" Id="R798092bf8c0540f9" /><Relationship Type="http://schemas.openxmlformats.org/officeDocument/2006/relationships/image" Target="/ppt/media/image20.jpg" Id="R820d25f1d3584db1" /><Relationship Type="http://schemas.openxmlformats.org/officeDocument/2006/relationships/notesSlide" Target="/ppt/notesSlides/notesSlide21.xml" Id="R302368de80e04c4c" /><Relationship Type="http://schemas.openxmlformats.org/officeDocument/2006/relationships/slideLayout" Target="/ppt/slideLayouts/slideLayout9.xml" Id="R90ba7289becd45cf" /><Relationship Type="http://schemas.openxmlformats.org/officeDocument/2006/relationships/hyperlink" Target="https://gamma.app/?utm_source=made-with-gamma" TargetMode="External" Id="rcId0e225260569d4d1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image" Target="/ppt/media/image20.png" Id="R8dab361a1ef0464e" /><Relationship Type="http://schemas.openxmlformats.org/officeDocument/2006/relationships/notesSlide" Target="/ppt/notesSlides/notesSlide22.xml" Id="Rf0587f3f26f14f2b" /><Relationship Type="http://schemas.openxmlformats.org/officeDocument/2006/relationships/slideLayout" Target="/ppt/slideLayouts/slideLayout9.xml" Id="R5c61a5c0ef044d0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image" Target="/ppt/media/image21.jpg" Id="R75638d234b0f49c0" /><Relationship Type="http://schemas.openxmlformats.org/officeDocument/2006/relationships/image" Target="/ppt/media/image21.png" Id="Rdd9b019945244e84" /><Relationship Type="http://schemas.openxmlformats.org/officeDocument/2006/relationships/image" Target="/ppt/media/image6.svg" Id="R4b1d9482cede4867" /><Relationship Type="http://schemas.openxmlformats.org/officeDocument/2006/relationships/image" Target="/ppt/media/image22.png" Id="R004b9fbfff9e44e7" /><Relationship Type="http://schemas.openxmlformats.org/officeDocument/2006/relationships/image" Target="/ppt/media/image7.svg" Id="R8788fa909f0146c3" /><Relationship Type="http://schemas.openxmlformats.org/officeDocument/2006/relationships/notesSlide" Target="/ppt/notesSlides/notesSlide23.xml" Id="R20da200582e944c8" /><Relationship Type="http://schemas.openxmlformats.org/officeDocument/2006/relationships/slideLayout" Target="/ppt/slideLayouts/slideLayout9.xml" Id="R68c3bf5ebb3f4d1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image" Target="/ppt/media/image22.jpg" Id="Rfaf0bd7c82b54248" /><Relationship Type="http://schemas.openxmlformats.org/officeDocument/2006/relationships/image" Target="/ppt/media/image23.png" Id="R96dbb3ef61614886" /><Relationship Type="http://schemas.openxmlformats.org/officeDocument/2006/relationships/notesSlide" Target="/ppt/notesSlides/notesSlide24.xml" Id="Rdaf6ea7e0b884562" /><Relationship Type="http://schemas.openxmlformats.org/officeDocument/2006/relationships/slideLayout" Target="/ppt/slideLayouts/slideLayout9.xml" Id="R19d7d167fd1045a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image" Target="/ppt/media/image7.png" Id="R6a520c495eec4168" /><Relationship Type="http://schemas.openxmlformats.org/officeDocument/2006/relationships/image" Target="/ppt/media/image23.jpg" Id="R279d421e887b4d8d" /><Relationship Type="http://schemas.openxmlformats.org/officeDocument/2006/relationships/notesSlide" Target="/ppt/notesSlides/notesSlide25.xml" Id="R4dacfbe87c824527" /><Relationship Type="http://schemas.openxmlformats.org/officeDocument/2006/relationships/slideLayout" Target="/ppt/slideLayouts/slideLayout9.xml" Id="R1eea4190fc8043f7" /><Relationship Type="http://schemas.openxmlformats.org/officeDocument/2006/relationships/hyperlink" Target="https://gamma.app/?utm_source=made-with-gamma" TargetMode="External" Id="rcId6c6c099750da43e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image" Target="/ppt/media/image.png" Id="Re5980d7d614445c8" /><Relationship Type="http://schemas.openxmlformats.org/officeDocument/2006/relationships/image" Target="/ppt/media/image24.jpg" Id="Ra1d5392d34d84f73" /><Relationship Type="http://schemas.openxmlformats.org/officeDocument/2006/relationships/image" Target="/ppt/media/image2.jpg" Id="Rda5405032a7041a3" /><Relationship Type="http://schemas.openxmlformats.org/officeDocument/2006/relationships/notesSlide" Target="/ppt/notesSlides/notesSlide26.xml" Id="R544a39f62f3c4d95" /><Relationship Type="http://schemas.openxmlformats.org/officeDocument/2006/relationships/slideLayout" Target="/ppt/slideLayouts/slideLayout9.xml" Id="Rc6c3d02be2034ade" /><Relationship Type="http://schemas.openxmlformats.org/officeDocument/2006/relationships/hyperlink" Target="https://gamma.app/?utm_source=made-with-gamma" TargetMode="External" Id="rcIdb0c5387451f5456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image" Target="/ppt/media/image24.png" Id="R0e7b8a2efc0b4cdd" /><Relationship Type="http://schemas.openxmlformats.org/officeDocument/2006/relationships/image" Target="/ppt/media/image25.png" Id="R21049d3da8314ca3" /><Relationship Type="http://schemas.openxmlformats.org/officeDocument/2006/relationships/image" Target="/ppt/media/image8.svg" Id="Rcce8b21b9ccf42db" /><Relationship Type="http://schemas.openxmlformats.org/officeDocument/2006/relationships/notesSlide" Target="/ppt/notesSlides/notesSlide27.xml" Id="R3b06b2646a3d4f4d" /><Relationship Type="http://schemas.openxmlformats.org/officeDocument/2006/relationships/slideLayout" Target="/ppt/slideLayouts/slideLayout9.xml" Id="R46b50d2b1cf3470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image" Target="/ppt/media/image26.png" Id="R305c3a0a1cc042da" /><Relationship Type="http://schemas.openxmlformats.org/officeDocument/2006/relationships/image" Target="/ppt/media/image9.svg" Id="R68d6edcc8a654110" /><Relationship Type="http://schemas.openxmlformats.org/officeDocument/2006/relationships/image" Target="/ppt/media/image27.png" Id="R5ae472286a284b32" /><Relationship Type="http://schemas.openxmlformats.org/officeDocument/2006/relationships/image" Target="/ppt/media/image10.svg" Id="Rdc2491a69c2e4997" /><Relationship Type="http://schemas.openxmlformats.org/officeDocument/2006/relationships/notesSlide" Target="/ppt/notesSlides/notesSlide28.xml" Id="Rffac7c56cbb34c9b" /><Relationship Type="http://schemas.openxmlformats.org/officeDocument/2006/relationships/slideLayout" Target="/ppt/slideLayouts/slideLayout9.xml" Id="R4dbd80ddfe3240f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image" Target="/ppt/media/image25.jpg" Id="R541e4af259dc4a99" /><Relationship Type="http://schemas.openxmlformats.org/officeDocument/2006/relationships/image" Target="/ppt/media/image28.png" Id="Ree0f874286b948b1" /><Relationship Type="http://schemas.openxmlformats.org/officeDocument/2006/relationships/image" Target="/ppt/media/image11.svg" Id="Rf8ddbcc5e29b4a5b" /><Relationship Type="http://schemas.openxmlformats.org/officeDocument/2006/relationships/image" Target="/ppt/media/image29.png" Id="R38a045c5755d48bb" /><Relationship Type="http://schemas.openxmlformats.org/officeDocument/2006/relationships/image" Target="/ppt/media/image12.svg" Id="Rf2e4d83948cb422c" /><Relationship Type="http://schemas.openxmlformats.org/officeDocument/2006/relationships/image" Target="/ppt/media/image30.png" Id="R39a8a327b4d54b17" /><Relationship Type="http://schemas.openxmlformats.org/officeDocument/2006/relationships/image" Target="/ppt/media/image13.svg" Id="R52c5426c84914f4e" /><Relationship Type="http://schemas.openxmlformats.org/officeDocument/2006/relationships/notesSlide" Target="/ppt/notesSlides/notesSlide29.xml" Id="R269eda8b145946d0" /><Relationship Type="http://schemas.openxmlformats.org/officeDocument/2006/relationships/slideLayout" Target="/ppt/slideLayouts/slideLayout9.xml" Id="R9a6e4d3b2faa41c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image" Target="/ppt/media/image.png" Id="R1ba7bd1e6d294af5" /><Relationship Type="http://schemas.openxmlformats.org/officeDocument/2006/relationships/image" Target="/ppt/media/image26.jpg" Id="Re2210ce0ed5b4bd7" /><Relationship Type="http://schemas.openxmlformats.org/officeDocument/2006/relationships/image" Target="/ppt/media/image31.png" Id="Re23697c199384845" /><Relationship Type="http://schemas.openxmlformats.org/officeDocument/2006/relationships/notesSlide" Target="/ppt/notesSlides/notesSlide30.xml" Id="Rf8dabdccdd9c4516" /><Relationship Type="http://schemas.openxmlformats.org/officeDocument/2006/relationships/slideLayout" Target="/ppt/slideLayouts/slideLayout9.xml" Id="R0b83fdba93be402d" /><Relationship Type="http://schemas.openxmlformats.org/officeDocument/2006/relationships/hyperlink" Target="https://gamma.app/?utm_source=made-with-gamma" TargetMode="External" Id="rcId14d4c4ba9d3146da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cIdf1b9eeb98a8a4807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00496b3b42154242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3c0ff27ac2bf44dc"/>
              <a:stretch>
                <a:fillRect l="-1" t="0" r="-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991" y="2558910"/>
            <a:ext cx="9452677" cy="271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31"/>
              </a:lnSpc>
            </a:pPr>
            <a:r>
              <a:rPr lang="en-US" sz="5554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A Mathematical Security Architecture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991" y="5625398"/>
            <a:ext cx="9452677" cy="1303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4"/>
              </a:lnSpc>
            </a:pPr>
            <a:r>
              <a:rPr lang="en-US" sz="2176" b="true">
                <a:solidFill>
                  <a:srgbClr val="26A68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Authentication · Key Management · Message Integrity</a:t>
            </a:r>
          </a:p>
          <a:p>
            <a:pPr algn="ctr">
              <a:lnSpc>
                <a:spcPts val="3474"/>
              </a:lnSpc>
            </a:pP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Module 1 — Decision &amp; Correctness Lock | University Project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414043" y="7243172"/>
            <a:ext cx="8610419" cy="440579"/>
            <a:chOff x="0" y="0"/>
            <a:chExt cx="11480559" cy="58743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480546" cy="587375"/>
            </a:xfrm>
            <a:custGeom>
              <a:avLst/>
              <a:gdLst/>
              <a:ahLst/>
              <a:cxnLst/>
              <a:rect r="r" b="b" t="t" l="l"/>
              <a:pathLst>
                <a:path h="587375" w="11480546">
                  <a:moveTo>
                    <a:pt x="0" y="129921"/>
                  </a:moveTo>
                  <a:cubicBezTo>
                    <a:pt x="0" y="58166"/>
                    <a:pt x="58166" y="0"/>
                    <a:pt x="129921" y="0"/>
                  </a:cubicBezTo>
                  <a:lnTo>
                    <a:pt x="11350625" y="0"/>
                  </a:lnTo>
                  <a:cubicBezTo>
                    <a:pt x="11422380" y="0"/>
                    <a:pt x="11480546" y="58166"/>
                    <a:pt x="11480546" y="129921"/>
                  </a:cubicBezTo>
                  <a:lnTo>
                    <a:pt x="11480546" y="457454"/>
                  </a:lnTo>
                  <a:cubicBezTo>
                    <a:pt x="11480546" y="529209"/>
                    <a:pt x="11422380" y="587375"/>
                    <a:pt x="11350625" y="587375"/>
                  </a:cubicBezTo>
                  <a:lnTo>
                    <a:pt x="129921" y="587375"/>
                  </a:lnTo>
                  <a:cubicBezTo>
                    <a:pt x="58166" y="587375"/>
                    <a:pt x="0" y="529209"/>
                    <a:pt x="0" y="457454"/>
                  </a:cubicBezTo>
                  <a:close/>
                </a:path>
              </a:pathLst>
            </a:custGeom>
            <a:blipFill>
              <a:blip r:embed="Rf77882c6f8064656">
                <a:alphaModFix amt="0"/>
              </a:blip>
              <a:stretch>
                <a:fillRect l="0" t="-330840" r="0" b="-330850"/>
              </a:stretch>
            </a:blipFill>
            <a:ln w="9532" cap="sq">
              <a:solidFill>
                <a:srgbClr val="26A688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589046" y="7352033"/>
            <a:ext cx="9175499" cy="241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sz="1726">
                <a:solidFill>
                  <a:srgbClr val="26A688"/>
                </a:solidFill>
                <a:latin typeface="Open Sans"/>
                <a:ea typeface="Open Sans"/>
                <a:cs typeface="Open Sans"/>
                <a:sym typeface="Open Sans"/>
              </a:rPr>
              <a:t>DISCRETE MATHEMATICS · PROPOSITIONAL LOGIC · PROTOCOL CORRECTNESS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cId45b47d5343a4495b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a304a078776142c7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e5852dda96ae4823"/>
              <a:stretch>
                <a:fillRect l="-1" t="0" r="-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991" y="890883"/>
            <a:ext cx="9452677" cy="1830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The Six Lock Security Architecture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991" y="3070698"/>
            <a:ext cx="9452677" cy="1892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 proposed framework for secure campus messaging — each </a:t>
            </a:r>
            <a:r>
              <a:rPr lang="en-US" sz="2176" b="true">
                <a:solidFill>
                  <a:srgbClr val="26A68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lock</a:t>
            </a: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represents a mathematical security layer. </a:t>
            </a:r>
            <a:r>
              <a:rPr lang="en-US" sz="2176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Module 1</a:t>
            </a: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governs the </a:t>
            </a:r>
            <a:r>
              <a:rPr lang="en-US" sz="2176" b="true">
                <a:solidFill>
                  <a:srgbClr val="26A68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Decision &amp; Correctness Lock</a:t>
            </a: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: the logical engine that decides whether a message is accepted or rejected.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88219" y="5277250"/>
            <a:ext cx="4593927" cy="2127075"/>
            <a:chOff x="0" y="0"/>
            <a:chExt cx="6125235" cy="2836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125210" cy="2836164"/>
            </a:xfrm>
            <a:custGeom>
              <a:avLst/>
              <a:gdLst/>
              <a:ahLst/>
              <a:cxnLst/>
              <a:rect r="r" b="b" t="t" l="l"/>
              <a:pathLst>
                <a:path h="2836164" w="6125210">
                  <a:moveTo>
                    <a:pt x="0" y="159639"/>
                  </a:moveTo>
                  <a:cubicBezTo>
                    <a:pt x="0" y="71501"/>
                    <a:pt x="71501" y="0"/>
                    <a:pt x="159639" y="0"/>
                  </a:cubicBezTo>
                  <a:lnTo>
                    <a:pt x="5965571" y="0"/>
                  </a:lnTo>
                  <a:cubicBezTo>
                    <a:pt x="6053709" y="0"/>
                    <a:pt x="6125210" y="71501"/>
                    <a:pt x="6125210" y="159639"/>
                  </a:cubicBezTo>
                  <a:lnTo>
                    <a:pt x="6125210" y="2676525"/>
                  </a:lnTo>
                  <a:cubicBezTo>
                    <a:pt x="6125210" y="2764663"/>
                    <a:pt x="6053709" y="2836164"/>
                    <a:pt x="5965571" y="2836164"/>
                  </a:cubicBezTo>
                  <a:lnTo>
                    <a:pt x="159639" y="2836164"/>
                  </a:lnTo>
                  <a:cubicBezTo>
                    <a:pt x="71501" y="2836164"/>
                    <a:pt x="0" y="2764663"/>
                    <a:pt x="0" y="2676525"/>
                  </a:cubicBezTo>
                  <a:close/>
                </a:path>
              </a:pathLst>
            </a:custGeom>
            <a:solidFill>
              <a:srgbClr val="D6F5EE"/>
            </a:solidFill>
            <a:ln w="9532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286256" y="5546712"/>
            <a:ext cx="3997871" cy="481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🔐</a:t>
            </a:r>
            <a:r>
              <a:rPr lang="en-US" sz="277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 Lock 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6256" y="6122127"/>
            <a:ext cx="3997871" cy="98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Decision &amp; Correctness</a:t>
            </a:r>
          </a:p>
          <a:p>
            <a:pPr algn="l">
              <a:lnSpc>
                <a:spcPts val="3474"/>
              </a:lnSpc>
            </a:pPr>
            <a:r>
              <a:rPr lang="en-US" sz="2176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Module 1 focus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856351" y="5277250"/>
            <a:ext cx="4594079" cy="2127075"/>
            <a:chOff x="0" y="0"/>
            <a:chExt cx="6125439" cy="28361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125464" cy="2836164"/>
            </a:xfrm>
            <a:custGeom>
              <a:avLst/>
              <a:gdLst/>
              <a:ahLst/>
              <a:cxnLst/>
              <a:rect r="r" b="b" t="t" l="l"/>
              <a:pathLst>
                <a:path h="2836164" w="6125464">
                  <a:moveTo>
                    <a:pt x="0" y="159639"/>
                  </a:moveTo>
                  <a:cubicBezTo>
                    <a:pt x="0" y="71501"/>
                    <a:pt x="71501" y="0"/>
                    <a:pt x="159639" y="0"/>
                  </a:cubicBezTo>
                  <a:lnTo>
                    <a:pt x="5965825" y="0"/>
                  </a:lnTo>
                  <a:cubicBezTo>
                    <a:pt x="6053963" y="0"/>
                    <a:pt x="6125464" y="71501"/>
                    <a:pt x="6125464" y="159639"/>
                  </a:cubicBezTo>
                  <a:lnTo>
                    <a:pt x="6125464" y="2676525"/>
                  </a:lnTo>
                  <a:cubicBezTo>
                    <a:pt x="6125464" y="2764663"/>
                    <a:pt x="6053963" y="2836164"/>
                    <a:pt x="5965825" y="2836164"/>
                  </a:cubicBezTo>
                  <a:lnTo>
                    <a:pt x="159639" y="2836164"/>
                  </a:lnTo>
                  <a:cubicBezTo>
                    <a:pt x="71501" y="2836164"/>
                    <a:pt x="0" y="2764663"/>
                    <a:pt x="0" y="2676525"/>
                  </a:cubicBezTo>
                  <a:close/>
                </a:path>
              </a:pathLst>
            </a:custGeom>
            <a:solidFill>
              <a:srgbClr val="D6F5EE"/>
            </a:solidFill>
            <a:ln w="9532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6154379" y="5546712"/>
            <a:ext cx="3998014" cy="481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🔑</a:t>
            </a:r>
            <a:r>
              <a:rPr lang="en-US" sz="277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 Locks 2–6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154379" y="6122127"/>
            <a:ext cx="3998014" cy="98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Authentication, Key Mgmt, Route, Integrity, Session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88219" y="7678531"/>
            <a:ext cx="9462211" cy="1673095"/>
            <a:chOff x="0" y="0"/>
            <a:chExt cx="12616282" cy="223079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616180" cy="2230755"/>
            </a:xfrm>
            <a:custGeom>
              <a:avLst/>
              <a:gdLst/>
              <a:ahLst/>
              <a:cxnLst/>
              <a:rect r="r" b="b" t="t" l="l"/>
              <a:pathLst>
                <a:path h="2230755" w="12616180">
                  <a:moveTo>
                    <a:pt x="0" y="159766"/>
                  </a:moveTo>
                  <a:cubicBezTo>
                    <a:pt x="0" y="71501"/>
                    <a:pt x="71501" y="0"/>
                    <a:pt x="159766" y="0"/>
                  </a:cubicBezTo>
                  <a:lnTo>
                    <a:pt x="12456414" y="0"/>
                  </a:lnTo>
                  <a:cubicBezTo>
                    <a:pt x="12544679" y="0"/>
                    <a:pt x="12616180" y="71501"/>
                    <a:pt x="12616180" y="159766"/>
                  </a:cubicBezTo>
                  <a:lnTo>
                    <a:pt x="12616180" y="2070989"/>
                  </a:lnTo>
                  <a:cubicBezTo>
                    <a:pt x="12616180" y="2159254"/>
                    <a:pt x="12544679" y="2230755"/>
                    <a:pt x="12456414" y="2230755"/>
                  </a:cubicBezTo>
                  <a:lnTo>
                    <a:pt x="159766" y="2230755"/>
                  </a:lnTo>
                  <a:cubicBezTo>
                    <a:pt x="71501" y="2230755"/>
                    <a:pt x="0" y="2159254"/>
                    <a:pt x="0" y="2070989"/>
                  </a:cubicBezTo>
                  <a:close/>
                </a:path>
              </a:pathLst>
            </a:custGeom>
            <a:solidFill>
              <a:srgbClr val="D6F5EE"/>
            </a:solidFill>
            <a:ln w="9532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286256" y="7948003"/>
            <a:ext cx="8866146" cy="481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📨</a:t>
            </a:r>
            <a:r>
              <a:rPr lang="en-US" sz="277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 Running Example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86256" y="8523408"/>
            <a:ext cx="8866146" cy="53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Ravi sends a message to Priya across the secure campus network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cId2a5c54dfba83476b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ebd4b72c5270421a"/>
              <a:stretch>
                <a:fillRect l="0" t="0" r="2" b="-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991" y="766810"/>
            <a:ext cx="16315868" cy="888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3"/>
              </a:lnSpc>
            </a:pPr>
            <a:r>
              <a:rPr lang="en-US" sz="5179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Security Requirements as Propositions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991" y="2077688"/>
            <a:ext cx="16315868" cy="900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7"/>
              </a:lnSpc>
            </a:pPr>
            <a:r>
              <a:rPr lang="en-US" sz="20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Each security condition is modelled as a </a:t>
            </a:r>
            <a:r>
              <a:rPr lang="en-US" sz="2026" b="true">
                <a:solidFill>
                  <a:srgbClr val="26A68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proposition</a:t>
            </a:r>
            <a:r>
              <a:rPr lang="en-US" sz="20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— a statement that is either true or false. The final ACCEPT decision is a </a:t>
            </a:r>
            <a:r>
              <a:rPr lang="en-US" sz="2026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conjunction</a:t>
            </a:r>
            <a:r>
              <a:rPr lang="en-US" sz="20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of all five conditions.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992991" y="3539366"/>
            <a:ext cx="3792036" cy="1666542"/>
          </a:xfrm>
          <a:custGeom>
            <a:avLst/>
            <a:gdLst/>
            <a:ahLst/>
            <a:cxnLst/>
            <a:rect r="r" b="b" t="t" l="l"/>
            <a:pathLst>
              <a:path h="1666542" w="3792036">
                <a:moveTo>
                  <a:pt x="0" y="0"/>
                </a:moveTo>
                <a:lnTo>
                  <a:pt x="3792036" y="0"/>
                </a:lnTo>
                <a:lnTo>
                  <a:pt x="3792036" y="1666542"/>
                </a:lnTo>
                <a:lnTo>
                  <a:pt x="0" y="1666542"/>
                </a:lnTo>
                <a:lnTo>
                  <a:pt x="0" y="0"/>
                </a:lnTo>
                <a:close/>
              </a:path>
            </a:pathLst>
          </a:custGeom>
          <a:blipFill>
            <a:blip r:embed="Rdeebf37aeda34015">
              <a:extLst>
                <a:ext uri="{96DAC541-7B7A-43D3-8B79-37D633B846F1}">
                  <asvg:svgBlip xmlns:asvg="http://schemas.microsoft.com/office/drawing/2016/SVG/main" r:embed="R4a192c1367074bd5"/>
                </a:ext>
              </a:extLst>
            </a:blip>
            <a:stretch>
              <a:fillRect l="0" t="-184" r="0" b="-184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01975" y="3814934"/>
            <a:ext cx="3088434" cy="434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01975" y="4422819"/>
            <a:ext cx="3088434" cy="488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7"/>
              </a:lnSpc>
            </a:pPr>
            <a:r>
              <a:rPr lang="en-US" sz="20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Authentication valid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5034344" y="3539366"/>
            <a:ext cx="3792179" cy="1666542"/>
          </a:xfrm>
          <a:custGeom>
            <a:avLst/>
            <a:gdLst/>
            <a:ahLst/>
            <a:cxnLst/>
            <a:rect r="r" b="b" t="t" l="l"/>
            <a:pathLst>
              <a:path h="1666542" w="3792179">
                <a:moveTo>
                  <a:pt x="0" y="0"/>
                </a:moveTo>
                <a:lnTo>
                  <a:pt x="3792178" y="0"/>
                </a:lnTo>
                <a:lnTo>
                  <a:pt x="3792178" y="1666542"/>
                </a:lnTo>
                <a:lnTo>
                  <a:pt x="0" y="1666542"/>
                </a:lnTo>
                <a:lnTo>
                  <a:pt x="0" y="0"/>
                </a:lnTo>
                <a:close/>
              </a:path>
            </a:pathLst>
          </a:custGeom>
          <a:blipFill>
            <a:blip r:embed="Rdeebf37aeda34015">
              <a:extLst>
                <a:ext uri="{96DAC541-7B7A-43D3-8B79-37D633B846F1}">
                  <asvg:svgBlip xmlns:asvg="http://schemas.microsoft.com/office/drawing/2016/SVG/main" r:embed="R4a192c1367074bd5"/>
                </a:ext>
              </a:extLst>
            </a:blip>
            <a:stretch>
              <a:fillRect l="0" t="-185" r="0" b="-186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443337" y="3814934"/>
            <a:ext cx="3088586" cy="434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443337" y="4422819"/>
            <a:ext cx="3088586" cy="488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7"/>
              </a:lnSpc>
            </a:pPr>
            <a:r>
              <a:rPr lang="en-US" sz="20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Permission valid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92991" y="5455244"/>
            <a:ext cx="3792036" cy="1666542"/>
          </a:xfrm>
          <a:custGeom>
            <a:avLst/>
            <a:gdLst/>
            <a:ahLst/>
            <a:cxnLst/>
            <a:rect r="r" b="b" t="t" l="l"/>
            <a:pathLst>
              <a:path h="1666542" w="3792036">
                <a:moveTo>
                  <a:pt x="0" y="0"/>
                </a:moveTo>
                <a:lnTo>
                  <a:pt x="3792036" y="0"/>
                </a:lnTo>
                <a:lnTo>
                  <a:pt x="3792036" y="1666541"/>
                </a:lnTo>
                <a:lnTo>
                  <a:pt x="0" y="1666541"/>
                </a:lnTo>
                <a:lnTo>
                  <a:pt x="0" y="0"/>
                </a:lnTo>
                <a:close/>
              </a:path>
            </a:pathLst>
          </a:custGeom>
          <a:blipFill>
            <a:blip r:embed="Rdeebf37aeda34015">
              <a:extLst>
                <a:ext uri="{96DAC541-7B7A-43D3-8B79-37D633B846F1}">
                  <asvg:svgBlip xmlns:asvg="http://schemas.microsoft.com/office/drawing/2016/SVG/main" r:embed="R4a192c1367074bd5"/>
                </a:ext>
              </a:extLst>
            </a:blip>
            <a:stretch>
              <a:fillRect l="0" t="-184" r="0" b="-184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401975" y="5730802"/>
            <a:ext cx="3088434" cy="434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01975" y="6338687"/>
            <a:ext cx="3088434" cy="488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7"/>
              </a:lnSpc>
            </a:pPr>
            <a:r>
              <a:rPr lang="en-US" sz="20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Key condition valid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5034344" y="5455244"/>
            <a:ext cx="3792179" cy="1666542"/>
          </a:xfrm>
          <a:custGeom>
            <a:avLst/>
            <a:gdLst/>
            <a:ahLst/>
            <a:cxnLst/>
            <a:rect r="r" b="b" t="t" l="l"/>
            <a:pathLst>
              <a:path h="1666542" w="3792179">
                <a:moveTo>
                  <a:pt x="0" y="0"/>
                </a:moveTo>
                <a:lnTo>
                  <a:pt x="3792178" y="0"/>
                </a:lnTo>
                <a:lnTo>
                  <a:pt x="3792178" y="1666541"/>
                </a:lnTo>
                <a:lnTo>
                  <a:pt x="0" y="1666541"/>
                </a:lnTo>
                <a:lnTo>
                  <a:pt x="0" y="0"/>
                </a:lnTo>
                <a:close/>
              </a:path>
            </a:pathLst>
          </a:custGeom>
          <a:blipFill>
            <a:blip r:embed="Rdeebf37aeda34015">
              <a:extLst>
                <a:ext uri="{96DAC541-7B7A-43D3-8B79-37D633B846F1}">
                  <asvg:svgBlip xmlns:asvg="http://schemas.microsoft.com/office/drawing/2016/SVG/main" r:embed="R4a192c1367074bd5"/>
                </a:ext>
              </a:extLst>
            </a:blip>
            <a:stretch>
              <a:fillRect l="0" t="-185" r="0" b="-186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443337" y="5730802"/>
            <a:ext cx="3088586" cy="434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443337" y="6338687"/>
            <a:ext cx="3088586" cy="488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7"/>
              </a:lnSpc>
            </a:pPr>
            <a:r>
              <a:rPr lang="en-US" sz="20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Route valid</a:t>
            </a:r>
          </a:p>
        </p:txBody>
      </p:sp>
      <p:sp>
        <p:nvSpPr>
          <p:cNvPr name="Freeform 22" id="22" descr="preencoded.png"/>
          <p:cNvSpPr/>
          <p:nvPr/>
        </p:nvSpPr>
        <p:spPr>
          <a:xfrm flipH="false" flipV="false" rot="0">
            <a:off x="992991" y="7371112"/>
            <a:ext cx="3792036" cy="1666542"/>
          </a:xfrm>
          <a:custGeom>
            <a:avLst/>
            <a:gdLst/>
            <a:ahLst/>
            <a:cxnLst/>
            <a:rect r="r" b="b" t="t" l="l"/>
            <a:pathLst>
              <a:path h="1666542" w="3792036">
                <a:moveTo>
                  <a:pt x="0" y="0"/>
                </a:moveTo>
                <a:lnTo>
                  <a:pt x="3792036" y="0"/>
                </a:lnTo>
                <a:lnTo>
                  <a:pt x="3792036" y="1666541"/>
                </a:lnTo>
                <a:lnTo>
                  <a:pt x="0" y="1666541"/>
                </a:lnTo>
                <a:lnTo>
                  <a:pt x="0" y="0"/>
                </a:lnTo>
                <a:close/>
              </a:path>
            </a:pathLst>
          </a:custGeom>
          <a:blipFill>
            <a:blip r:embed="Rdeebf37aeda34015">
              <a:extLst>
                <a:ext uri="{96DAC541-7B7A-43D3-8B79-37D633B846F1}">
                  <asvg:svgBlip xmlns:asvg="http://schemas.microsoft.com/office/drawing/2016/SVG/main" r:embed="R4a192c1367074bd5"/>
                </a:ext>
              </a:extLst>
            </a:blip>
            <a:stretch>
              <a:fillRect l="0" t="-184" r="0" b="-184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401975" y="7646680"/>
            <a:ext cx="3088434" cy="434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I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01975" y="8254565"/>
            <a:ext cx="3088434" cy="488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7"/>
              </a:lnSpc>
            </a:pPr>
            <a:r>
              <a:rPr lang="en-US" sz="20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Message integrity valid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484843" y="3489188"/>
            <a:ext cx="7833541" cy="434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Final Decision Rule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484843" y="4097074"/>
            <a:ext cx="7833541" cy="2361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7"/>
              </a:lnSpc>
            </a:pPr>
            <a:r>
              <a:rPr lang="en-US" sz="2026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ACCEPT = A ∧ P ∧ K ∧ R ∧ I</a:t>
            </a:r>
          </a:p>
          <a:p>
            <a:pPr algn="l">
              <a:lnSpc>
                <a:spcPts val="3137"/>
              </a:lnSpc>
            </a:pPr>
            <a:r>
              <a:rPr lang="en-US" sz="20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The conjunction is a </a:t>
            </a:r>
            <a:r>
              <a:rPr lang="en-US" sz="2026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tautology of safety</a:t>
            </a:r>
            <a:r>
              <a:rPr lang="en-US" sz="20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: all conditions must hold simultaneously. Even one false proposition makes the entire expression false — a </a:t>
            </a:r>
            <a:r>
              <a:rPr lang="en-US" sz="2026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contingency becomes a contradiction</a:t>
            </a:r>
            <a:r>
              <a:rPr lang="en-US" sz="20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484843" y="6689265"/>
            <a:ext cx="7833541" cy="434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Contrapositive Law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484843" y="7297150"/>
            <a:ext cx="7833541" cy="194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7"/>
              </a:lnSpc>
            </a:pPr>
            <a:r>
              <a:rPr lang="en-US" sz="20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If </a:t>
            </a:r>
            <a:r>
              <a:rPr lang="en-US" sz="2026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¬A ∨ ¬P ∨ ¬K ∨ ¬R ∨ ¬I</a:t>
            </a:r>
            <a:r>
              <a:rPr lang="en-US" sz="20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, then </a:t>
            </a:r>
            <a:r>
              <a:rPr lang="en-US" sz="2026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¬ACCEPT</a:t>
            </a:r>
          </a:p>
          <a:p>
            <a:pPr algn="l">
              <a:lnSpc>
                <a:spcPts val="3137"/>
              </a:lnSpc>
            </a:pPr>
            <a:r>
              <a:rPr lang="en-US" sz="20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By De Morgan's Law and the contrapositive, </a:t>
            </a:r>
            <a:r>
              <a:rPr lang="en-US" sz="2026" i="true">
                <a:solidFill>
                  <a:srgbClr val="333F7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any</a:t>
            </a:r>
            <a:r>
              <a:rPr lang="en-US" sz="20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failing condition guarantees rejection — no exceptions, no workarounds.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cIdc8a5fa6cc8784ccf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6ba0d1f0f7304514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a0f5644bcba54abb"/>
              <a:stretch>
                <a:fillRect l="-1" t="0" r="-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991" y="969369"/>
            <a:ext cx="9452677" cy="851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6"/>
              </a:lnSpc>
            </a:pPr>
            <a:r>
              <a:rPr lang="en-US" sz="5028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Protocol Correctness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92991" y="2432114"/>
            <a:ext cx="1285656" cy="2325319"/>
            <a:chOff x="0" y="0"/>
            <a:chExt cx="1714208" cy="3100426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714246" cy="3100451"/>
            </a:xfrm>
            <a:custGeom>
              <a:avLst/>
              <a:gdLst/>
              <a:ahLst/>
              <a:cxnLst/>
              <a:rect r="r" b="b" t="t" l="l"/>
              <a:pathLst>
                <a:path h="3100451" w="1714246">
                  <a:moveTo>
                    <a:pt x="0" y="0"/>
                  </a:moveTo>
                  <a:lnTo>
                    <a:pt x="1714246" y="0"/>
                  </a:lnTo>
                  <a:lnTo>
                    <a:pt x="1714246" y="3100451"/>
                  </a:lnTo>
                  <a:lnTo>
                    <a:pt x="0" y="31004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cf29498a58734324"/>
              <a:stretch>
                <a:fillRect l="-34" t="0" r="-32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511590" y="2670143"/>
            <a:ext cx="2894066" cy="420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Preconditions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11590" y="3257169"/>
            <a:ext cx="2894066" cy="124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Sender verified · Permission granted · Key state valid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92991" y="4757433"/>
            <a:ext cx="1285656" cy="1933146"/>
            <a:chOff x="0" y="0"/>
            <a:chExt cx="1714208" cy="2577528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714246" cy="2577592"/>
            </a:xfrm>
            <a:custGeom>
              <a:avLst/>
              <a:gdLst/>
              <a:ahLst/>
              <a:cxnLst/>
              <a:rect r="r" b="b" t="t" l="l"/>
              <a:pathLst>
                <a:path h="2577592" w="1714246">
                  <a:moveTo>
                    <a:pt x="0" y="0"/>
                  </a:moveTo>
                  <a:lnTo>
                    <a:pt x="1714246" y="0"/>
                  </a:lnTo>
                  <a:lnTo>
                    <a:pt x="1714246" y="2577592"/>
                  </a:lnTo>
                  <a:lnTo>
                    <a:pt x="0" y="2577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68711bf873884cf2"/>
              <a:stretch>
                <a:fillRect l="0" t="-2" r="2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511590" y="4995462"/>
            <a:ext cx="2894066" cy="420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Action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511590" y="5582488"/>
            <a:ext cx="2894066" cy="851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Ravi transmits the message to Priya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92991" y="6690589"/>
            <a:ext cx="1285656" cy="2325319"/>
            <a:chOff x="0" y="0"/>
            <a:chExt cx="1714208" cy="3100426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714246" cy="3100451"/>
            </a:xfrm>
            <a:custGeom>
              <a:avLst/>
              <a:gdLst/>
              <a:ahLst/>
              <a:cxnLst/>
              <a:rect r="r" b="b" t="t" l="l"/>
              <a:pathLst>
                <a:path h="3100451" w="1714246">
                  <a:moveTo>
                    <a:pt x="0" y="0"/>
                  </a:moveTo>
                  <a:lnTo>
                    <a:pt x="1714246" y="0"/>
                  </a:lnTo>
                  <a:lnTo>
                    <a:pt x="1714246" y="3100451"/>
                  </a:lnTo>
                  <a:lnTo>
                    <a:pt x="0" y="31004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2951c4c687b44f1d"/>
              <a:stretch>
                <a:fillRect l="-34" t="0" r="-32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2511590" y="6928618"/>
            <a:ext cx="2894066" cy="420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Postcondition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511590" y="7515644"/>
            <a:ext cx="2894066" cy="124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Only a message satisfying </a:t>
            </a:r>
            <a:r>
              <a:rPr lang="en-US" sz="1951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 ∧ P ∧ K ∧ R ∧ I</a:t>
            </a:r>
            <a:r>
              <a:rPr lang="en-US" sz="19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is accepted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042527" y="2383869"/>
            <a:ext cx="4412666" cy="420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Invariant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042527" y="2970895"/>
            <a:ext cx="4412666" cy="2027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An invalid condition </a:t>
            </a:r>
            <a:r>
              <a:rPr lang="en-US" sz="1951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cannot</a:t>
            </a:r>
            <a:r>
              <a:rPr lang="en-US" sz="19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return to ACCEPT without full revalidation. The system never silently recovers — every rejected state requires an explicit re-check of all propositions.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042527" y="5212328"/>
            <a:ext cx="4412666" cy="420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Direct Proof (sketch)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042527" y="5799353"/>
            <a:ext cx="4412666" cy="2419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Claim:</a:t>
            </a:r>
            <a:r>
              <a:rPr lang="en-US" sz="19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If ACCEPT = true, then all five propositions hold.</a:t>
            </a:r>
          </a:p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51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Proof:</a:t>
            </a:r>
            <a:r>
              <a:rPr lang="en-US" sz="19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ACCEPT ≡ A ∧ P ∧ K ∧ R ∧ I. A conjunction is true </a:t>
            </a:r>
            <a:r>
              <a:rPr lang="en-US" sz="1951" i="true">
                <a:solidFill>
                  <a:srgbClr val="333F7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if and only if</a:t>
            </a:r>
            <a:r>
              <a:rPr lang="en-US" sz="19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every conjunct is true. Therefore A = P = K = R = I = true. </a:t>
            </a:r>
            <a:r>
              <a:rPr lang="en-US" sz="1951">
                <a:solidFill>
                  <a:srgbClr val="26A688"/>
                </a:solidFill>
                <a:latin typeface="Open Sans"/>
                <a:ea typeface="Open Sans"/>
                <a:cs typeface="Open Sans"/>
                <a:sym typeface="Open Sans"/>
              </a:rPr>
              <a:t>∎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cIdc161df998fc347ea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66363bb5e2ba462d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a13f0c252dc6435c"/>
              <a:stretch>
                <a:fillRect l="-1" t="0" r="-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991" y="1135742"/>
            <a:ext cx="9452677" cy="943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31"/>
              </a:lnSpc>
            </a:pPr>
            <a:r>
              <a:rPr lang="en-US" sz="5554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Thank You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991" y="2438419"/>
            <a:ext cx="9452677" cy="2514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54"/>
              </a:lnSpc>
            </a:pPr>
            <a:r>
              <a:rPr lang="en-US" sz="7656" b="true">
                <a:solidFill>
                  <a:srgbClr val="26A688"/>
                </a:solidFill>
                <a:latin typeface="Arimo Bold"/>
                <a:ea typeface="Arimo Bold"/>
                <a:cs typeface="Arimo Bold"/>
                <a:sym typeface="Arimo Bold"/>
              </a:rPr>
              <a:t>Logic is the first lock.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991" y="5301891"/>
            <a:ext cx="9452677" cy="143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4"/>
              </a:lnSpc>
            </a:pP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When every security requirement is expressed as a </a:t>
            </a:r>
            <a:r>
              <a:rPr lang="en-US" sz="2176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proposition</a:t>
            </a: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and joined by conjunction, mathematics itself guarantees that a single failure means rejection — no ambiguity, no exceptions.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92991" y="7059225"/>
            <a:ext cx="9452677" cy="2042770"/>
            <a:chOff x="0" y="0"/>
            <a:chExt cx="12603569" cy="27236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603480" cy="2723642"/>
            </a:xfrm>
            <a:custGeom>
              <a:avLst/>
              <a:gdLst/>
              <a:ahLst/>
              <a:cxnLst/>
              <a:rect r="r" b="b" t="t" l="l"/>
              <a:pathLst>
                <a:path h="2723642" w="12603480">
                  <a:moveTo>
                    <a:pt x="0" y="158877"/>
                  </a:moveTo>
                  <a:cubicBezTo>
                    <a:pt x="0" y="71120"/>
                    <a:pt x="71120" y="0"/>
                    <a:pt x="158877" y="0"/>
                  </a:cubicBezTo>
                  <a:lnTo>
                    <a:pt x="12444603" y="0"/>
                  </a:lnTo>
                  <a:cubicBezTo>
                    <a:pt x="12532360" y="0"/>
                    <a:pt x="12603480" y="71120"/>
                    <a:pt x="12603480" y="158877"/>
                  </a:cubicBezTo>
                  <a:lnTo>
                    <a:pt x="12603480" y="2564765"/>
                  </a:lnTo>
                  <a:cubicBezTo>
                    <a:pt x="12603480" y="2652522"/>
                    <a:pt x="12532360" y="2723642"/>
                    <a:pt x="12444603" y="2723642"/>
                  </a:cubicBezTo>
                  <a:lnTo>
                    <a:pt x="158877" y="2723642"/>
                  </a:lnTo>
                  <a:cubicBezTo>
                    <a:pt x="71120" y="2723642"/>
                    <a:pt x="0" y="2652522"/>
                    <a:pt x="0" y="2564765"/>
                  </a:cubicBez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76721" y="7461075"/>
            <a:ext cx="354625" cy="283740"/>
            <a:chOff x="0" y="0"/>
            <a:chExt cx="472834" cy="37832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472821" cy="378333"/>
            </a:xfrm>
            <a:custGeom>
              <a:avLst/>
              <a:gdLst/>
              <a:ahLst/>
              <a:cxnLst/>
              <a:rect r="r" b="b" t="t" l="l"/>
              <a:pathLst>
                <a:path h="378333" w="472821">
                  <a:moveTo>
                    <a:pt x="0" y="0"/>
                  </a:moveTo>
                  <a:lnTo>
                    <a:pt x="472821" y="0"/>
                  </a:lnTo>
                  <a:lnTo>
                    <a:pt x="472821" y="378333"/>
                  </a:lnTo>
                  <a:lnTo>
                    <a:pt x="0" y="378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6a3478238180436b"/>
              <a:stretch>
                <a:fillRect l="-674" t="0" r="-676" b="3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915077" y="7337660"/>
            <a:ext cx="8246850" cy="143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Takeaway: Propositional logic, contrapositive reasoning, and protocol invariants transform informal security intuitions into provably correct, formally verifiable architectural decisions.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cIde4c178ddba234737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93bbcce67e47458f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0ba84dbc9ebe4d1f"/>
              <a:stretch>
                <a:fillRect l="-1" t="0" r="-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991" y="2706967"/>
            <a:ext cx="9452677" cy="271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31"/>
              </a:lnSpc>
            </a:pPr>
            <a:r>
              <a:rPr lang="en-US" sz="5554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A Mathematical Security Architecture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991" y="5773445"/>
            <a:ext cx="9452677" cy="1757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4"/>
              </a:lnSpc>
            </a:pPr>
            <a:r>
              <a:rPr lang="en-US" sz="2176" b="true">
                <a:solidFill>
                  <a:srgbClr val="26A68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Authentication · Key Management · Message Integrity</a:t>
            </a:r>
          </a:p>
          <a:p>
            <a:pPr algn="ctr">
              <a:lnSpc>
                <a:spcPts val="3474"/>
              </a:lnSpc>
            </a:pP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Module 2 Focus — </a:t>
            </a:r>
            <a:r>
              <a:rPr lang="en-US" sz="2176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Identity &amp; Access Lock</a:t>
            </a: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| University Project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cId085b510564024de6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d594c4dbb9e3486e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ee0619c5d35b4640"/>
              <a:stretch>
                <a:fillRect l="-1" t="0" r="-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991" y="792118"/>
            <a:ext cx="9452677" cy="1589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8"/>
              </a:lnSpc>
            </a:pPr>
            <a:r>
              <a:rPr lang="en-US" sz="4878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Identity &amp; Access Lock — Sets &amp; Structure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991" y="2640692"/>
            <a:ext cx="9452677" cy="811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19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The Identity &amp; Access Lock forms the first barrier of the Six Lock Architecture. It is built entirely on Module 2 set theory.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88219" y="3691585"/>
            <a:ext cx="4627293" cy="2290620"/>
            <a:chOff x="0" y="0"/>
            <a:chExt cx="6169724" cy="3054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169660" cy="3054096"/>
            </a:xfrm>
            <a:custGeom>
              <a:avLst/>
              <a:gdLst/>
              <a:ahLst/>
              <a:cxnLst/>
              <a:rect r="r" b="b" t="t" l="l"/>
              <a:pathLst>
                <a:path h="3054096" w="6169660">
                  <a:moveTo>
                    <a:pt x="0" y="139573"/>
                  </a:moveTo>
                  <a:cubicBezTo>
                    <a:pt x="0" y="62484"/>
                    <a:pt x="62484" y="0"/>
                    <a:pt x="139573" y="0"/>
                  </a:cubicBezTo>
                  <a:lnTo>
                    <a:pt x="6030087" y="0"/>
                  </a:lnTo>
                  <a:cubicBezTo>
                    <a:pt x="6107176" y="0"/>
                    <a:pt x="6169660" y="62484"/>
                    <a:pt x="6169660" y="139573"/>
                  </a:cubicBezTo>
                  <a:lnTo>
                    <a:pt x="6169660" y="2914523"/>
                  </a:lnTo>
                  <a:cubicBezTo>
                    <a:pt x="6169660" y="2991612"/>
                    <a:pt x="6107176" y="3054096"/>
                    <a:pt x="6030087" y="3054096"/>
                  </a:cubicBezTo>
                  <a:lnTo>
                    <a:pt x="139573" y="3054096"/>
                  </a:lnTo>
                  <a:cubicBezTo>
                    <a:pt x="62484" y="3054096"/>
                    <a:pt x="0" y="2991612"/>
                    <a:pt x="0" y="2914523"/>
                  </a:cubicBezTo>
                  <a:close/>
                </a:path>
              </a:pathLst>
            </a:custGeom>
            <a:solidFill>
              <a:srgbClr val="D6F5EE"/>
            </a:solidFill>
            <a:ln w="9532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250652" y="3934978"/>
            <a:ext cx="4102427" cy="407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Users (U)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0652" y="4405684"/>
            <a:ext cx="4102427" cy="1314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19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U = {Ravi, Priya, Anu}</a:t>
            </a:r>
          </a:p>
          <a:p>
            <a:pPr algn="l">
              <a:lnSpc>
                <a:spcPts val="2927"/>
              </a:lnSpc>
            </a:pPr>
            <a:r>
              <a:rPr lang="en-US" sz="19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The universal set of system principals.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823137" y="3691585"/>
            <a:ext cx="4627293" cy="2290620"/>
            <a:chOff x="0" y="0"/>
            <a:chExt cx="6169724" cy="3054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169660" cy="3054096"/>
            </a:xfrm>
            <a:custGeom>
              <a:avLst/>
              <a:gdLst/>
              <a:ahLst/>
              <a:cxnLst/>
              <a:rect r="r" b="b" t="t" l="l"/>
              <a:pathLst>
                <a:path h="3054096" w="6169660">
                  <a:moveTo>
                    <a:pt x="0" y="139573"/>
                  </a:moveTo>
                  <a:cubicBezTo>
                    <a:pt x="0" y="62484"/>
                    <a:pt x="62484" y="0"/>
                    <a:pt x="139573" y="0"/>
                  </a:cubicBezTo>
                  <a:lnTo>
                    <a:pt x="6030087" y="0"/>
                  </a:lnTo>
                  <a:cubicBezTo>
                    <a:pt x="6107176" y="0"/>
                    <a:pt x="6169660" y="62484"/>
                    <a:pt x="6169660" y="139573"/>
                  </a:cubicBezTo>
                  <a:lnTo>
                    <a:pt x="6169660" y="2914523"/>
                  </a:lnTo>
                  <a:cubicBezTo>
                    <a:pt x="6169660" y="2991612"/>
                    <a:pt x="6107176" y="3054096"/>
                    <a:pt x="6030087" y="3054096"/>
                  </a:cubicBezTo>
                  <a:lnTo>
                    <a:pt x="139573" y="3054096"/>
                  </a:lnTo>
                  <a:cubicBezTo>
                    <a:pt x="62484" y="3054096"/>
                    <a:pt x="0" y="2991612"/>
                    <a:pt x="0" y="2914523"/>
                  </a:cubicBezTo>
                  <a:close/>
                </a:path>
              </a:pathLst>
            </a:custGeom>
            <a:solidFill>
              <a:srgbClr val="D6F5EE"/>
            </a:solidFill>
            <a:ln w="9532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6085570" y="3934978"/>
            <a:ext cx="4102427" cy="407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Roles (R)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085570" y="4405684"/>
            <a:ext cx="4102427" cy="1314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19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R = {Student, Faculty, Admin}</a:t>
            </a:r>
          </a:p>
          <a:p>
            <a:pPr algn="l">
              <a:lnSpc>
                <a:spcPts val="2927"/>
              </a:lnSpc>
            </a:pPr>
            <a:r>
              <a:rPr lang="en-US" sz="19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Subsets partition the user set by responsibility.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88219" y="6189831"/>
            <a:ext cx="9462211" cy="1918259"/>
            <a:chOff x="0" y="0"/>
            <a:chExt cx="12616282" cy="25576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616180" cy="2557653"/>
            </a:xfrm>
            <a:custGeom>
              <a:avLst/>
              <a:gdLst/>
              <a:ahLst/>
              <a:cxnLst/>
              <a:rect r="r" b="b" t="t" l="l"/>
              <a:pathLst>
                <a:path h="2557653" w="12616180">
                  <a:moveTo>
                    <a:pt x="0" y="139700"/>
                  </a:moveTo>
                  <a:cubicBezTo>
                    <a:pt x="0" y="62611"/>
                    <a:pt x="62611" y="0"/>
                    <a:pt x="139700" y="0"/>
                  </a:cubicBezTo>
                  <a:lnTo>
                    <a:pt x="12476480" y="0"/>
                  </a:lnTo>
                  <a:cubicBezTo>
                    <a:pt x="12553697" y="0"/>
                    <a:pt x="12616180" y="62611"/>
                    <a:pt x="12616180" y="139700"/>
                  </a:cubicBezTo>
                  <a:lnTo>
                    <a:pt x="12616180" y="2417953"/>
                  </a:lnTo>
                  <a:cubicBezTo>
                    <a:pt x="12616180" y="2495169"/>
                    <a:pt x="12553569" y="2557653"/>
                    <a:pt x="12476480" y="2557653"/>
                  </a:cubicBezTo>
                  <a:lnTo>
                    <a:pt x="139700" y="2557653"/>
                  </a:lnTo>
                  <a:cubicBezTo>
                    <a:pt x="62484" y="2557653"/>
                    <a:pt x="0" y="2495042"/>
                    <a:pt x="0" y="2417953"/>
                  </a:cubicBezTo>
                  <a:close/>
                </a:path>
              </a:pathLst>
            </a:custGeom>
            <a:solidFill>
              <a:srgbClr val="D6F5EE"/>
            </a:solidFill>
            <a:ln w="9532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250652" y="6433223"/>
            <a:ext cx="8937336" cy="407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Permissions (P)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50652" y="6903930"/>
            <a:ext cx="8937336" cy="94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19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 = {Send, Receive, Manage}</a:t>
            </a:r>
          </a:p>
          <a:p>
            <a:pPr algn="l">
              <a:lnSpc>
                <a:spcPts val="2927"/>
              </a:lnSpc>
            </a:pPr>
            <a:r>
              <a:rPr lang="en-US" sz="19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Power set 𝒫(P) yields all possible access combinations.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92991" y="8280921"/>
            <a:ext cx="9452677" cy="1183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19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The Cartesian product </a:t>
            </a:r>
            <a:r>
              <a:rPr lang="en-US" sz="1951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 × P</a:t>
            </a:r>
            <a:r>
              <a:rPr lang="en-US" sz="19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defines the universe of all possible user–permission pairs, from which the authorised subset is selected. Cardinality and the Inclusion–Exclusion Principle govern overlap between role-based access groups.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87051"/>
            <a:ext cx="16315868" cy="744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6"/>
              </a:lnSpc>
            </a:pPr>
            <a:r>
              <a:rPr lang="en-US" sz="4428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Authorisation Relations &amp; Role Assignment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991" y="2685621"/>
            <a:ext cx="10412149" cy="5900290"/>
            <a:chOff x="0" y="0"/>
            <a:chExt cx="13882865" cy="7867053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3882878" cy="7867015"/>
            </a:xfrm>
            <a:custGeom>
              <a:avLst/>
              <a:gdLst/>
              <a:ahLst/>
              <a:cxnLst/>
              <a:rect r="r" b="b" t="t" l="l"/>
              <a:pathLst>
                <a:path h="7867015" w="13882878">
                  <a:moveTo>
                    <a:pt x="0" y="0"/>
                  </a:moveTo>
                  <a:lnTo>
                    <a:pt x="13882878" y="0"/>
                  </a:lnTo>
                  <a:lnTo>
                    <a:pt x="13882878" y="7867015"/>
                  </a:lnTo>
                  <a:lnTo>
                    <a:pt x="0" y="7867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7cdcd9e62c644306"/>
              <a:stretch>
                <a:fillRect l="-30" t="0" r="-3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966353" y="1953282"/>
            <a:ext cx="5351888" cy="381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Role Function </a:t>
            </a:r>
            <a:r>
              <a:rPr lang="en-US" b="true" sz="2176" i="true">
                <a:solidFill>
                  <a:srgbClr val="333F70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f</a:t>
            </a:r>
            <a:r>
              <a:rPr lang="en-US" sz="21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 : Users → Roles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66353" y="2486654"/>
            <a:ext cx="6266983" cy="353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 total function assigns exactly one role per user: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66353" y="2973695"/>
            <a:ext cx="5351888" cy="1129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2670" indent="-156335" lvl="1">
              <a:lnSpc>
                <a:spcPts val="2485"/>
              </a:lnSpc>
              <a:buFont typeface="Arial"/>
              <a:buChar char="•"/>
            </a:pPr>
            <a:r>
              <a:rPr lang="en-US" sz="17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f(Ravi) = Student</a:t>
            </a:r>
          </a:p>
          <a:p>
            <a:pPr algn="l" marL="312670" indent="-156335" lvl="1">
              <a:lnSpc>
                <a:spcPts val="2485"/>
              </a:lnSpc>
              <a:buFont typeface="Arial"/>
              <a:buChar char="•"/>
            </a:pPr>
            <a:r>
              <a:rPr lang="en-US" sz="17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f(Priya) = Faculty</a:t>
            </a:r>
          </a:p>
          <a:p>
            <a:pPr algn="l" marL="312670" indent="-156335" lvl="1">
              <a:lnSpc>
                <a:spcPts val="2485"/>
              </a:lnSpc>
              <a:buFont typeface="Arial"/>
              <a:buChar char="•"/>
            </a:pPr>
            <a:r>
              <a:rPr lang="en-US" sz="17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f(Anu) = Admin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966353" y="4254770"/>
            <a:ext cx="5351888" cy="735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Authorisation Relation R</a:t>
            </a:r>
            <a:r>
              <a:rPr lang="en-US" b="true" sz="2176" i="true">
                <a:solidFill>
                  <a:srgbClr val="333F70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auth</a:t>
            </a:r>
            <a:r>
              <a:rPr lang="en-US" sz="21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 ⊆ U × P</a:t>
            </a:r>
          </a:p>
        </p:txBody>
      </p: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11966348" y="5192503"/>
          <a:ext cx="5338170" cy="2535631"/>
        </p:xfrm>
        <a:graphic>
          <a:graphicData uri="http://schemas.openxmlformats.org/drawingml/2006/table">
            <a:tbl>
              <a:tblPr/>
              <a:tblGrid>
                <a:gridCol w="1334543"/>
                <a:gridCol w="1334543"/>
                <a:gridCol w="1334543"/>
                <a:gridCol w="1334543"/>
              </a:tblGrid>
              <a:tr h="85676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 b="true">
                          <a:solidFill>
                            <a:srgbClr val="272525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User</a:t>
                      </a:r>
                      <a:endParaRPr lang="en-US" sz="1100"/>
                    </a:p>
                  </a:txBody>
                  <a:tcPr marL="150624" marR="150624" marT="150624" marB="150624" anchor="ctr">
                    <a:lnL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68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 b="true">
                          <a:solidFill>
                            <a:srgbClr val="272525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Send</a:t>
                      </a:r>
                      <a:endParaRPr lang="en-US" sz="1100"/>
                    </a:p>
                  </a:txBody>
                  <a:tcPr marL="150624" marR="150624" marT="150624" marB="150624" anchor="ctr">
                    <a:lnL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68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 b="true">
                          <a:solidFill>
                            <a:srgbClr val="272525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Receive</a:t>
                      </a:r>
                      <a:endParaRPr lang="en-US" sz="1100"/>
                    </a:p>
                  </a:txBody>
                  <a:tcPr marL="150624" marR="150624" marT="150624" marB="150624" anchor="ctr">
                    <a:lnL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68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 b="true">
                          <a:solidFill>
                            <a:srgbClr val="272525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Manage</a:t>
                      </a:r>
                      <a:endParaRPr lang="en-US" sz="1100"/>
                    </a:p>
                  </a:txBody>
                  <a:tcPr marL="150624" marR="150624" marT="150624" marB="150624" anchor="ctr">
                    <a:lnL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A688"/>
                    </a:solidFill>
                  </a:tcPr>
                </a:tc>
              </a:tr>
              <a:tr h="56109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333F7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Ravi</a:t>
                      </a:r>
                      <a:endParaRPr lang="en-US" sz="1100"/>
                    </a:p>
                  </a:txBody>
                  <a:tcPr marL="150624" marR="150624" marT="150624" marB="150624" anchor="ctr">
                    <a:lnL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333F7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✓</a:t>
                      </a:r>
                      <a:endParaRPr lang="en-US" sz="1100"/>
                    </a:p>
                  </a:txBody>
                  <a:tcPr marL="150624" marR="150624" marT="150624" marB="150624" anchor="ctr">
                    <a:lnL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333F7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✓</a:t>
                      </a:r>
                      <a:endParaRPr lang="en-US" sz="1100"/>
                    </a:p>
                  </a:txBody>
                  <a:tcPr marL="150624" marR="150624" marT="150624" marB="150624" anchor="ctr">
                    <a:lnL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333F7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✗</a:t>
                      </a:r>
                      <a:endParaRPr lang="en-US" sz="1100"/>
                    </a:p>
                  </a:txBody>
                  <a:tcPr marL="150624" marR="150624" marT="150624" marB="150624" anchor="ctr">
                    <a:lnL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109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333F7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Priya</a:t>
                      </a:r>
                      <a:endParaRPr lang="en-US" sz="1100"/>
                    </a:p>
                  </a:txBody>
                  <a:tcPr marL="150624" marR="150624" marT="150624" marB="150624" anchor="ctr">
                    <a:lnL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333F7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✓</a:t>
                      </a:r>
                      <a:endParaRPr lang="en-US" sz="1100"/>
                    </a:p>
                  </a:txBody>
                  <a:tcPr marL="150624" marR="150624" marT="150624" marB="150624" anchor="ctr">
                    <a:lnL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333F7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✓</a:t>
                      </a:r>
                      <a:endParaRPr lang="en-US" sz="1100"/>
                    </a:p>
                  </a:txBody>
                  <a:tcPr marL="150624" marR="150624" marT="150624" marB="150624" anchor="ctr">
                    <a:lnL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333F7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✗</a:t>
                      </a:r>
                      <a:endParaRPr lang="en-US" sz="1100"/>
                    </a:p>
                  </a:txBody>
                  <a:tcPr marL="150624" marR="150624" marT="150624" marB="150624" anchor="ctr">
                    <a:lnL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66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333F7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Anu</a:t>
                      </a:r>
                      <a:endParaRPr lang="en-US" sz="1100"/>
                    </a:p>
                  </a:txBody>
                  <a:tcPr marL="150624" marR="150624" marT="150624" marB="150624" anchor="ctr">
                    <a:lnL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333F7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✓</a:t>
                      </a:r>
                      <a:endParaRPr lang="en-US" sz="1100"/>
                    </a:p>
                  </a:txBody>
                  <a:tcPr marL="150624" marR="150624" marT="150624" marB="150624" anchor="ctr">
                    <a:lnL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333F7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✓</a:t>
                      </a:r>
                      <a:endParaRPr lang="en-US" sz="1100"/>
                    </a:p>
                  </a:txBody>
                  <a:tcPr marL="150624" marR="150624" marT="150624" marB="150624" anchor="ctr">
                    <a:lnL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71"/>
                        </a:lnSpc>
                        <a:defRPr/>
                      </a:pPr>
                      <a:r>
                        <a:rPr lang="en-US" sz="1726">
                          <a:solidFill>
                            <a:srgbClr val="333F7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✓</a:t>
                      </a:r>
                      <a:endParaRPr lang="en-US" sz="1100"/>
                    </a:p>
                  </a:txBody>
                  <a:tcPr marL="150624" marR="150624" marT="150624" marB="150624" anchor="ctr">
                    <a:lnL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C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4" id="14"/>
          <p:cNvSpPr txBox="true"/>
          <p:nvPr/>
        </p:nvSpPr>
        <p:spPr>
          <a:xfrm rot="0">
            <a:off x="11966353" y="7979273"/>
            <a:ext cx="5351888" cy="1328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An action is permitted </a:t>
            </a:r>
            <a:r>
              <a:rPr lang="en-US" sz="1726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only if</a:t>
            </a:r>
            <a:r>
              <a:rPr lang="en-US" sz="17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the pair (user, permission) ∈ R</a:t>
            </a:r>
            <a:r>
              <a:rPr lang="en-US" sz="1726" i="true">
                <a:solidFill>
                  <a:srgbClr val="333F7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auth</a:t>
            </a:r>
            <a:r>
              <a:rPr lang="en-US" sz="17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. This relation is reflexive over allowed pairs and can be extended to a partial order on privilege levels.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857650"/>
            <a:ext cx="16315868" cy="689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8"/>
              </a:lnSpc>
            </a:pPr>
            <a:r>
              <a:rPr lang="en-US" sz="4053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Functions, Hashing &amp; the Pigeonhole Principle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991" y="2633339"/>
            <a:ext cx="10427341" cy="5908929"/>
            <a:chOff x="0" y="0"/>
            <a:chExt cx="13903122" cy="7878572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3903071" cy="7878572"/>
            </a:xfrm>
            <a:custGeom>
              <a:avLst/>
              <a:gdLst/>
              <a:ahLst/>
              <a:cxnLst/>
              <a:rect r="r" b="b" t="t" l="l"/>
              <a:pathLst>
                <a:path h="7878572" w="13903071">
                  <a:moveTo>
                    <a:pt x="0" y="0"/>
                  </a:moveTo>
                  <a:lnTo>
                    <a:pt x="13903071" y="0"/>
                  </a:lnTo>
                  <a:lnTo>
                    <a:pt x="13903071" y="7878572"/>
                  </a:lnTo>
                  <a:lnTo>
                    <a:pt x="0" y="78785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899670522c914639"/>
              <a:stretch>
                <a:fillRect l="0" t="-4" r="0" b="-4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938054" y="1910382"/>
            <a:ext cx="5380187" cy="344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Functions in the Architecture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38054" y="2379412"/>
            <a:ext cx="5380187" cy="273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5480" indent="-142740" lvl="1">
              <a:lnSpc>
                <a:spcPts val="2194"/>
              </a:lnSpc>
              <a:buFont typeface="Arial"/>
              <a:buChar char="•"/>
            </a:pPr>
            <a:r>
              <a:rPr lang="en-US" b="true" sz="1576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Role assignment</a:t>
            </a:r>
            <a:r>
              <a:rPr lang="en-US" sz="15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— f : Users → Roles is a well-defined total function (injective here, since |U| = |R| = 3).</a:t>
            </a:r>
          </a:p>
          <a:p>
            <a:pPr algn="l" marL="285480" indent="-142740" lvl="1">
              <a:lnSpc>
                <a:spcPts val="2194"/>
              </a:lnSpc>
              <a:buFont typeface="Arial"/>
              <a:buChar char="•"/>
            </a:pPr>
            <a:r>
              <a:rPr lang="en-US" b="true" sz="1576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Hashing</a:t>
            </a:r>
            <a:r>
              <a:rPr lang="en-US" sz="15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— h : Messages → Buckets models message fingerprinting as a function; equivalence classes [m] group messages sharing the same hash.</a:t>
            </a:r>
          </a:p>
          <a:p>
            <a:pPr algn="l" marL="285480" indent="-142740" lvl="1">
              <a:lnSpc>
                <a:spcPts val="2194"/>
              </a:lnSpc>
              <a:buFont typeface="Arial"/>
              <a:buChar char="•"/>
            </a:pPr>
            <a:r>
              <a:rPr lang="en-US" b="true" sz="1576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lookup</a:t>
            </a:r>
            <a:r>
              <a:rPr lang="en-US" sz="15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— g : KeyID → KeyRecord is an injective function ensuring distinct identifiers map to distinct key records.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38054" y="5250752"/>
            <a:ext cx="5380187" cy="670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Pigeonhole Principle &amp; Collision Reasoning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938054" y="6045384"/>
            <a:ext cx="5380187" cy="2052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4"/>
              </a:lnSpc>
            </a:pPr>
            <a:r>
              <a:rPr lang="en-US" sz="15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If |Domain| &gt; |Codomain|, then </a:t>
            </a:r>
            <a:r>
              <a:rPr lang="en-US" sz="1576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 injective function exists</a:t>
            </a:r>
            <a:r>
              <a:rPr lang="en-US" sz="15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— at least two inputs must share an output. In hashing, this guarantees theoretical collisions are unavoidable when the message space exceeds the bucket count. Robust hash functions minimise collision probability; the principle frames </a:t>
            </a:r>
            <a:r>
              <a:rPr lang="en-US" sz="1576" i="true">
                <a:solidFill>
                  <a:srgbClr val="333F7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why</a:t>
            </a:r>
            <a:r>
              <a:rPr lang="en-US" sz="15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collision resistance is a design goal, not a weakness.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938054" y="8269691"/>
            <a:ext cx="5380187" cy="957415"/>
            <a:chOff x="0" y="0"/>
            <a:chExt cx="7173582" cy="127655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73595" cy="1276604"/>
            </a:xfrm>
            <a:custGeom>
              <a:avLst/>
              <a:gdLst/>
              <a:ahLst/>
              <a:cxnLst/>
              <a:rect r="r" b="b" t="t" l="l"/>
              <a:pathLst>
                <a:path h="1276604" w="7173595">
                  <a:moveTo>
                    <a:pt x="0" y="116713"/>
                  </a:moveTo>
                  <a:cubicBezTo>
                    <a:pt x="0" y="52197"/>
                    <a:pt x="52197" y="0"/>
                    <a:pt x="116713" y="0"/>
                  </a:cubicBezTo>
                  <a:lnTo>
                    <a:pt x="7056882" y="0"/>
                  </a:lnTo>
                  <a:cubicBezTo>
                    <a:pt x="7121271" y="0"/>
                    <a:pt x="7173595" y="52197"/>
                    <a:pt x="7173595" y="116713"/>
                  </a:cubicBezTo>
                  <a:lnTo>
                    <a:pt x="7173595" y="1159891"/>
                  </a:lnTo>
                  <a:cubicBezTo>
                    <a:pt x="7173595" y="1224280"/>
                    <a:pt x="7121398" y="1276604"/>
                    <a:pt x="7056882" y="1276604"/>
                  </a:cubicBezTo>
                  <a:lnTo>
                    <a:pt x="116713" y="1276604"/>
                  </a:lnTo>
                  <a:cubicBezTo>
                    <a:pt x="52197" y="1276604"/>
                    <a:pt x="0" y="1224280"/>
                    <a:pt x="0" y="1159891"/>
                  </a:cubicBez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146413" y="8511435"/>
            <a:ext cx="260347" cy="208369"/>
            <a:chOff x="0" y="0"/>
            <a:chExt cx="347129" cy="277825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347091" cy="277876"/>
            </a:xfrm>
            <a:custGeom>
              <a:avLst/>
              <a:gdLst/>
              <a:ahLst/>
              <a:cxnLst/>
              <a:rect r="r" b="b" t="t" l="l"/>
              <a:pathLst>
                <a:path h="277876" w="347091">
                  <a:moveTo>
                    <a:pt x="0" y="0"/>
                  </a:moveTo>
                  <a:lnTo>
                    <a:pt x="347091" y="0"/>
                  </a:lnTo>
                  <a:lnTo>
                    <a:pt x="347091" y="277876"/>
                  </a:lnTo>
                  <a:lnTo>
                    <a:pt x="0" y="277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24ec1d2d85674b2c"/>
              <a:stretch>
                <a:fillRect l="-933" t="0" r="-944" b="18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615139" y="8430730"/>
            <a:ext cx="4494733" cy="606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4"/>
              </a:lnSpc>
            </a:pPr>
            <a:r>
              <a:rPr lang="en-US" sz="157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Equivalence classes partition the message space into buckets: [m] = {m′ | h(m) = h(m′)}.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cId5223ad556cf74fdc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338e89f8468f45ae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4348f9f794034956"/>
              <a:stretch>
                <a:fillRect l="-1" t="0" r="-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991" y="766201"/>
            <a:ext cx="9452677" cy="62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6"/>
              </a:lnSpc>
            </a:pPr>
            <a:r>
              <a:rPr lang="en-US" sz="3602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Thank You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991" y="1521800"/>
            <a:ext cx="9452677" cy="2456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76"/>
              </a:lnSpc>
            </a:pPr>
            <a:r>
              <a:rPr lang="en-US" sz="5028" b="true">
                <a:solidFill>
                  <a:srgbClr val="26A688"/>
                </a:solidFill>
                <a:latin typeface="Arimo Bold"/>
                <a:ea typeface="Arimo Bold"/>
                <a:cs typeface="Arimo Bold"/>
                <a:sym typeface="Arimo Bold"/>
              </a:rPr>
              <a:t>Security is Mathematics Made Rigorous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991" y="4151986"/>
            <a:ext cx="9452677" cy="749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2"/>
              </a:lnSpc>
            </a:pPr>
            <a:r>
              <a:rPr lang="en-US" sz="14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Every access decision, hash bucket, and key record in the Six Lock Architecture traces directly back to the formal foundations of </a:t>
            </a:r>
            <a:r>
              <a:rPr lang="en-US" sz="1426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sets, relations, functions, and the pigeonhole principle</a:t>
            </a:r>
            <a:r>
              <a:rPr lang="en-US" sz="14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— proving that discrete mathematics is not merely theoretical, but the bedrock of real-world security design.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83456" y="5029410"/>
            <a:ext cx="9471736" cy="1040378"/>
            <a:chOff x="0" y="0"/>
            <a:chExt cx="12628982" cy="13871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628880" cy="1387094"/>
            </a:xfrm>
            <a:custGeom>
              <a:avLst/>
              <a:gdLst/>
              <a:ahLst/>
              <a:cxnLst/>
              <a:rect r="r" b="b" t="t" l="l"/>
              <a:pathLst>
                <a:path h="1387094" w="12628880">
                  <a:moveTo>
                    <a:pt x="0" y="106172"/>
                  </a:moveTo>
                  <a:cubicBezTo>
                    <a:pt x="0" y="47498"/>
                    <a:pt x="47498" y="0"/>
                    <a:pt x="106172" y="0"/>
                  </a:cubicBezTo>
                  <a:lnTo>
                    <a:pt x="12522708" y="0"/>
                  </a:lnTo>
                  <a:cubicBezTo>
                    <a:pt x="12581382" y="0"/>
                    <a:pt x="12628880" y="47498"/>
                    <a:pt x="12628880" y="106172"/>
                  </a:cubicBezTo>
                  <a:lnTo>
                    <a:pt x="12628880" y="1280922"/>
                  </a:lnTo>
                  <a:cubicBezTo>
                    <a:pt x="12628880" y="1339596"/>
                    <a:pt x="12581382" y="1387094"/>
                    <a:pt x="12522708" y="1387094"/>
                  </a:cubicBezTo>
                  <a:lnTo>
                    <a:pt x="106172" y="1387094"/>
                  </a:lnTo>
                  <a:cubicBezTo>
                    <a:pt x="47498" y="1387094"/>
                    <a:pt x="0" y="1339596"/>
                    <a:pt x="0" y="128092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198226" y="5215614"/>
            <a:ext cx="9042197" cy="319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Sets &amp; Subsets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8226" y="5598833"/>
            <a:ext cx="9042197" cy="256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4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Define users, roles, and permission spaces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83456" y="6172857"/>
            <a:ext cx="9471736" cy="1040378"/>
            <a:chOff x="0" y="0"/>
            <a:chExt cx="12628982" cy="13871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628880" cy="1387094"/>
            </a:xfrm>
            <a:custGeom>
              <a:avLst/>
              <a:gdLst/>
              <a:ahLst/>
              <a:cxnLst/>
              <a:rect r="r" b="b" t="t" l="l"/>
              <a:pathLst>
                <a:path h="1387094" w="12628880">
                  <a:moveTo>
                    <a:pt x="0" y="106172"/>
                  </a:moveTo>
                  <a:cubicBezTo>
                    <a:pt x="0" y="47498"/>
                    <a:pt x="47498" y="0"/>
                    <a:pt x="106172" y="0"/>
                  </a:cubicBezTo>
                  <a:lnTo>
                    <a:pt x="12522708" y="0"/>
                  </a:lnTo>
                  <a:cubicBezTo>
                    <a:pt x="12581382" y="0"/>
                    <a:pt x="12628880" y="47498"/>
                    <a:pt x="12628880" y="106172"/>
                  </a:cubicBezTo>
                  <a:lnTo>
                    <a:pt x="12628880" y="1280922"/>
                  </a:lnTo>
                  <a:cubicBezTo>
                    <a:pt x="12628880" y="1339596"/>
                    <a:pt x="12581382" y="1387094"/>
                    <a:pt x="12522708" y="1387094"/>
                  </a:cubicBezTo>
                  <a:lnTo>
                    <a:pt x="106172" y="1387094"/>
                  </a:lnTo>
                  <a:cubicBezTo>
                    <a:pt x="47498" y="1387094"/>
                    <a:pt x="0" y="1339596"/>
                    <a:pt x="0" y="128092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198226" y="6359061"/>
            <a:ext cx="9042197" cy="319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Relations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98226" y="6742281"/>
            <a:ext cx="9042197" cy="256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4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Govern who is authorised to act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83456" y="7316305"/>
            <a:ext cx="9471736" cy="1040378"/>
            <a:chOff x="0" y="0"/>
            <a:chExt cx="12628982" cy="13871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628880" cy="1387094"/>
            </a:xfrm>
            <a:custGeom>
              <a:avLst/>
              <a:gdLst/>
              <a:ahLst/>
              <a:cxnLst/>
              <a:rect r="r" b="b" t="t" l="l"/>
              <a:pathLst>
                <a:path h="1387094" w="12628880">
                  <a:moveTo>
                    <a:pt x="0" y="106172"/>
                  </a:moveTo>
                  <a:cubicBezTo>
                    <a:pt x="0" y="47498"/>
                    <a:pt x="47498" y="0"/>
                    <a:pt x="106172" y="0"/>
                  </a:cubicBezTo>
                  <a:lnTo>
                    <a:pt x="12522708" y="0"/>
                  </a:lnTo>
                  <a:cubicBezTo>
                    <a:pt x="12581382" y="0"/>
                    <a:pt x="12628880" y="47498"/>
                    <a:pt x="12628880" y="106172"/>
                  </a:cubicBezTo>
                  <a:lnTo>
                    <a:pt x="12628880" y="1280922"/>
                  </a:lnTo>
                  <a:cubicBezTo>
                    <a:pt x="12628880" y="1339596"/>
                    <a:pt x="12581382" y="1387094"/>
                    <a:pt x="12522708" y="1387094"/>
                  </a:cubicBezTo>
                  <a:lnTo>
                    <a:pt x="106172" y="1387094"/>
                  </a:lnTo>
                  <a:cubicBezTo>
                    <a:pt x="47498" y="1387094"/>
                    <a:pt x="0" y="1339596"/>
                    <a:pt x="0" y="128092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198226" y="7502509"/>
            <a:ext cx="9042197" cy="319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Functions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98226" y="7885719"/>
            <a:ext cx="9042197" cy="256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4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Map identities, keys, and messages precisely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83456" y="8459753"/>
            <a:ext cx="9471736" cy="1040378"/>
            <a:chOff x="0" y="0"/>
            <a:chExt cx="12628982" cy="138717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628880" cy="1387094"/>
            </a:xfrm>
            <a:custGeom>
              <a:avLst/>
              <a:gdLst/>
              <a:ahLst/>
              <a:cxnLst/>
              <a:rect r="r" b="b" t="t" l="l"/>
              <a:pathLst>
                <a:path h="1387094" w="12628880">
                  <a:moveTo>
                    <a:pt x="0" y="106172"/>
                  </a:moveTo>
                  <a:cubicBezTo>
                    <a:pt x="0" y="47498"/>
                    <a:pt x="47498" y="0"/>
                    <a:pt x="106172" y="0"/>
                  </a:cubicBezTo>
                  <a:lnTo>
                    <a:pt x="12522708" y="0"/>
                  </a:lnTo>
                  <a:cubicBezTo>
                    <a:pt x="12581382" y="0"/>
                    <a:pt x="12628880" y="47498"/>
                    <a:pt x="12628880" y="106172"/>
                  </a:cubicBezTo>
                  <a:lnTo>
                    <a:pt x="12628880" y="1280922"/>
                  </a:lnTo>
                  <a:cubicBezTo>
                    <a:pt x="12628880" y="1339596"/>
                    <a:pt x="12581382" y="1387094"/>
                    <a:pt x="12522708" y="1387094"/>
                  </a:cubicBezTo>
                  <a:lnTo>
                    <a:pt x="106172" y="1387094"/>
                  </a:lnTo>
                  <a:cubicBezTo>
                    <a:pt x="47498" y="1387094"/>
                    <a:pt x="0" y="1339596"/>
                    <a:pt x="0" y="128092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198226" y="8645947"/>
            <a:ext cx="9042197" cy="319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Pigeonhole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98226" y="9029176"/>
            <a:ext cx="9042197" cy="256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2"/>
              </a:lnSpc>
            </a:pPr>
            <a:r>
              <a:rPr lang="en-US" sz="14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Grounds collision-resistance as a mathematical necessity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cIdf2574e78b8fd4437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07a20ac2784042a5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f77b6e3d2d04468e"/>
              <a:stretch>
                <a:fillRect l="-1" t="0" r="-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991" y="2491435"/>
            <a:ext cx="9452677" cy="271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Key-Space &amp; Collision-Analysis Lock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991" y="5557923"/>
            <a:ext cx="9452677" cy="143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Module 3 — Mathematical Security Architecture</a:t>
            </a:r>
          </a:p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 counting-based framework that measures credential space and reasons about collisions using combinatorics.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991" y="7315257"/>
            <a:ext cx="2547480" cy="431044"/>
            <a:chOff x="0" y="0"/>
            <a:chExt cx="3396640" cy="57472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396615" cy="574675"/>
            </a:xfrm>
            <a:custGeom>
              <a:avLst/>
              <a:gdLst/>
              <a:ahLst/>
              <a:cxnLst/>
              <a:rect r="r" b="b" t="t" l="l"/>
              <a:pathLst>
                <a:path h="574675" w="3396615">
                  <a:moveTo>
                    <a:pt x="0" y="127127"/>
                  </a:moveTo>
                  <a:cubicBezTo>
                    <a:pt x="0" y="56896"/>
                    <a:pt x="56896" y="0"/>
                    <a:pt x="127127" y="0"/>
                  </a:cubicBezTo>
                  <a:lnTo>
                    <a:pt x="3269488" y="0"/>
                  </a:lnTo>
                  <a:cubicBezTo>
                    <a:pt x="3339719" y="0"/>
                    <a:pt x="3396615" y="56896"/>
                    <a:pt x="3396615" y="127127"/>
                  </a:cubicBezTo>
                  <a:lnTo>
                    <a:pt x="3396615" y="447548"/>
                  </a:lnTo>
                  <a:cubicBezTo>
                    <a:pt x="3396615" y="517779"/>
                    <a:pt x="3339719" y="574675"/>
                    <a:pt x="3269488" y="574675"/>
                  </a:cubicBezTo>
                  <a:lnTo>
                    <a:pt x="127127" y="574675"/>
                  </a:lnTo>
                  <a:cubicBezTo>
                    <a:pt x="56896" y="574675"/>
                    <a:pt x="0" y="517779"/>
                    <a:pt x="0" y="447548"/>
                  </a:cubicBezTo>
                  <a:close/>
                </a:path>
              </a:pathLst>
            </a:custGeom>
            <a:solidFill>
              <a:srgbClr val="D6F5EE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163231" y="7419356"/>
            <a:ext cx="3122095" cy="241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sz="17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UNIVERSITY PROJECT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677498" y="7310495"/>
            <a:ext cx="2034683" cy="440579"/>
            <a:chOff x="0" y="0"/>
            <a:chExt cx="2712910" cy="58743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12847" cy="587375"/>
            </a:xfrm>
            <a:custGeom>
              <a:avLst/>
              <a:gdLst/>
              <a:ahLst/>
              <a:cxnLst/>
              <a:rect r="r" b="b" t="t" l="l"/>
              <a:pathLst>
                <a:path h="587375" w="2712847">
                  <a:moveTo>
                    <a:pt x="0" y="129921"/>
                  </a:moveTo>
                  <a:cubicBezTo>
                    <a:pt x="0" y="58166"/>
                    <a:pt x="58166" y="0"/>
                    <a:pt x="129921" y="0"/>
                  </a:cubicBezTo>
                  <a:lnTo>
                    <a:pt x="2582926" y="0"/>
                  </a:lnTo>
                  <a:cubicBezTo>
                    <a:pt x="2654681" y="0"/>
                    <a:pt x="2712847" y="58166"/>
                    <a:pt x="2712847" y="129921"/>
                  </a:cubicBezTo>
                  <a:lnTo>
                    <a:pt x="2712847" y="457454"/>
                  </a:lnTo>
                  <a:cubicBezTo>
                    <a:pt x="2712847" y="529209"/>
                    <a:pt x="2654681" y="587375"/>
                    <a:pt x="2582926" y="587375"/>
                  </a:cubicBezTo>
                  <a:lnTo>
                    <a:pt x="129921" y="587375"/>
                  </a:lnTo>
                  <a:cubicBezTo>
                    <a:pt x="58166" y="587375"/>
                    <a:pt x="0" y="529209"/>
                    <a:pt x="0" y="457454"/>
                  </a:cubicBezTo>
                  <a:close/>
                </a:path>
              </a:pathLst>
            </a:custGeom>
            <a:blipFill>
              <a:blip r:embed="Rb94e015b94014886">
                <a:alphaModFix amt="0"/>
              </a:blip>
              <a:stretch>
                <a:fillRect l="0" t="-39990" r="-2" b="-40001"/>
              </a:stretch>
            </a:blipFill>
            <a:ln w="9532" cap="sq">
              <a:solidFill>
                <a:srgbClr val="26A688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3852501" y="7419356"/>
            <a:ext cx="2599763" cy="241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sz="1726">
                <a:solidFill>
                  <a:srgbClr val="26A688"/>
                </a:solidFill>
                <a:latin typeface="Open Sans"/>
                <a:ea typeface="Open Sans"/>
                <a:cs typeface="Open Sans"/>
                <a:sym typeface="Open Sans"/>
              </a:rPr>
              <a:t>MODULE 3 OF 6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63191" cy="10295039"/>
            <a:chOff x="0" y="0"/>
            <a:chExt cx="9150922" cy="13726719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da6e2c178c6e4db4"/>
              <a:stretch>
                <a:fillRect l="-1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6182" y="772163"/>
            <a:ext cx="9452677" cy="1738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7"/>
              </a:lnSpc>
            </a:pPr>
            <a:r>
              <a:rPr lang="en-US" sz="5254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The Key-Space Lock: </a:t>
            </a:r>
            <a:r>
              <a:rPr lang="en-US" sz="5254" b="true">
                <a:solidFill>
                  <a:srgbClr val="26A688"/>
                </a:solidFill>
                <a:latin typeface="Arimo Bold"/>
                <a:ea typeface="Arimo Bold"/>
                <a:cs typeface="Arimo Bold"/>
                <a:sym typeface="Arimo Bold"/>
              </a:rPr>
              <a:t>SL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6182" y="3062202"/>
            <a:ext cx="4901936" cy="1756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For a key of length </a:t>
            </a:r>
            <a:r>
              <a:rPr lang="en-US" sz="2101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</a:t>
            </a:r>
            <a:r>
              <a:rPr lang="en-US" sz="21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drawn from an alphabet of size </a:t>
            </a:r>
            <a:r>
              <a:rPr lang="en-US" sz="2101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</a:t>
            </a:r>
            <a:r>
              <a:rPr lang="en-US" sz="21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, the </a:t>
            </a:r>
            <a:r>
              <a:rPr lang="en-US" sz="2101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Product Rule</a:t>
            </a:r>
            <a:r>
              <a:rPr lang="en-US" sz="21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gives the total number of distinct keys as: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261747" y="5274326"/>
            <a:ext cx="4496372" cy="133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Key-Space = SL</a:t>
            </a:r>
            <a:r>
              <a:rPr lang="en-US" sz="21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— each of the L positions is chosen independently from S symbols.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856182" y="5109096"/>
            <a:ext cx="38129" cy="1731483"/>
            <a:chOff x="0" y="0"/>
            <a:chExt cx="50838" cy="23086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800" cy="2308606"/>
            </a:xfrm>
            <a:custGeom>
              <a:avLst/>
              <a:gdLst/>
              <a:ahLst/>
              <a:cxnLst/>
              <a:rect r="r" b="b" t="t" l="l"/>
              <a:pathLst>
                <a:path h="2308606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2283206"/>
                  </a:lnTo>
                  <a:cubicBezTo>
                    <a:pt x="50800" y="2297303"/>
                    <a:pt x="39370" y="2308606"/>
                    <a:pt x="25400" y="2308606"/>
                  </a:cubicBezTo>
                  <a:cubicBezTo>
                    <a:pt x="11430" y="2308606"/>
                    <a:pt x="0" y="2297176"/>
                    <a:pt x="0" y="2283206"/>
                  </a:cubicBezTo>
                  <a:close/>
                </a:path>
              </a:pathLst>
            </a:custGeom>
            <a:solidFill>
              <a:srgbClr val="26A688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7856182" y="7063892"/>
            <a:ext cx="4901936" cy="2179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Example:</a:t>
            </a:r>
            <a:r>
              <a:rPr lang="en-US" sz="21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8-digit PIN over digits 0–9 → 108 = </a:t>
            </a:r>
            <a:r>
              <a:rPr lang="en-US" sz="2101">
                <a:solidFill>
                  <a:srgbClr val="26A688"/>
                </a:solidFill>
                <a:latin typeface="Open Sans"/>
                <a:ea typeface="Open Sans"/>
                <a:cs typeface="Open Sans"/>
                <a:sym typeface="Open Sans"/>
              </a:rPr>
              <a:t>100,000,000</a:t>
            </a:r>
            <a:r>
              <a:rPr lang="en-US" sz="21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possible keys. Doubling the length squares the space, making brute-force exponentially harder.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422687" y="3182198"/>
            <a:ext cx="3900316" cy="1672047"/>
            <a:chOff x="0" y="0"/>
            <a:chExt cx="5200421" cy="222939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00396" cy="2229358"/>
            </a:xfrm>
            <a:custGeom>
              <a:avLst/>
              <a:gdLst/>
              <a:ahLst/>
              <a:cxnLst/>
              <a:rect r="r" b="b" t="t" l="l"/>
              <a:pathLst>
                <a:path h="2229358" w="5200396">
                  <a:moveTo>
                    <a:pt x="0" y="152273"/>
                  </a:moveTo>
                  <a:cubicBezTo>
                    <a:pt x="0" y="68199"/>
                    <a:pt x="68199" y="0"/>
                    <a:pt x="152273" y="0"/>
                  </a:cubicBezTo>
                  <a:lnTo>
                    <a:pt x="5048123" y="0"/>
                  </a:lnTo>
                  <a:cubicBezTo>
                    <a:pt x="5132197" y="0"/>
                    <a:pt x="5200396" y="68199"/>
                    <a:pt x="5200396" y="152273"/>
                  </a:cubicBezTo>
                  <a:lnTo>
                    <a:pt x="5200396" y="2077085"/>
                  </a:lnTo>
                  <a:cubicBezTo>
                    <a:pt x="5200396" y="2161159"/>
                    <a:pt x="5132197" y="2229358"/>
                    <a:pt x="5048123" y="2229358"/>
                  </a:cubicBezTo>
                  <a:lnTo>
                    <a:pt x="152273" y="2229358"/>
                  </a:lnTo>
                  <a:cubicBezTo>
                    <a:pt x="68199" y="2229358"/>
                    <a:pt x="0" y="2161159"/>
                    <a:pt x="0" y="2077085"/>
                  </a:cubicBezTo>
                  <a:close/>
                </a:path>
              </a:pathLst>
            </a:custGeom>
            <a:solidFill>
              <a:srgbClr val="D6F5EE"/>
            </a:solidFill>
            <a:ln w="9532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3707313" y="3438258"/>
            <a:ext cx="3331064" cy="451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S = 10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707313" y="4080386"/>
            <a:ext cx="3331064" cy="489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Decimal digits (0–9)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3422687" y="5102390"/>
            <a:ext cx="3900316" cy="1672047"/>
            <a:chOff x="0" y="0"/>
            <a:chExt cx="5200421" cy="222939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00396" cy="2229358"/>
            </a:xfrm>
            <a:custGeom>
              <a:avLst/>
              <a:gdLst/>
              <a:ahLst/>
              <a:cxnLst/>
              <a:rect r="r" b="b" t="t" l="l"/>
              <a:pathLst>
                <a:path h="2229358" w="5200396">
                  <a:moveTo>
                    <a:pt x="0" y="152273"/>
                  </a:moveTo>
                  <a:cubicBezTo>
                    <a:pt x="0" y="68199"/>
                    <a:pt x="68199" y="0"/>
                    <a:pt x="152273" y="0"/>
                  </a:cubicBezTo>
                  <a:lnTo>
                    <a:pt x="5048123" y="0"/>
                  </a:lnTo>
                  <a:cubicBezTo>
                    <a:pt x="5132197" y="0"/>
                    <a:pt x="5200396" y="68199"/>
                    <a:pt x="5200396" y="152273"/>
                  </a:cubicBezTo>
                  <a:lnTo>
                    <a:pt x="5200396" y="2077085"/>
                  </a:lnTo>
                  <a:cubicBezTo>
                    <a:pt x="5200396" y="2161159"/>
                    <a:pt x="5132197" y="2229358"/>
                    <a:pt x="5048123" y="2229358"/>
                  </a:cubicBezTo>
                  <a:lnTo>
                    <a:pt x="152273" y="2229358"/>
                  </a:lnTo>
                  <a:cubicBezTo>
                    <a:pt x="68199" y="2229358"/>
                    <a:pt x="0" y="2161159"/>
                    <a:pt x="0" y="2077085"/>
                  </a:cubicBezTo>
                  <a:close/>
                </a:path>
              </a:pathLst>
            </a:custGeom>
            <a:solidFill>
              <a:srgbClr val="D6F5EE"/>
            </a:solidFill>
            <a:ln w="9532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3707313" y="5358451"/>
            <a:ext cx="3331064" cy="451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L = 8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707313" y="6000579"/>
            <a:ext cx="3331064" cy="489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Key length (positions)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3422687" y="7022582"/>
            <a:ext cx="3900316" cy="1672047"/>
            <a:chOff x="0" y="0"/>
            <a:chExt cx="5200421" cy="22293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00396" cy="2229358"/>
            </a:xfrm>
            <a:custGeom>
              <a:avLst/>
              <a:gdLst/>
              <a:ahLst/>
              <a:cxnLst/>
              <a:rect r="r" b="b" t="t" l="l"/>
              <a:pathLst>
                <a:path h="2229358" w="5200396">
                  <a:moveTo>
                    <a:pt x="0" y="152273"/>
                  </a:moveTo>
                  <a:cubicBezTo>
                    <a:pt x="0" y="68199"/>
                    <a:pt x="68199" y="0"/>
                    <a:pt x="152273" y="0"/>
                  </a:cubicBezTo>
                  <a:lnTo>
                    <a:pt x="5048123" y="0"/>
                  </a:lnTo>
                  <a:cubicBezTo>
                    <a:pt x="5132197" y="0"/>
                    <a:pt x="5200396" y="68199"/>
                    <a:pt x="5200396" y="152273"/>
                  </a:cubicBezTo>
                  <a:lnTo>
                    <a:pt x="5200396" y="2077085"/>
                  </a:lnTo>
                  <a:cubicBezTo>
                    <a:pt x="5200396" y="2161159"/>
                    <a:pt x="5132197" y="2229358"/>
                    <a:pt x="5048123" y="2229358"/>
                  </a:cubicBezTo>
                  <a:lnTo>
                    <a:pt x="152273" y="2229358"/>
                  </a:lnTo>
                  <a:cubicBezTo>
                    <a:pt x="68199" y="2229358"/>
                    <a:pt x="0" y="2161159"/>
                    <a:pt x="0" y="2077085"/>
                  </a:cubicBezTo>
                  <a:close/>
                </a:path>
              </a:pathLst>
            </a:custGeom>
            <a:solidFill>
              <a:srgbClr val="D6F5EE"/>
            </a:solidFill>
            <a:ln w="9532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3707313" y="7278643"/>
            <a:ext cx="3331064" cy="451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10⁸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707313" y="7920771"/>
            <a:ext cx="3331064" cy="489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= 100 Million keys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45950"/>
            <a:ext cx="16315868" cy="865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9"/>
              </a:lnSpc>
            </a:pPr>
            <a:r>
              <a:rPr lang="en-US" sz="5103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Counting Structures Inside the Lock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991" y="3515839"/>
            <a:ext cx="7838904" cy="4442117"/>
            <a:chOff x="0" y="0"/>
            <a:chExt cx="10451871" cy="5922823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0451846" cy="5922772"/>
            </a:xfrm>
            <a:custGeom>
              <a:avLst/>
              <a:gdLst/>
              <a:ahLst/>
              <a:cxnLst/>
              <a:rect r="r" b="b" t="t" l="l"/>
              <a:pathLst>
                <a:path h="5922772" w="10451846">
                  <a:moveTo>
                    <a:pt x="0" y="0"/>
                  </a:moveTo>
                  <a:lnTo>
                    <a:pt x="10451846" y="0"/>
                  </a:lnTo>
                  <a:lnTo>
                    <a:pt x="10451846" y="5922772"/>
                  </a:lnTo>
                  <a:lnTo>
                    <a:pt x="0" y="59227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6aaca523af944df0"/>
              <a:stretch>
                <a:fillRect l="-40" t="0" r="-40" b="0"/>
              </a:stretch>
            </a:blipFill>
          </p:spPr>
        </p:sp>
      </p:grpSp>
      <p:sp>
        <p:nvSpPr>
          <p:cNvPr name="Freeform 9" id="9" descr="preencoded.png"/>
          <p:cNvSpPr/>
          <p:nvPr/>
        </p:nvSpPr>
        <p:spPr>
          <a:xfrm flipH="false" flipV="false" rot="0">
            <a:off x="9479480" y="2243852"/>
            <a:ext cx="7838904" cy="2033988"/>
          </a:xfrm>
          <a:custGeom>
            <a:avLst/>
            <a:gdLst/>
            <a:ahLst/>
            <a:cxnLst/>
            <a:rect r="r" b="b" t="t" l="l"/>
            <a:pathLst>
              <a:path h="2033988" w="7838904">
                <a:moveTo>
                  <a:pt x="0" y="0"/>
                </a:moveTo>
                <a:lnTo>
                  <a:pt x="7838904" y="0"/>
                </a:lnTo>
                <a:lnTo>
                  <a:pt x="7838904" y="2033987"/>
                </a:lnTo>
                <a:lnTo>
                  <a:pt x="0" y="2033987"/>
                </a:lnTo>
                <a:lnTo>
                  <a:pt x="0" y="0"/>
                </a:lnTo>
                <a:close/>
              </a:path>
            </a:pathLst>
          </a:custGeom>
          <a:blipFill>
            <a:blip r:embed="R4faf859be73b4f88">
              <a:extLst>
                <a:ext uri="{96DAC541-7B7A-43D3-8B79-37D633B846F1}">
                  <asvg:svgBlip xmlns:asvg="http://schemas.microsoft.com/office/drawing/2016/SVG/main" r:embed="R93dd4622e5a140b4"/>
                </a:ext>
              </a:extLst>
            </a:blip>
            <a:stretch>
              <a:fillRect l="0" t="-106" r="0" b="-105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884007" y="2514943"/>
            <a:ext cx="7144245" cy="427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Permutations P(n, r)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84007" y="3107493"/>
            <a:ext cx="7144245" cy="880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0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Order-sensitive selection — crucial for PIN sequences and ordered credentials. P(n,r) = n! / (n−r)!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9479480" y="4518974"/>
            <a:ext cx="7838904" cy="2033988"/>
          </a:xfrm>
          <a:custGeom>
            <a:avLst/>
            <a:gdLst/>
            <a:ahLst/>
            <a:cxnLst/>
            <a:rect r="r" b="b" t="t" l="l"/>
            <a:pathLst>
              <a:path h="2033988" w="7838904">
                <a:moveTo>
                  <a:pt x="0" y="0"/>
                </a:moveTo>
                <a:lnTo>
                  <a:pt x="7838904" y="0"/>
                </a:lnTo>
                <a:lnTo>
                  <a:pt x="7838904" y="2033988"/>
                </a:lnTo>
                <a:lnTo>
                  <a:pt x="0" y="2033988"/>
                </a:lnTo>
                <a:lnTo>
                  <a:pt x="0" y="0"/>
                </a:lnTo>
                <a:close/>
              </a:path>
            </a:pathLst>
          </a:custGeom>
          <a:blipFill>
            <a:blip r:embed="R4faf859be73b4f88">
              <a:extLst>
                <a:ext uri="{96DAC541-7B7A-43D3-8B79-37D633B846F1}">
                  <asvg:svgBlip xmlns:asvg="http://schemas.microsoft.com/office/drawing/2016/SVG/main" r:embed="R93dd4622e5a140b4"/>
                </a:ext>
              </a:extLst>
            </a:blip>
            <a:stretch>
              <a:fillRect l="0" t="-106" r="0" b="-105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884007" y="4790065"/>
            <a:ext cx="7144245" cy="427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Combinations C(n, r)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84007" y="5382616"/>
            <a:ext cx="7144245" cy="880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0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Order-independent groupings — models key-token sets and unordered access codes. C(n,r) = n! / r!(n−r)!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9479480" y="6794106"/>
            <a:ext cx="7838904" cy="2435990"/>
          </a:xfrm>
          <a:custGeom>
            <a:avLst/>
            <a:gdLst/>
            <a:ahLst/>
            <a:cxnLst/>
            <a:rect r="r" b="b" t="t" l="l"/>
            <a:pathLst>
              <a:path h="2435990" w="7838904">
                <a:moveTo>
                  <a:pt x="0" y="0"/>
                </a:moveTo>
                <a:lnTo>
                  <a:pt x="7838904" y="0"/>
                </a:lnTo>
                <a:lnTo>
                  <a:pt x="7838904" y="2435990"/>
                </a:lnTo>
                <a:lnTo>
                  <a:pt x="0" y="2435990"/>
                </a:lnTo>
                <a:lnTo>
                  <a:pt x="0" y="0"/>
                </a:lnTo>
                <a:close/>
              </a:path>
            </a:pathLst>
          </a:custGeom>
          <a:blipFill>
            <a:blip r:embed="Rc2a5e81db05642b2">
              <a:extLst>
                <a:ext uri="{96DAC541-7B7A-43D3-8B79-37D633B846F1}">
                  <asvg:svgBlip xmlns:asvg="http://schemas.microsoft.com/office/drawing/2016/SVG/main" r:embed="R468792411ce149a7"/>
                </a:ext>
              </a:extLst>
            </a:blip>
            <a:stretch>
              <a:fillRect l="0" t="-48" r="0" b="-48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884007" y="7065197"/>
            <a:ext cx="7144245" cy="427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Inclusion-Exclusion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84007" y="7657748"/>
            <a:ext cx="7144245" cy="1282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0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Avoids double-counting overlapping credential categories: |A∪B| = |A| + |B| − |A∩B|. Gives the exact size of mixed-rule key spaces.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63191" cy="10295039"/>
            <a:chOff x="0" y="0"/>
            <a:chExt cx="9150922" cy="13726719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3b319c60ca424047"/>
              <a:stretch>
                <a:fillRect l="-1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6182" y="776192"/>
            <a:ext cx="9452677" cy="1719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3"/>
              </a:lnSpc>
            </a:pPr>
            <a:r>
              <a:rPr lang="en-US" sz="5179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Pigeonhole &amp; Birthday Collision Reasoning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6182" y="3100149"/>
            <a:ext cx="4401941" cy="434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 b="true">
                <a:solidFill>
                  <a:srgbClr val="26A688"/>
                </a:solidFill>
                <a:latin typeface="Arimo Bold"/>
                <a:ea typeface="Arimo Bold"/>
                <a:cs typeface="Arimo Bold"/>
                <a:sym typeface="Arimo Bold"/>
              </a:rPr>
              <a:t>Pigeonhole Principle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56182" y="3708035"/>
            <a:ext cx="4401941" cy="2549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7"/>
              </a:lnSpc>
            </a:pPr>
            <a:r>
              <a:rPr lang="en-US" sz="20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If more inputs exist than possible outputs, </a:t>
            </a:r>
            <a:r>
              <a:rPr lang="en-US" sz="2026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 collision is guaranteed</a:t>
            </a:r>
            <a:r>
              <a:rPr lang="en-US" sz="20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. Formally: mapping n+1 items into n slots forces at least one shared slot — a mathematical certainty, not a probability.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856182" y="6538370"/>
            <a:ext cx="4401941" cy="2642873"/>
            <a:chOff x="0" y="0"/>
            <a:chExt cx="5869254" cy="35238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869305" cy="3523869"/>
            </a:xfrm>
            <a:custGeom>
              <a:avLst/>
              <a:gdLst/>
              <a:ahLst/>
              <a:cxnLst/>
              <a:rect r="r" b="b" t="t" l="l"/>
              <a:pathLst>
                <a:path h="3523869" w="5869305">
                  <a:moveTo>
                    <a:pt x="0" y="148971"/>
                  </a:moveTo>
                  <a:cubicBezTo>
                    <a:pt x="0" y="66675"/>
                    <a:pt x="66675" y="0"/>
                    <a:pt x="148971" y="0"/>
                  </a:cubicBezTo>
                  <a:lnTo>
                    <a:pt x="5720334" y="0"/>
                  </a:lnTo>
                  <a:cubicBezTo>
                    <a:pt x="5802630" y="0"/>
                    <a:pt x="5869305" y="66675"/>
                    <a:pt x="5869305" y="148971"/>
                  </a:cubicBezTo>
                  <a:lnTo>
                    <a:pt x="5869305" y="3374898"/>
                  </a:lnTo>
                  <a:cubicBezTo>
                    <a:pt x="5869305" y="3457194"/>
                    <a:pt x="5802630" y="3523869"/>
                    <a:pt x="5720334" y="3523869"/>
                  </a:cubicBezTo>
                  <a:lnTo>
                    <a:pt x="148971" y="3523869"/>
                  </a:lnTo>
                  <a:cubicBezTo>
                    <a:pt x="66675" y="3523869"/>
                    <a:pt x="0" y="3457194"/>
                    <a:pt x="0" y="3374898"/>
                  </a:cubicBez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122187" y="6926370"/>
            <a:ext cx="332432" cy="266014"/>
            <a:chOff x="0" y="0"/>
            <a:chExt cx="443243" cy="354686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443230" cy="354711"/>
            </a:xfrm>
            <a:custGeom>
              <a:avLst/>
              <a:gdLst/>
              <a:ahLst/>
              <a:cxnLst/>
              <a:rect r="r" b="b" t="t" l="l"/>
              <a:pathLst>
                <a:path h="354711" w="443230">
                  <a:moveTo>
                    <a:pt x="0" y="0"/>
                  </a:moveTo>
                  <a:lnTo>
                    <a:pt x="443230" y="0"/>
                  </a:lnTo>
                  <a:lnTo>
                    <a:pt x="443230" y="354711"/>
                  </a:lnTo>
                  <a:lnTo>
                    <a:pt x="0" y="354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0b998683504546a9"/>
              <a:stretch>
                <a:fillRect l="-11" t="0" r="-17" b="7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8720633" y="6752901"/>
            <a:ext cx="3271485" cy="2137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7"/>
              </a:lnSpc>
            </a:pPr>
            <a:r>
              <a:rPr lang="en-US" sz="202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This is mathematical collision reasoning — not a claim that breaking a secure hash is computationally easy.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916443" y="3100149"/>
            <a:ext cx="4401941" cy="850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 b="true">
                <a:solidFill>
                  <a:srgbClr val="26A688"/>
                </a:solidFill>
                <a:latin typeface="Arimo Bold"/>
                <a:ea typeface="Arimo Bold"/>
                <a:cs typeface="Arimo Bold"/>
                <a:sym typeface="Arimo Bold"/>
              </a:rPr>
              <a:t>Birthday Collision Probability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16443" y="4123734"/>
            <a:ext cx="4401941" cy="3374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7"/>
              </a:lnSpc>
            </a:pPr>
            <a:r>
              <a:rPr lang="en-US" sz="20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Among </a:t>
            </a:r>
            <a:r>
              <a:rPr lang="en-US" sz="2026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</a:t>
            </a:r>
            <a:r>
              <a:rPr lang="en-US" sz="20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users/hashes, there are </a:t>
            </a:r>
            <a:r>
              <a:rPr lang="en-US" sz="2026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C(n, 2) = n(n−1)/2</a:t>
            </a:r>
            <a:r>
              <a:rPr lang="en-US" sz="20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distinct pairs — each a potential collision candidate. Even a modest group of ~1,000 users produces nearly </a:t>
            </a:r>
            <a:r>
              <a:rPr lang="en-US" sz="2026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500,000 collision pairs</a:t>
            </a:r>
            <a:r>
              <a:rPr lang="en-US" sz="20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, showing why large key spaces matter enormously for security margin.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cId418c2bfb9e9c4a9f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62a90f9288a84b07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abf68fc43db74607"/>
              <a:stretch>
                <a:fillRect l="-1" t="0" r="-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991" y="774106"/>
            <a:ext cx="9452677" cy="865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69"/>
              </a:lnSpc>
            </a:pPr>
            <a:r>
              <a:rPr lang="en-US" sz="5103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Thank You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991" y="1924574"/>
            <a:ext cx="9452677" cy="2332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05"/>
              </a:lnSpc>
            </a:pPr>
            <a:r>
              <a:rPr lang="en-US" sz="7055" b="true">
                <a:solidFill>
                  <a:srgbClr val="26A688"/>
                </a:solidFill>
                <a:latin typeface="Arimo Bold"/>
                <a:ea typeface="Arimo Bold"/>
                <a:cs typeface="Arimo Bold"/>
                <a:sym typeface="Arimo Bold"/>
              </a:rPr>
              <a:t>Lock 3 Complete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991" y="4542120"/>
            <a:ext cx="9452677" cy="1684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2"/>
              </a:lnSpc>
            </a:pPr>
            <a:r>
              <a:rPr lang="en-US" sz="20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The </a:t>
            </a:r>
            <a:r>
              <a:rPr lang="en-US" sz="2026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Key-Space &amp; Collision-Analysis Lock</a:t>
            </a:r>
            <a:r>
              <a:rPr lang="en-US" sz="20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uses the Product Rule, Permutations, Combinations, Inclusion-Exclusion, the Pigeonhole Principle, and Birthday Counting to </a:t>
            </a:r>
            <a:r>
              <a:rPr lang="en-US" sz="2026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measure</a:t>
            </a:r>
            <a:r>
              <a:rPr lang="en-US" sz="20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— not break — the mathematical strength of any authentication credential space.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88219" y="6492792"/>
            <a:ext cx="9462211" cy="2985145"/>
            <a:chOff x="0" y="0"/>
            <a:chExt cx="12616282" cy="39801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616307" cy="3980180"/>
            </a:xfrm>
            <a:custGeom>
              <a:avLst/>
              <a:gdLst/>
              <a:ahLst/>
              <a:cxnLst/>
              <a:rect r="r" b="b" t="t" l="l"/>
              <a:pathLst>
                <a:path h="3980180" w="12616307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12469368" y="0"/>
                  </a:lnTo>
                  <a:cubicBezTo>
                    <a:pt x="12550522" y="0"/>
                    <a:pt x="12616307" y="65786"/>
                    <a:pt x="12616307" y="146939"/>
                  </a:cubicBezTo>
                  <a:lnTo>
                    <a:pt x="12616307" y="3833241"/>
                  </a:lnTo>
                  <a:cubicBezTo>
                    <a:pt x="12616307" y="3914394"/>
                    <a:pt x="12550522" y="3980180"/>
                    <a:pt x="12469368" y="3980180"/>
                  </a:cubicBezTo>
                  <a:lnTo>
                    <a:pt x="146939" y="3980180"/>
                  </a:lnTo>
                  <a:cubicBezTo>
                    <a:pt x="65786" y="3980180"/>
                    <a:pt x="0" y="3914394"/>
                    <a:pt x="0" y="3833241"/>
                  </a:cubicBezTo>
                  <a:close/>
                </a:path>
              </a:pathLst>
            </a:custGeom>
            <a:solidFill>
              <a:srgbClr val="D6F5EE"/>
            </a:solidFill>
            <a:ln w="9532" cap="sq">
              <a:solidFill>
                <a:srgbClr val="BCDBD4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002525" y="6507089"/>
            <a:ext cx="4716809" cy="1478270"/>
            <a:chOff x="0" y="0"/>
            <a:chExt cx="6289078" cy="197102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289040" cy="1971040"/>
            </a:xfrm>
            <a:custGeom>
              <a:avLst/>
              <a:gdLst/>
              <a:ahLst/>
              <a:cxnLst/>
              <a:rect r="r" b="b" t="t" l="l"/>
              <a:pathLst>
                <a:path h="1971040" w="6289040">
                  <a:moveTo>
                    <a:pt x="122047" y="0"/>
                  </a:moveTo>
                  <a:lnTo>
                    <a:pt x="6289040" y="0"/>
                  </a:lnTo>
                  <a:lnTo>
                    <a:pt x="6289040" y="1971040"/>
                  </a:lnTo>
                  <a:lnTo>
                    <a:pt x="0" y="1971040"/>
                  </a:lnTo>
                  <a:lnTo>
                    <a:pt x="0" y="122047"/>
                  </a:lnTo>
                  <a:cubicBezTo>
                    <a:pt x="0" y="54610"/>
                    <a:pt x="54610" y="0"/>
                    <a:pt x="122047" y="0"/>
                  </a:cubicBezTo>
                  <a:close/>
                </a:path>
              </a:pathLst>
            </a:custGeom>
            <a:solidFill>
              <a:srgbClr val="D6F5EE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64063" y="6749586"/>
            <a:ext cx="4193724" cy="427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Counting Tells 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64063" y="7245610"/>
            <a:ext cx="4193724" cy="478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0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How large the key space truly is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5719324" y="6507089"/>
            <a:ext cx="4716809" cy="1478270"/>
            <a:chOff x="0" y="0"/>
            <a:chExt cx="6289078" cy="197102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289040" cy="1971040"/>
            </a:xfrm>
            <a:custGeom>
              <a:avLst/>
              <a:gdLst/>
              <a:ahLst/>
              <a:cxnLst/>
              <a:rect r="r" b="b" t="t" l="l"/>
              <a:pathLst>
                <a:path h="1971040" w="6289040">
                  <a:moveTo>
                    <a:pt x="0" y="0"/>
                  </a:moveTo>
                  <a:lnTo>
                    <a:pt x="6166993" y="0"/>
                  </a:lnTo>
                  <a:cubicBezTo>
                    <a:pt x="6234430" y="0"/>
                    <a:pt x="6289040" y="54610"/>
                    <a:pt x="6289040" y="122047"/>
                  </a:cubicBezTo>
                  <a:lnTo>
                    <a:pt x="6289040" y="1971040"/>
                  </a:lnTo>
                  <a:lnTo>
                    <a:pt x="0" y="19710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719324" y="6507089"/>
            <a:ext cx="28594" cy="1478270"/>
            <a:chOff x="0" y="0"/>
            <a:chExt cx="38125" cy="197102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8100" cy="1971040"/>
            </a:xfrm>
            <a:custGeom>
              <a:avLst/>
              <a:gdLst/>
              <a:ahLst/>
              <a:cxnLst/>
              <a:rect r="r" b="b" t="t" l="l"/>
              <a:pathLst>
                <a:path h="1971040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951990"/>
                  </a:lnTo>
                  <a:cubicBezTo>
                    <a:pt x="38100" y="1962531"/>
                    <a:pt x="29591" y="1971040"/>
                    <a:pt x="19050" y="1971040"/>
                  </a:cubicBezTo>
                  <a:cubicBezTo>
                    <a:pt x="8509" y="1971040"/>
                    <a:pt x="0" y="1962531"/>
                    <a:pt x="0" y="1951990"/>
                  </a:cubicBezTo>
                  <a:close/>
                </a:path>
              </a:pathLst>
            </a:custGeom>
            <a:solidFill>
              <a:srgbClr val="BCDBD4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5980862" y="6749586"/>
            <a:ext cx="4193724" cy="427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Pigeonhole Tells Us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980862" y="7245610"/>
            <a:ext cx="4193724" cy="478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0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When collisions are inevitable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02525" y="7985360"/>
            <a:ext cx="9433608" cy="1478270"/>
            <a:chOff x="0" y="0"/>
            <a:chExt cx="12578144" cy="197102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578207" cy="1971040"/>
            </a:xfrm>
            <a:custGeom>
              <a:avLst/>
              <a:gdLst/>
              <a:ahLst/>
              <a:cxnLst/>
              <a:rect r="r" b="b" t="t" l="l"/>
              <a:pathLst>
                <a:path h="1971040" w="12578207">
                  <a:moveTo>
                    <a:pt x="0" y="0"/>
                  </a:moveTo>
                  <a:lnTo>
                    <a:pt x="12578207" y="0"/>
                  </a:lnTo>
                  <a:lnTo>
                    <a:pt x="12578207" y="1848993"/>
                  </a:lnTo>
                  <a:cubicBezTo>
                    <a:pt x="12578207" y="1916430"/>
                    <a:pt x="12523597" y="1971040"/>
                    <a:pt x="12456160" y="1971040"/>
                  </a:cubicBezTo>
                  <a:lnTo>
                    <a:pt x="122174" y="1971040"/>
                  </a:lnTo>
                  <a:cubicBezTo>
                    <a:pt x="54610" y="1971040"/>
                    <a:pt x="0" y="1916430"/>
                    <a:pt x="0" y="18489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02525" y="7985360"/>
            <a:ext cx="9433608" cy="28594"/>
            <a:chOff x="0" y="0"/>
            <a:chExt cx="12578144" cy="3812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578080" cy="38100"/>
            </a:xfrm>
            <a:custGeom>
              <a:avLst/>
              <a:gdLst/>
              <a:ahLst/>
              <a:cxnLst/>
              <a:rect r="r" b="b" t="t" l="l"/>
              <a:pathLst>
                <a:path h="38100" w="1257808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2559030" y="0"/>
                  </a:lnTo>
                  <a:cubicBezTo>
                    <a:pt x="12569572" y="0"/>
                    <a:pt x="12578080" y="8509"/>
                    <a:pt x="12578080" y="19050"/>
                  </a:cubicBezTo>
                  <a:cubicBezTo>
                    <a:pt x="12578080" y="29591"/>
                    <a:pt x="12569572" y="38100"/>
                    <a:pt x="1255903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BCDBD4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264063" y="8227857"/>
            <a:ext cx="8910533" cy="427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Birthday Tells Us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64063" y="8723890"/>
            <a:ext cx="8910533" cy="478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0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How many pairs are at risk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63191" cy="10295039"/>
            <a:chOff x="0" y="0"/>
            <a:chExt cx="9150922" cy="13726719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994eb88f2a4a4786"/>
              <a:stretch>
                <a:fillRect l="-1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6182" y="835323"/>
            <a:ext cx="9452677" cy="5377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A Mathematical Security Architecture for Authentication, Key Management, and Message Integrity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856182" y="6638011"/>
            <a:ext cx="1484043" cy="431044"/>
            <a:chOff x="0" y="0"/>
            <a:chExt cx="1978724" cy="57472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78787" cy="574675"/>
            </a:xfrm>
            <a:custGeom>
              <a:avLst/>
              <a:gdLst/>
              <a:ahLst/>
              <a:cxnLst/>
              <a:rect r="r" b="b" t="t" l="l"/>
              <a:pathLst>
                <a:path h="574675" w="1978787">
                  <a:moveTo>
                    <a:pt x="0" y="127127"/>
                  </a:moveTo>
                  <a:cubicBezTo>
                    <a:pt x="0" y="56896"/>
                    <a:pt x="56896" y="0"/>
                    <a:pt x="127127" y="0"/>
                  </a:cubicBezTo>
                  <a:lnTo>
                    <a:pt x="1851660" y="0"/>
                  </a:lnTo>
                  <a:cubicBezTo>
                    <a:pt x="1921891" y="0"/>
                    <a:pt x="1978787" y="56896"/>
                    <a:pt x="1978787" y="127127"/>
                  </a:cubicBezTo>
                  <a:lnTo>
                    <a:pt x="1978787" y="447548"/>
                  </a:lnTo>
                  <a:cubicBezTo>
                    <a:pt x="1978787" y="517779"/>
                    <a:pt x="1921891" y="574675"/>
                    <a:pt x="1851660" y="574675"/>
                  </a:cubicBezTo>
                  <a:lnTo>
                    <a:pt x="127127" y="574675"/>
                  </a:lnTo>
                  <a:cubicBezTo>
                    <a:pt x="56896" y="574675"/>
                    <a:pt x="0" y="517779"/>
                    <a:pt x="0" y="447548"/>
                  </a:cubicBezTo>
                  <a:close/>
                </a:path>
              </a:pathLst>
            </a:custGeom>
            <a:solidFill>
              <a:srgbClr val="D6F5EE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026422" y="6742109"/>
            <a:ext cx="2058657" cy="241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sz="17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MODULE 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56182" y="7153980"/>
            <a:ext cx="9452677" cy="915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26A688"/>
                </a:solidFill>
                <a:latin typeface="Arimo Bold"/>
                <a:ea typeface="Arimo Bold"/>
                <a:cs typeface="Arimo Bold"/>
                <a:sym typeface="Arimo Bold"/>
              </a:rPr>
              <a:t>The Cryptographic Key Lock</a:t>
            </a:r>
            <a:r>
              <a:rPr lang="en-US" sz="277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 — Number Theory &amp; Its Cryptographic Foundations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56182" y="8418405"/>
            <a:ext cx="9452677" cy="98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Establishing the number-theoretic machinery behind secure key operations, RSA, and Diffie-Hellman key exchange.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63191" cy="10295039"/>
            <a:chOff x="0" y="0"/>
            <a:chExt cx="9150922" cy="13726719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cfd248e03dcb4364"/>
              <a:stretch>
                <a:fillRect l="-1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6182" y="739102"/>
            <a:ext cx="9452677" cy="1543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7"/>
              </a:lnSpc>
            </a:pPr>
            <a:r>
              <a:rPr lang="en-US" sz="4653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Module 4: The Cryptographic Key Lock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6182" y="2538346"/>
            <a:ext cx="9452677" cy="753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Number theory transforms abstract security requirements into concrete, computable key operations. The chain of reasoning is precise and irreversible.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856182" y="3519106"/>
            <a:ext cx="1197035" cy="1436418"/>
            <a:chOff x="0" y="0"/>
            <a:chExt cx="1596047" cy="1915224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596009" cy="1915287"/>
            </a:xfrm>
            <a:custGeom>
              <a:avLst/>
              <a:gdLst/>
              <a:ahLst/>
              <a:cxnLst/>
              <a:rect r="r" b="b" t="t" l="l"/>
              <a:pathLst>
                <a:path h="1915287" w="1596009">
                  <a:moveTo>
                    <a:pt x="0" y="0"/>
                  </a:moveTo>
                  <a:lnTo>
                    <a:pt x="1596009" y="0"/>
                  </a:lnTo>
                  <a:lnTo>
                    <a:pt x="1596009" y="1915287"/>
                  </a:lnTo>
                  <a:lnTo>
                    <a:pt x="0" y="19152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bdc84f36b5054f9a"/>
              <a:stretch>
                <a:fillRect l="-65" t="0" r="-68" b="3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255176" y="3729895"/>
            <a:ext cx="8053673" cy="402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Primes &amp; Divisibility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55176" y="4205935"/>
            <a:ext cx="8053673" cy="400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Foundation: GCD, Euclidean algorithm, FTA, infinitude of primes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856182" y="4955534"/>
            <a:ext cx="1197035" cy="1436418"/>
            <a:chOff x="0" y="0"/>
            <a:chExt cx="1596047" cy="1915224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596009" cy="1915287"/>
            </a:xfrm>
            <a:custGeom>
              <a:avLst/>
              <a:gdLst/>
              <a:ahLst/>
              <a:cxnLst/>
              <a:rect r="r" b="b" t="t" l="l"/>
              <a:pathLst>
                <a:path h="1915287" w="1596009">
                  <a:moveTo>
                    <a:pt x="0" y="0"/>
                  </a:moveTo>
                  <a:lnTo>
                    <a:pt x="1596009" y="0"/>
                  </a:lnTo>
                  <a:lnTo>
                    <a:pt x="1596009" y="1915287"/>
                  </a:lnTo>
                  <a:lnTo>
                    <a:pt x="0" y="19152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49e6b3561b754e56"/>
              <a:stretch>
                <a:fillRect l="-65" t="0" r="-68" b="3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255176" y="5166312"/>
            <a:ext cx="8053673" cy="402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Modular Arithmetic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255176" y="5642353"/>
            <a:ext cx="8053673" cy="400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Congruences in </a:t>
            </a:r>
            <a:r>
              <a:rPr lang="en-US" sz="1876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Zn</a:t>
            </a:r>
            <a:r>
              <a:rPr lang="en-US" sz="18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, modular inverses, CRT, linear congruences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856182" y="6391951"/>
            <a:ext cx="1197035" cy="1679800"/>
            <a:chOff x="0" y="0"/>
            <a:chExt cx="1596047" cy="2239734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1596009" cy="2239772"/>
            </a:xfrm>
            <a:custGeom>
              <a:avLst/>
              <a:gdLst/>
              <a:ahLst/>
              <a:cxnLst/>
              <a:rect r="r" b="b" t="t" l="l"/>
              <a:pathLst>
                <a:path h="2239772" w="1596009">
                  <a:moveTo>
                    <a:pt x="0" y="0"/>
                  </a:moveTo>
                  <a:lnTo>
                    <a:pt x="1596009" y="0"/>
                  </a:lnTo>
                  <a:lnTo>
                    <a:pt x="1596009" y="2239772"/>
                  </a:lnTo>
                  <a:lnTo>
                    <a:pt x="0" y="22397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ba943afb392b497a"/>
              <a:stretch>
                <a:fillRect l="0" t="-52" r="-2" b="-5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255176" y="6602730"/>
            <a:ext cx="8053673" cy="402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Euler &amp; Fermat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255176" y="7078770"/>
            <a:ext cx="8053673" cy="753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Euler totient φ(n), Fermat's Little Theorem, Euler's theorem underpins RSA correctness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856182" y="8071752"/>
            <a:ext cx="1197035" cy="1436418"/>
            <a:chOff x="0" y="0"/>
            <a:chExt cx="1596047" cy="1915224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1596009" cy="1915287"/>
            </a:xfrm>
            <a:custGeom>
              <a:avLst/>
              <a:gdLst/>
              <a:ahLst/>
              <a:cxnLst/>
              <a:rect r="r" b="b" t="t" l="l"/>
              <a:pathLst>
                <a:path h="1915287" w="1596009">
                  <a:moveTo>
                    <a:pt x="0" y="0"/>
                  </a:moveTo>
                  <a:lnTo>
                    <a:pt x="1596009" y="0"/>
                  </a:lnTo>
                  <a:lnTo>
                    <a:pt x="1596009" y="1915287"/>
                  </a:lnTo>
                  <a:lnTo>
                    <a:pt x="0" y="19152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710298b45e684d85"/>
              <a:stretch>
                <a:fillRect l="-65" t="0" r="-68" b="3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255176" y="8282530"/>
            <a:ext cx="8053673" cy="402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Key Operations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255176" y="8758571"/>
            <a:ext cx="8053673" cy="400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RSA public-key cryptography and Diffie-Hellman key exchange</a:t>
            </a:r>
          </a:p>
        </p:txBody>
      </p:sp>
    </p:spTree>
  </p:cSld>
  <p:clrMapOvr>
    <a:masterClrMapping/>
  </p:clrMapOvr>
  <p:transition spd="slow">
    <p:push dir="u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970712"/>
            <a:ext cx="16315868" cy="1516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4"/>
              </a:lnSpc>
            </a:pPr>
            <a:r>
              <a:rPr lang="en-US" sz="4578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RSA: From Number Theory to Secure Key Operations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992991" y="2997508"/>
            <a:ext cx="8715718" cy="2119484"/>
          </a:xfrm>
          <a:custGeom>
            <a:avLst/>
            <a:gdLst/>
            <a:ahLst/>
            <a:cxnLst/>
            <a:rect r="r" b="b" t="t" l="l"/>
            <a:pathLst>
              <a:path h="2119484" w="8715718">
                <a:moveTo>
                  <a:pt x="0" y="0"/>
                </a:moveTo>
                <a:lnTo>
                  <a:pt x="8715718" y="0"/>
                </a:lnTo>
                <a:lnTo>
                  <a:pt x="8715718" y="2119484"/>
                </a:lnTo>
                <a:lnTo>
                  <a:pt x="0" y="2119484"/>
                </a:lnTo>
                <a:lnTo>
                  <a:pt x="0" y="0"/>
                </a:lnTo>
                <a:close/>
              </a:path>
            </a:pathLst>
          </a:custGeom>
          <a:blipFill>
            <a:blip r:embed="R0d3992775f3c4edf">
              <a:extLst>
                <a:ext uri="{96DAC541-7B7A-43D3-8B79-37D633B846F1}">
                  <asvg:svgBlip xmlns:asvg="http://schemas.microsoft.com/office/drawing/2016/SVG/main" r:embed="R40a0c568f4254fc5"/>
                </a:ext>
              </a:extLst>
            </a:blip>
            <a:stretch>
              <a:fillRect l="0" t="-279" r="0" b="-279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70848" y="3232414"/>
            <a:ext cx="8074381" cy="395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5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① Key Generation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70848" y="3784559"/>
            <a:ext cx="8074381" cy="1068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7"/>
              </a:lnSpc>
            </a:pPr>
            <a:r>
              <a:rPr lang="en-US" sz="18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Choose large primes </a:t>
            </a:r>
            <a:r>
              <a:rPr lang="en-US" sz="1801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p, q</a:t>
            </a:r>
            <a:r>
              <a:rPr lang="en-US" sz="18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. Compute </a:t>
            </a:r>
            <a:r>
              <a:rPr lang="en-US" sz="1801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 = pq</a:t>
            </a:r>
            <a:r>
              <a:rPr lang="en-US" sz="18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and </a:t>
            </a:r>
            <a:r>
              <a:rPr lang="en-US" sz="1801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φ(n) = (p−1)(q−1)</a:t>
            </a:r>
            <a:r>
              <a:rPr lang="en-US" sz="18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. Select </a:t>
            </a:r>
            <a:r>
              <a:rPr lang="en-US" sz="1801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</a:t>
            </a:r>
            <a:r>
              <a:rPr lang="en-US" sz="18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with </a:t>
            </a:r>
            <a:r>
              <a:rPr lang="en-US" sz="1801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gcd(e, φ(n)) = 1</a:t>
            </a:r>
            <a:r>
              <a:rPr lang="en-US" sz="18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. Find </a:t>
            </a:r>
            <a:r>
              <a:rPr lang="en-US" sz="1801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</a:t>
            </a:r>
            <a:r>
              <a:rPr lang="en-US" sz="18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such that </a:t>
            </a:r>
            <a:r>
              <a:rPr lang="en-US" sz="1801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ed ≡ 1 (mod φ(n))</a:t>
            </a:r>
            <a:r>
              <a:rPr lang="en-US" sz="18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via extended Euclidean algorithm. CRT can accelerate private-key operations.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992991" y="5311511"/>
            <a:ext cx="8715718" cy="1775870"/>
          </a:xfrm>
          <a:custGeom>
            <a:avLst/>
            <a:gdLst/>
            <a:ahLst/>
            <a:cxnLst/>
            <a:rect r="r" b="b" t="t" l="l"/>
            <a:pathLst>
              <a:path h="1775870" w="8715718">
                <a:moveTo>
                  <a:pt x="0" y="0"/>
                </a:moveTo>
                <a:lnTo>
                  <a:pt x="8715718" y="0"/>
                </a:lnTo>
                <a:lnTo>
                  <a:pt x="8715718" y="1775870"/>
                </a:lnTo>
                <a:lnTo>
                  <a:pt x="0" y="1775870"/>
                </a:lnTo>
                <a:lnTo>
                  <a:pt x="0" y="0"/>
                </a:lnTo>
                <a:close/>
              </a:path>
            </a:pathLst>
          </a:custGeom>
          <a:blipFill>
            <a:blip r:embed="Rb087c60deb334844">
              <a:extLst>
                <a:ext uri="{96DAC541-7B7A-43D3-8B79-37D633B846F1}">
                  <asvg:svgBlip xmlns:asvg="http://schemas.microsoft.com/office/drawing/2016/SVG/main" r:embed="Ree8271e170a44560"/>
                </a:ext>
              </a:extLst>
            </a:blip>
            <a:stretch>
              <a:fillRect l="0" t="-364" r="0" b="-364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70848" y="5546417"/>
            <a:ext cx="8074381" cy="395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5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② Encrypt &amp; Decrypt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70848" y="6098562"/>
            <a:ext cx="8074381" cy="72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7"/>
              </a:lnSpc>
            </a:pPr>
            <a:r>
              <a:rPr lang="en-US" sz="1801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Encryption:</a:t>
            </a:r>
            <a:r>
              <a:rPr lang="en-US" sz="18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1">
                <a:solidFill>
                  <a:srgbClr val="26A688"/>
                </a:solidFill>
                <a:latin typeface="Open Sans"/>
                <a:ea typeface="Open Sans"/>
                <a:cs typeface="Open Sans"/>
                <a:sym typeface="Open Sans"/>
              </a:rPr>
              <a:t>c ≡ me (mod n)</a:t>
            </a:r>
            <a:r>
              <a:rPr lang="en-US" sz="18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— using public key (e, n).</a:t>
            </a:r>
          </a:p>
          <a:p>
            <a:pPr algn="l">
              <a:lnSpc>
                <a:spcPts val="2637"/>
              </a:lnSpc>
            </a:pPr>
            <a:r>
              <a:rPr lang="en-US" sz="1801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Decryption:</a:t>
            </a:r>
            <a:r>
              <a:rPr lang="en-US" sz="18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801">
                <a:solidFill>
                  <a:srgbClr val="26A688"/>
                </a:solidFill>
                <a:latin typeface="Open Sans"/>
                <a:ea typeface="Open Sans"/>
                <a:cs typeface="Open Sans"/>
                <a:sym typeface="Open Sans"/>
              </a:rPr>
              <a:t>m ≡ cd (mod n)</a:t>
            </a:r>
            <a:r>
              <a:rPr lang="en-US" sz="18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— using private key d.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992991" y="7281901"/>
            <a:ext cx="8715718" cy="1775870"/>
          </a:xfrm>
          <a:custGeom>
            <a:avLst/>
            <a:gdLst/>
            <a:ahLst/>
            <a:cxnLst/>
            <a:rect r="r" b="b" t="t" l="l"/>
            <a:pathLst>
              <a:path h="1775870" w="8715718">
                <a:moveTo>
                  <a:pt x="0" y="0"/>
                </a:moveTo>
                <a:lnTo>
                  <a:pt x="8715718" y="0"/>
                </a:lnTo>
                <a:lnTo>
                  <a:pt x="8715718" y="1775869"/>
                </a:lnTo>
                <a:lnTo>
                  <a:pt x="0" y="1775869"/>
                </a:lnTo>
                <a:lnTo>
                  <a:pt x="0" y="0"/>
                </a:lnTo>
                <a:close/>
              </a:path>
            </a:pathLst>
          </a:custGeom>
          <a:blipFill>
            <a:blip r:embed="Rb087c60deb334844">
              <a:extLst>
                <a:ext uri="{96DAC541-7B7A-43D3-8B79-37D633B846F1}">
                  <asvg:svgBlip xmlns:asvg="http://schemas.microsoft.com/office/drawing/2016/SVG/main" r:embed="Ree8271e170a44560"/>
                </a:ext>
              </a:extLst>
            </a:blip>
            <a:stretch>
              <a:fillRect l="0" t="-364" r="0" b="-364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70848" y="7516806"/>
            <a:ext cx="8074381" cy="395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5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③ Correctness via Euler's Theorem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0848" y="8068951"/>
            <a:ext cx="8074381" cy="72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7"/>
              </a:lnSpc>
            </a:pPr>
            <a:r>
              <a:rPr lang="en-US" sz="18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Since </a:t>
            </a:r>
            <a:r>
              <a:rPr lang="en-US" sz="1801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ed ≡ 1 (mod φ(n))</a:t>
            </a:r>
            <a:r>
              <a:rPr lang="en-US" sz="18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, Euler's theorem guarantees </a:t>
            </a:r>
            <a:r>
              <a:rPr lang="en-US" sz="1801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med ≡ m (mod n)</a:t>
            </a:r>
            <a:r>
              <a:rPr lang="en-US" sz="18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, confirming decryption recovers the original message.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122160" y="2778709"/>
            <a:ext cx="7365273" cy="6497850"/>
            <a:chOff x="0" y="0"/>
            <a:chExt cx="9820364" cy="8663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820275" cy="8663813"/>
            </a:xfrm>
            <a:custGeom>
              <a:avLst/>
              <a:gdLst/>
              <a:ahLst/>
              <a:cxnLst/>
              <a:rect r="r" b="b" t="t" l="l"/>
              <a:pathLst>
                <a:path h="8663813" w="9820275">
                  <a:moveTo>
                    <a:pt x="0" y="225552"/>
                  </a:moveTo>
                  <a:cubicBezTo>
                    <a:pt x="0" y="100965"/>
                    <a:pt x="100965" y="0"/>
                    <a:pt x="225552" y="0"/>
                  </a:cubicBezTo>
                  <a:lnTo>
                    <a:pt x="9594723" y="0"/>
                  </a:lnTo>
                  <a:cubicBezTo>
                    <a:pt x="9719310" y="0"/>
                    <a:pt x="9820275" y="100965"/>
                    <a:pt x="9820275" y="225552"/>
                  </a:cubicBezTo>
                  <a:lnTo>
                    <a:pt x="9820275" y="8438261"/>
                  </a:lnTo>
                  <a:cubicBezTo>
                    <a:pt x="9820275" y="8562848"/>
                    <a:pt x="9719310" y="8663813"/>
                    <a:pt x="9594723" y="8663813"/>
                  </a:cubicBezTo>
                  <a:lnTo>
                    <a:pt x="225552" y="8663813"/>
                  </a:lnTo>
                  <a:cubicBezTo>
                    <a:pt x="100965" y="8663813"/>
                    <a:pt x="0" y="8562848"/>
                    <a:pt x="0" y="8438261"/>
                  </a:cubicBezTo>
                  <a:close/>
                </a:path>
              </a:pathLst>
            </a:custGeom>
            <a:solidFill>
              <a:srgbClr val="192248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357047" y="2944654"/>
            <a:ext cx="6895509" cy="395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0"/>
              </a:lnSpc>
            </a:pPr>
            <a:r>
              <a:rPr lang="en-US" sz="2251" b="true">
                <a:solidFill>
                  <a:srgbClr val="26A688"/>
                </a:solidFill>
                <a:latin typeface="Arimo Bold"/>
                <a:ea typeface="Arimo Bold"/>
                <a:cs typeface="Arimo Bold"/>
                <a:sym typeface="Arimo Bold"/>
              </a:rPr>
              <a:t>Key Pair Summary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357047" y="3496799"/>
            <a:ext cx="6895509" cy="2106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7"/>
              </a:lnSpc>
            </a:pPr>
            <a:r>
              <a:rPr lang="en-US" sz="1801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Public key:</a:t>
            </a:r>
            <a:r>
              <a:rPr lang="en-US" sz="180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(e, n) — shared openly</a:t>
            </a:r>
          </a:p>
          <a:p>
            <a:pPr algn="l">
              <a:lnSpc>
                <a:spcPts val="2637"/>
              </a:lnSpc>
            </a:pPr>
            <a:r>
              <a:rPr lang="en-US" sz="1801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Private key:</a:t>
            </a:r>
            <a:r>
              <a:rPr lang="en-US" sz="180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 — kept secret</a:t>
            </a:r>
          </a:p>
          <a:p>
            <a:pPr algn="l">
              <a:lnSpc>
                <a:spcPts val="2637"/>
              </a:lnSpc>
            </a:pPr>
            <a:r>
              <a:rPr lang="en-US" sz="1801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Security basis:</a:t>
            </a:r>
            <a:r>
              <a:rPr lang="en-US" sz="180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Factoring n = pq into p and q is computationally hard; recovering d without knowing φ(n) is infeasible.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357047" y="5821794"/>
            <a:ext cx="6895509" cy="1498235"/>
            <a:chOff x="0" y="0"/>
            <a:chExt cx="9194013" cy="199764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94038" cy="1997583"/>
            </a:xfrm>
            <a:custGeom>
              <a:avLst/>
              <a:gdLst/>
              <a:ahLst/>
              <a:cxnLst/>
              <a:rect r="r" b="b" t="t" l="l"/>
              <a:pathLst>
                <a:path h="1997583" w="9194038">
                  <a:moveTo>
                    <a:pt x="0" y="131572"/>
                  </a:moveTo>
                  <a:cubicBezTo>
                    <a:pt x="0" y="58928"/>
                    <a:pt x="58928" y="0"/>
                    <a:pt x="131572" y="0"/>
                  </a:cubicBezTo>
                  <a:lnTo>
                    <a:pt x="9062466" y="0"/>
                  </a:lnTo>
                  <a:cubicBezTo>
                    <a:pt x="9135110" y="0"/>
                    <a:pt x="9194038" y="58928"/>
                    <a:pt x="9194038" y="131572"/>
                  </a:cubicBezTo>
                  <a:lnTo>
                    <a:pt x="9194038" y="1866011"/>
                  </a:lnTo>
                  <a:cubicBezTo>
                    <a:pt x="9194038" y="1938655"/>
                    <a:pt x="9135110" y="1997583"/>
                    <a:pt x="9062466" y="1997583"/>
                  </a:cubicBezTo>
                  <a:lnTo>
                    <a:pt x="131572" y="1997583"/>
                  </a:lnTo>
                  <a:cubicBezTo>
                    <a:pt x="58928" y="1997583"/>
                    <a:pt x="0" y="1938782"/>
                    <a:pt x="0" y="1866011"/>
                  </a:cubicBezTo>
                  <a:close/>
                </a:path>
              </a:pathLst>
            </a:custGeom>
            <a:solidFill>
              <a:srgbClr val="186855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591924" y="6126832"/>
            <a:ext cx="293713" cy="234886"/>
            <a:chOff x="0" y="0"/>
            <a:chExt cx="391617" cy="313182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391668" cy="313182"/>
            </a:xfrm>
            <a:custGeom>
              <a:avLst/>
              <a:gdLst/>
              <a:ahLst/>
              <a:cxnLst/>
              <a:rect r="r" b="b" t="t" l="l"/>
              <a:pathLst>
                <a:path h="313182" w="391668">
                  <a:moveTo>
                    <a:pt x="0" y="0"/>
                  </a:moveTo>
                  <a:lnTo>
                    <a:pt x="391668" y="0"/>
                  </a:lnTo>
                  <a:lnTo>
                    <a:pt x="391668" y="313182"/>
                  </a:lnTo>
                  <a:lnTo>
                    <a:pt x="0" y="313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4e8e9a56ff5240ed"/>
              <a:stretch>
                <a:fillRect l="0" t="-421" r="12" b="-421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1120514" y="6017390"/>
            <a:ext cx="5897156" cy="1068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7"/>
              </a:lnSpc>
            </a:pPr>
            <a:r>
              <a:rPr lang="en-US" sz="180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This integrates established cryptographic mathematics. RSA does not claim a new cryptographic primitive.</a:t>
            </a:r>
          </a:p>
        </p:txBody>
      </p:sp>
    </p:spTree>
  </p:cSld>
  <p:clrMapOvr>
    <a:masterClrMapping/>
  </p:clrMapOvr>
  <p:transition spd="slow">
    <p:push dir="u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944194"/>
            <a:ext cx="16315868" cy="768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0"/>
              </a:lnSpc>
            </a:pPr>
            <a:r>
              <a:rPr lang="en-US" sz="4503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Diffie-Hellman: Building a Shared Secret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2151821"/>
            <a:ext cx="7876727" cy="38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51" b="true">
                <a:solidFill>
                  <a:srgbClr val="26A688"/>
                </a:solidFill>
                <a:latin typeface="Arimo Bold"/>
                <a:ea typeface="Arimo Bold"/>
                <a:cs typeface="Arimo Bold"/>
                <a:sym typeface="Arimo Bold"/>
              </a:rPr>
              <a:t>The Protocol — Public Channel Exchange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991" y="2689670"/>
            <a:ext cx="8791823" cy="372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5"/>
              </a:lnSpc>
            </a:pPr>
            <a:r>
              <a:rPr lang="en-US" sz="18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All parties agree publicly on a prime </a:t>
            </a:r>
            <a:r>
              <a:rPr lang="en-US" sz="1801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</a:t>
            </a:r>
            <a:r>
              <a:rPr lang="en-US" sz="18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and generator </a:t>
            </a:r>
            <a:r>
              <a:rPr lang="en-US" sz="1801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</a:t>
            </a:r>
            <a:r>
              <a:rPr lang="en-US" sz="18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5438" y="3192361"/>
            <a:ext cx="8791823" cy="372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5"/>
              </a:lnSpc>
            </a:pPr>
            <a:r>
              <a:rPr lang="en-US" sz="1801" b="true">
                <a:solidFill>
                  <a:srgbClr val="26A68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Shared Secret: K = Ba mod p = Ab mod p = gab mod 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991" y="3695043"/>
            <a:ext cx="7876727" cy="706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5"/>
              </a:lnSpc>
            </a:pPr>
            <a:r>
              <a:rPr lang="en-US" sz="18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Security rests on the </a:t>
            </a:r>
            <a:r>
              <a:rPr lang="en-US" sz="1801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Discrete Logarithm Problem</a:t>
            </a:r>
            <a:r>
              <a:rPr lang="en-US" sz="18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— recovering </a:t>
            </a:r>
            <a:r>
              <a:rPr lang="en-US" sz="1801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</a:t>
            </a:r>
            <a:r>
              <a:rPr lang="en-US" sz="18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from </a:t>
            </a:r>
            <a:r>
              <a:rPr lang="en-US" sz="1801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ga mod p</a:t>
            </a:r>
            <a:r>
              <a:rPr lang="en-US" sz="18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is computationally infeasible.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41656" y="2151821"/>
            <a:ext cx="7876727" cy="74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51" b="true">
                <a:solidFill>
                  <a:srgbClr val="26A688"/>
                </a:solidFill>
                <a:latin typeface="Arimo Bold"/>
                <a:ea typeface="Arimo Bold"/>
                <a:cs typeface="Arimo Bold"/>
                <a:sym typeface="Arimo Bold"/>
              </a:rPr>
              <a:t>Authentication Limitation &amp; Architecture Role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41656" y="3049819"/>
            <a:ext cx="7876727" cy="1375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5"/>
              </a:lnSpc>
            </a:pPr>
            <a:r>
              <a:rPr lang="en-US" sz="18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Basic Diffie-Hellman provides </a:t>
            </a:r>
            <a:r>
              <a:rPr lang="en-US" sz="1801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agreement</a:t>
            </a:r>
            <a:r>
              <a:rPr lang="en-US" sz="18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but </a:t>
            </a:r>
            <a:r>
              <a:rPr lang="en-US" sz="1801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not user authentication</a:t>
            </a:r>
            <a:r>
              <a:rPr lang="en-US" sz="18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by itself. An eavesdropper cannot find the shared secret, but a man-in-the-middle may impersonate participants if identities are unverified.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441656" y="4635446"/>
            <a:ext cx="7876727" cy="1788824"/>
            <a:chOff x="0" y="0"/>
            <a:chExt cx="10502303" cy="238509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502392" cy="2385187"/>
            </a:xfrm>
            <a:custGeom>
              <a:avLst/>
              <a:gdLst/>
              <a:ahLst/>
              <a:cxnLst/>
              <a:rect r="r" b="b" t="t" l="l"/>
              <a:pathLst>
                <a:path h="2385187" w="10502392">
                  <a:moveTo>
                    <a:pt x="0" y="129159"/>
                  </a:moveTo>
                  <a:cubicBezTo>
                    <a:pt x="0" y="57785"/>
                    <a:pt x="57785" y="0"/>
                    <a:pt x="129159" y="0"/>
                  </a:cubicBezTo>
                  <a:lnTo>
                    <a:pt x="10373233" y="0"/>
                  </a:lnTo>
                  <a:cubicBezTo>
                    <a:pt x="10444480" y="0"/>
                    <a:pt x="10502392" y="57785"/>
                    <a:pt x="10502392" y="129159"/>
                  </a:cubicBezTo>
                  <a:lnTo>
                    <a:pt x="10502392" y="2256028"/>
                  </a:lnTo>
                  <a:cubicBezTo>
                    <a:pt x="10502392" y="2327275"/>
                    <a:pt x="10444607" y="2385187"/>
                    <a:pt x="10373233" y="2385187"/>
                  </a:cubicBezTo>
                  <a:lnTo>
                    <a:pt x="129159" y="2385187"/>
                  </a:lnTo>
                  <a:cubicBezTo>
                    <a:pt x="57785" y="2385060"/>
                    <a:pt x="0" y="2327275"/>
                    <a:pt x="0" y="2256028"/>
                  </a:cubicBez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672066" y="4935874"/>
            <a:ext cx="288055" cy="230419"/>
            <a:chOff x="0" y="0"/>
            <a:chExt cx="384073" cy="307226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384048" cy="307213"/>
            </a:xfrm>
            <a:custGeom>
              <a:avLst/>
              <a:gdLst/>
              <a:ahLst/>
              <a:cxnLst/>
              <a:rect r="r" b="b" t="t" l="l"/>
              <a:pathLst>
                <a:path h="307213" w="384048">
                  <a:moveTo>
                    <a:pt x="0" y="0"/>
                  </a:moveTo>
                  <a:lnTo>
                    <a:pt x="384048" y="0"/>
                  </a:lnTo>
                  <a:lnTo>
                    <a:pt x="384048" y="307213"/>
                  </a:lnTo>
                  <a:lnTo>
                    <a:pt x="0" y="3072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82bc3730c76146ee"/>
              <a:stretch>
                <a:fillRect l="0" t="-409" r="-6" b="-409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190531" y="4823298"/>
            <a:ext cx="6897443" cy="1375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5"/>
              </a:lnSpc>
            </a:pPr>
            <a:r>
              <a:rPr lang="en-US" sz="180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 the Six Lock Architecture, the Logic and Access Locks complement Module 4 by enforcing identity verification and session authorisation — addressing the authentication gap DH alone cannot fill.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41656" y="6596777"/>
            <a:ext cx="7876727" cy="706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5"/>
              </a:lnSpc>
            </a:pPr>
            <a:r>
              <a:rPr lang="en-US" sz="18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Together, the locks form a complete security architecture: Module 4 supplies the key mathematics; other modules supply identity assurance.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88219" y="7677645"/>
            <a:ext cx="8073781" cy="1630347"/>
            <a:chOff x="0" y="0"/>
            <a:chExt cx="10765041" cy="21737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765155" cy="2173859"/>
            </a:xfrm>
            <a:custGeom>
              <a:avLst/>
              <a:gdLst/>
              <a:ahLst/>
              <a:cxnLst/>
              <a:rect r="r" b="b" t="t" l="l"/>
              <a:pathLst>
                <a:path h="2173859" w="10765155">
                  <a:moveTo>
                    <a:pt x="0" y="129921"/>
                  </a:moveTo>
                  <a:cubicBezTo>
                    <a:pt x="0" y="58166"/>
                    <a:pt x="58166" y="0"/>
                    <a:pt x="129921" y="0"/>
                  </a:cubicBezTo>
                  <a:lnTo>
                    <a:pt x="10635234" y="0"/>
                  </a:lnTo>
                  <a:cubicBezTo>
                    <a:pt x="10706989" y="0"/>
                    <a:pt x="10765155" y="58166"/>
                    <a:pt x="10765155" y="129921"/>
                  </a:cubicBezTo>
                  <a:lnTo>
                    <a:pt x="10765155" y="2043938"/>
                  </a:lnTo>
                  <a:cubicBezTo>
                    <a:pt x="10765155" y="2115693"/>
                    <a:pt x="10706989" y="2173859"/>
                    <a:pt x="10635234" y="2173859"/>
                  </a:cubicBezTo>
                  <a:lnTo>
                    <a:pt x="129921" y="2173859"/>
                  </a:lnTo>
                  <a:cubicBezTo>
                    <a:pt x="58166" y="2173732"/>
                    <a:pt x="0" y="2115693"/>
                    <a:pt x="0" y="2043938"/>
                  </a:cubicBezTo>
                  <a:close/>
                </a:path>
              </a:pathLst>
            </a:custGeom>
            <a:solidFill>
              <a:srgbClr val="D6F5EE"/>
            </a:solidFill>
            <a:ln w="9532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232935" y="7893787"/>
            <a:ext cx="7584357" cy="38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5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Ravi (Alice)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2935" y="8356711"/>
            <a:ext cx="7584357" cy="706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5"/>
              </a:lnSpc>
            </a:pPr>
            <a:r>
              <a:rPr lang="en-US" sz="18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Chooses secret </a:t>
            </a:r>
            <a:r>
              <a:rPr lang="en-US" sz="1801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</a:t>
            </a:r>
          </a:p>
          <a:p>
            <a:pPr algn="l">
              <a:lnSpc>
                <a:spcPts val="2615"/>
              </a:lnSpc>
            </a:pPr>
            <a:r>
              <a:rPr lang="en-US" sz="18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Sends </a:t>
            </a:r>
            <a:r>
              <a:rPr lang="en-US" sz="1801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 = ga mod p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239688" y="7677645"/>
            <a:ext cx="8073933" cy="1630347"/>
            <a:chOff x="0" y="0"/>
            <a:chExt cx="10765244" cy="217379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765282" cy="2173859"/>
            </a:xfrm>
            <a:custGeom>
              <a:avLst/>
              <a:gdLst/>
              <a:ahLst/>
              <a:cxnLst/>
              <a:rect r="r" b="b" t="t" l="l"/>
              <a:pathLst>
                <a:path h="2173859" w="10765282">
                  <a:moveTo>
                    <a:pt x="0" y="129921"/>
                  </a:moveTo>
                  <a:cubicBezTo>
                    <a:pt x="0" y="58166"/>
                    <a:pt x="58166" y="0"/>
                    <a:pt x="129921" y="0"/>
                  </a:cubicBezTo>
                  <a:lnTo>
                    <a:pt x="10635361" y="0"/>
                  </a:lnTo>
                  <a:cubicBezTo>
                    <a:pt x="10707116" y="0"/>
                    <a:pt x="10765282" y="58166"/>
                    <a:pt x="10765282" y="129921"/>
                  </a:cubicBezTo>
                  <a:lnTo>
                    <a:pt x="10765282" y="2043938"/>
                  </a:lnTo>
                  <a:cubicBezTo>
                    <a:pt x="10765282" y="2115693"/>
                    <a:pt x="10707116" y="2173859"/>
                    <a:pt x="10635361" y="2173859"/>
                  </a:cubicBezTo>
                  <a:lnTo>
                    <a:pt x="129921" y="2173859"/>
                  </a:lnTo>
                  <a:cubicBezTo>
                    <a:pt x="58166" y="2173732"/>
                    <a:pt x="0" y="2115693"/>
                    <a:pt x="0" y="2043938"/>
                  </a:cubicBezTo>
                  <a:close/>
                </a:path>
              </a:pathLst>
            </a:custGeom>
            <a:solidFill>
              <a:srgbClr val="D6F5EE"/>
            </a:solidFill>
            <a:ln w="9532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9484395" y="7893787"/>
            <a:ext cx="7584510" cy="38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5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Priya (Bob)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484395" y="8356711"/>
            <a:ext cx="7584510" cy="706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5"/>
              </a:lnSpc>
            </a:pPr>
            <a:r>
              <a:rPr lang="en-US" sz="18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Chooses secret </a:t>
            </a:r>
            <a:r>
              <a:rPr lang="en-US" sz="1801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</a:t>
            </a:r>
          </a:p>
          <a:p>
            <a:pPr algn="l">
              <a:lnSpc>
                <a:spcPts val="2615"/>
              </a:lnSpc>
            </a:pPr>
            <a:r>
              <a:rPr lang="en-US" sz="18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Sends </a:t>
            </a:r>
            <a:r>
              <a:rPr lang="en-US" sz="1801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 = gb mod p</a:t>
            </a:r>
          </a:p>
        </p:txBody>
      </p:sp>
    </p:spTree>
  </p:cSld>
  <p:clrMapOvr>
    <a:masterClrMapping/>
  </p:clrMapOvr>
  <p:transition spd="slow">
    <p:push dir="u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cId1930a4aee3c74ee6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d49e7cc36f124cf2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cda870cb54af45e3"/>
              <a:stretch>
                <a:fillRect l="-1" t="0" r="-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991" y="853478"/>
            <a:ext cx="9452677" cy="633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9"/>
              </a:lnSpc>
            </a:pPr>
            <a:r>
              <a:rPr lang="en-US" sz="367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Thank You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991" y="1631871"/>
            <a:ext cx="9452677" cy="2514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69"/>
              </a:lnSpc>
            </a:pPr>
            <a:r>
              <a:rPr lang="en-US" sz="5103" b="true">
                <a:solidFill>
                  <a:srgbClr val="26A688"/>
                </a:solidFill>
                <a:latin typeface="Arimo Bold"/>
                <a:ea typeface="Arimo Bold"/>
                <a:cs typeface="Arimo Bold"/>
                <a:sym typeface="Arimo Bold"/>
              </a:rPr>
              <a:t>Module 4: The Cryptographic Key Lock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991" y="4328636"/>
            <a:ext cx="9452677" cy="519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9"/>
              </a:lnSpc>
            </a:pPr>
            <a:r>
              <a:rPr lang="en-US" sz="14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Module 4 supplies the number-theoretic machinery behind cryptographic key operations — from divisibility and the Euclidean algorithm through Euler's theorem, RSA, and Diffie-Hellman key exchange.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88219" y="4987404"/>
            <a:ext cx="9462211" cy="4072738"/>
            <a:chOff x="0" y="0"/>
            <a:chExt cx="12616282" cy="543031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616307" cy="5430393"/>
            </a:xfrm>
            <a:custGeom>
              <a:avLst/>
              <a:gdLst/>
              <a:ahLst/>
              <a:cxnLst/>
              <a:rect r="r" b="b" t="t" l="l"/>
              <a:pathLst>
                <a:path h="5430393" w="12616307">
                  <a:moveTo>
                    <a:pt x="0" y="107061"/>
                  </a:moveTo>
                  <a:cubicBezTo>
                    <a:pt x="0" y="47879"/>
                    <a:pt x="47879" y="0"/>
                    <a:pt x="107061" y="0"/>
                  </a:cubicBezTo>
                  <a:lnTo>
                    <a:pt x="12509246" y="0"/>
                  </a:lnTo>
                  <a:cubicBezTo>
                    <a:pt x="12568301" y="0"/>
                    <a:pt x="12616307" y="47879"/>
                    <a:pt x="12616307" y="107061"/>
                  </a:cubicBezTo>
                  <a:lnTo>
                    <a:pt x="12616307" y="5323332"/>
                  </a:lnTo>
                  <a:cubicBezTo>
                    <a:pt x="12616307" y="5382387"/>
                    <a:pt x="12568427" y="5430393"/>
                    <a:pt x="12509246" y="5430393"/>
                  </a:cubicBezTo>
                  <a:lnTo>
                    <a:pt x="107061" y="5430393"/>
                  </a:lnTo>
                  <a:cubicBezTo>
                    <a:pt x="48006" y="5430393"/>
                    <a:pt x="0" y="5382514"/>
                    <a:pt x="0" y="5323332"/>
                  </a:cubicBezTo>
                  <a:close/>
                </a:path>
              </a:pathLst>
            </a:custGeom>
            <a:solidFill>
              <a:srgbClr val="D6F5EE"/>
            </a:solidFill>
            <a:ln w="9532" cap="sq">
              <a:solidFill>
                <a:srgbClr val="BCDBD4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002525" y="5001701"/>
            <a:ext cx="9433608" cy="1011031"/>
            <a:chOff x="0" y="0"/>
            <a:chExt cx="12578144" cy="134804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578207" cy="1348105"/>
            </a:xfrm>
            <a:custGeom>
              <a:avLst/>
              <a:gdLst/>
              <a:ahLst/>
              <a:cxnLst/>
              <a:rect r="r" b="b" t="t" l="l"/>
              <a:pathLst>
                <a:path h="1348105" w="12578207">
                  <a:moveTo>
                    <a:pt x="89027" y="0"/>
                  </a:moveTo>
                  <a:lnTo>
                    <a:pt x="12489180" y="0"/>
                  </a:lnTo>
                  <a:cubicBezTo>
                    <a:pt x="12538329" y="0"/>
                    <a:pt x="12578207" y="39878"/>
                    <a:pt x="12578207" y="89027"/>
                  </a:cubicBezTo>
                  <a:lnTo>
                    <a:pt x="12578207" y="1348105"/>
                  </a:lnTo>
                  <a:lnTo>
                    <a:pt x="0" y="1348105"/>
                  </a:lnTo>
                  <a:lnTo>
                    <a:pt x="0" y="89027"/>
                  </a:lnTo>
                  <a:cubicBezTo>
                    <a:pt x="0" y="39878"/>
                    <a:pt x="39878" y="0"/>
                    <a:pt x="89027" y="0"/>
                  </a:cubicBezTo>
                  <a:close/>
                </a:path>
              </a:pathLst>
            </a:custGeom>
            <a:solidFill>
              <a:srgbClr val="D6F5EE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193168" y="5163779"/>
            <a:ext cx="9052322" cy="326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Number Theory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93168" y="5557571"/>
            <a:ext cx="9052322" cy="264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9"/>
              </a:lnSpc>
            </a:pPr>
            <a:r>
              <a:rPr lang="en-US" sz="14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Primes, GCD, modular arithmetic, Euler φ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02525" y="6012742"/>
            <a:ext cx="9433608" cy="1011031"/>
            <a:chOff x="0" y="0"/>
            <a:chExt cx="12578144" cy="134804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578207" cy="1348105"/>
            </a:xfrm>
            <a:custGeom>
              <a:avLst/>
              <a:gdLst/>
              <a:ahLst/>
              <a:cxnLst/>
              <a:rect r="r" b="b" t="t" l="l"/>
              <a:pathLst>
                <a:path h="1348105" w="12578207">
                  <a:moveTo>
                    <a:pt x="0" y="0"/>
                  </a:moveTo>
                  <a:lnTo>
                    <a:pt x="12578207" y="0"/>
                  </a:lnTo>
                  <a:lnTo>
                    <a:pt x="12578207" y="1348105"/>
                  </a:lnTo>
                  <a:lnTo>
                    <a:pt x="0" y="1348105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02525" y="6012742"/>
            <a:ext cx="9433608" cy="28594"/>
            <a:chOff x="0" y="0"/>
            <a:chExt cx="12578144" cy="3812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578080" cy="38100"/>
            </a:xfrm>
            <a:custGeom>
              <a:avLst/>
              <a:gdLst/>
              <a:ahLst/>
              <a:cxnLst/>
              <a:rect r="r" b="b" t="t" l="l"/>
              <a:pathLst>
                <a:path h="38100" w="1257808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2559030" y="0"/>
                  </a:lnTo>
                  <a:cubicBezTo>
                    <a:pt x="12569572" y="0"/>
                    <a:pt x="12578080" y="8509"/>
                    <a:pt x="12578080" y="19050"/>
                  </a:cubicBezTo>
                  <a:cubicBezTo>
                    <a:pt x="12578080" y="29591"/>
                    <a:pt x="12569572" y="38100"/>
                    <a:pt x="1255903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BCDBD4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193168" y="6174810"/>
            <a:ext cx="9052322" cy="326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RSA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93168" y="6568611"/>
            <a:ext cx="9052322" cy="264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9"/>
              </a:lnSpc>
            </a:pPr>
            <a:r>
              <a:rPr lang="en-US" sz="14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n=pq, φ(n), key pair, Euler's theorem correctness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002525" y="7023773"/>
            <a:ext cx="9433608" cy="1011031"/>
            <a:chOff x="0" y="0"/>
            <a:chExt cx="12578144" cy="134804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578207" cy="1348105"/>
            </a:xfrm>
            <a:custGeom>
              <a:avLst/>
              <a:gdLst/>
              <a:ahLst/>
              <a:cxnLst/>
              <a:rect r="r" b="b" t="t" l="l"/>
              <a:pathLst>
                <a:path h="1348105" w="12578207">
                  <a:moveTo>
                    <a:pt x="0" y="0"/>
                  </a:moveTo>
                  <a:lnTo>
                    <a:pt x="12578207" y="0"/>
                  </a:lnTo>
                  <a:lnTo>
                    <a:pt x="12578207" y="1348105"/>
                  </a:lnTo>
                  <a:lnTo>
                    <a:pt x="0" y="1348105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02525" y="7023773"/>
            <a:ext cx="9433608" cy="28594"/>
            <a:chOff x="0" y="0"/>
            <a:chExt cx="12578144" cy="3812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578080" cy="38100"/>
            </a:xfrm>
            <a:custGeom>
              <a:avLst/>
              <a:gdLst/>
              <a:ahLst/>
              <a:cxnLst/>
              <a:rect r="r" b="b" t="t" l="l"/>
              <a:pathLst>
                <a:path h="38100" w="1257808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2559030" y="0"/>
                  </a:lnTo>
                  <a:cubicBezTo>
                    <a:pt x="12569572" y="0"/>
                    <a:pt x="12578080" y="8509"/>
                    <a:pt x="12578080" y="19050"/>
                  </a:cubicBezTo>
                  <a:cubicBezTo>
                    <a:pt x="12578080" y="29591"/>
                    <a:pt x="12569572" y="38100"/>
                    <a:pt x="1255903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BCDBD4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193168" y="7185850"/>
            <a:ext cx="9052322" cy="326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Diffie-Hellman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93168" y="7579643"/>
            <a:ext cx="9052322" cy="264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9"/>
              </a:lnSpc>
            </a:pPr>
            <a:r>
              <a:rPr lang="en-US" sz="14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Discrete log hardness, shared secret, auth limitation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002525" y="8034814"/>
            <a:ext cx="9433608" cy="1011031"/>
            <a:chOff x="0" y="0"/>
            <a:chExt cx="12578144" cy="134804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578207" cy="1348105"/>
            </a:xfrm>
            <a:custGeom>
              <a:avLst/>
              <a:gdLst/>
              <a:ahLst/>
              <a:cxnLst/>
              <a:rect r="r" b="b" t="t" l="l"/>
              <a:pathLst>
                <a:path h="1348105" w="12578207">
                  <a:moveTo>
                    <a:pt x="0" y="0"/>
                  </a:moveTo>
                  <a:lnTo>
                    <a:pt x="12578207" y="0"/>
                  </a:lnTo>
                  <a:lnTo>
                    <a:pt x="12578207" y="1259078"/>
                  </a:lnTo>
                  <a:cubicBezTo>
                    <a:pt x="12578207" y="1308227"/>
                    <a:pt x="12538328" y="1348105"/>
                    <a:pt x="12489180" y="1348105"/>
                  </a:cubicBezTo>
                  <a:lnTo>
                    <a:pt x="89027" y="1348105"/>
                  </a:lnTo>
                  <a:cubicBezTo>
                    <a:pt x="39878" y="1348105"/>
                    <a:pt x="0" y="1308227"/>
                    <a:pt x="0" y="125907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02525" y="8034814"/>
            <a:ext cx="9433608" cy="28594"/>
            <a:chOff x="0" y="0"/>
            <a:chExt cx="12578144" cy="3812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578080" cy="38100"/>
            </a:xfrm>
            <a:custGeom>
              <a:avLst/>
              <a:gdLst/>
              <a:ahLst/>
              <a:cxnLst/>
              <a:rect r="r" b="b" t="t" l="l"/>
              <a:pathLst>
                <a:path h="38100" w="1257808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2559030" y="0"/>
                  </a:lnTo>
                  <a:cubicBezTo>
                    <a:pt x="12569572" y="0"/>
                    <a:pt x="12578080" y="8509"/>
                    <a:pt x="12578080" y="19050"/>
                  </a:cubicBezTo>
                  <a:cubicBezTo>
                    <a:pt x="12578080" y="29591"/>
                    <a:pt x="12569572" y="38100"/>
                    <a:pt x="1255903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BCDBD4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193168" y="8196882"/>
            <a:ext cx="9052322" cy="326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Architecture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93168" y="8590683"/>
            <a:ext cx="9052322" cy="264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9"/>
              </a:lnSpc>
            </a:pPr>
            <a:r>
              <a:rPr lang="en-US" sz="14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Six Lock integration — Key, Logic &amp; Access Locks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35438" y="9199407"/>
            <a:ext cx="10367762" cy="203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9"/>
              </a:lnSpc>
            </a:pPr>
            <a:r>
              <a:rPr lang="en-US" sz="1125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 Mathematical Security Architecture for Authentication, Key Management, and Message Integrity — University Project Presentation</a:t>
            </a:r>
          </a:p>
        </p:txBody>
      </p:sp>
    </p:spTree>
  </p:cSld>
  <p:clrMapOvr>
    <a:masterClrMapping/>
  </p:clrMapOvr>
  <p:transition spd="slow">
    <p:push dir="u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cId0e225260569d4d17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798092bf8c0540f9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820d25f1d3584db1"/>
              <a:stretch>
                <a:fillRect l="-1" t="0" r="-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991" y="835323"/>
            <a:ext cx="9452677" cy="5377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A Mathematical Security Architecture for Authentication, Key Management, and Message Integrity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92991" y="6638011"/>
            <a:ext cx="1484043" cy="431044"/>
            <a:chOff x="0" y="0"/>
            <a:chExt cx="1978724" cy="57472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78787" cy="574675"/>
            </a:xfrm>
            <a:custGeom>
              <a:avLst/>
              <a:gdLst/>
              <a:ahLst/>
              <a:cxnLst/>
              <a:rect r="r" b="b" t="t" l="l"/>
              <a:pathLst>
                <a:path h="574675" w="1978787">
                  <a:moveTo>
                    <a:pt x="0" y="127127"/>
                  </a:moveTo>
                  <a:cubicBezTo>
                    <a:pt x="0" y="56896"/>
                    <a:pt x="56896" y="0"/>
                    <a:pt x="127127" y="0"/>
                  </a:cubicBezTo>
                  <a:lnTo>
                    <a:pt x="1851660" y="0"/>
                  </a:lnTo>
                  <a:cubicBezTo>
                    <a:pt x="1921891" y="0"/>
                    <a:pt x="1978787" y="56896"/>
                    <a:pt x="1978787" y="127127"/>
                  </a:cubicBezTo>
                  <a:lnTo>
                    <a:pt x="1978787" y="447548"/>
                  </a:lnTo>
                  <a:cubicBezTo>
                    <a:pt x="1978787" y="517779"/>
                    <a:pt x="1921891" y="574675"/>
                    <a:pt x="1851660" y="574675"/>
                  </a:cubicBezTo>
                  <a:lnTo>
                    <a:pt x="127127" y="574675"/>
                  </a:lnTo>
                  <a:cubicBezTo>
                    <a:pt x="56896" y="574675"/>
                    <a:pt x="0" y="517779"/>
                    <a:pt x="0" y="447548"/>
                  </a:cubicBezTo>
                  <a:close/>
                </a:path>
              </a:pathLst>
            </a:custGeom>
            <a:solidFill>
              <a:srgbClr val="D6F5EE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163231" y="6742109"/>
            <a:ext cx="2058657" cy="241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sz="17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MODULE 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991" y="7153980"/>
            <a:ext cx="9452677" cy="915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The Communication Route / Topology Lock — Graph Theory &amp; Trees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991" y="8418405"/>
            <a:ext cx="9452677" cy="98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Modelling secure campus communication as structured mathematical graphs, spanning trees, and connectivity constraints.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74249"/>
            <a:ext cx="16315868" cy="1738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7"/>
              </a:lnSpc>
            </a:pPr>
            <a:r>
              <a:rPr lang="en-US" sz="5254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Module 5: The Communication Route Lock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3128153"/>
            <a:ext cx="7828026" cy="451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The Graph Model: </a:t>
            </a:r>
            <a:r>
              <a:rPr lang="en-US" sz="2627" b="true">
                <a:solidFill>
                  <a:srgbClr val="26A688"/>
                </a:solidFill>
                <a:latin typeface="Arimo Bold"/>
                <a:ea typeface="Arimo Bold"/>
                <a:cs typeface="Arimo Bold"/>
                <a:sym typeface="Arimo Bold"/>
              </a:rPr>
              <a:t>G = (V, E)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991" y="3770281"/>
            <a:ext cx="7828026" cy="1756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Vertices V</a:t>
            </a:r>
            <a:r>
              <a:rPr lang="en-US" sz="21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— campus users, servers, and trusted relay nodes (e.g., Ravi, Priya, Auth-Server).</a:t>
            </a:r>
          </a:p>
          <a:p>
            <a:pPr algn="l">
              <a:lnSpc>
                <a:spcPts val="3278"/>
              </a:lnSpc>
            </a:pPr>
            <a:r>
              <a:rPr lang="en-US" sz="2101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Edges E</a:t>
            </a:r>
            <a:r>
              <a:rPr lang="en-US" sz="21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— permitted communication or key-distribution links between nodes.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991" y="5817175"/>
            <a:ext cx="7828026" cy="1866424"/>
            <a:chOff x="0" y="0"/>
            <a:chExt cx="10437368" cy="24885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37368" cy="2488692"/>
            </a:xfrm>
            <a:custGeom>
              <a:avLst/>
              <a:gdLst/>
              <a:ahLst/>
              <a:cxnLst/>
              <a:rect r="r" b="b" t="t" l="l"/>
              <a:pathLst>
                <a:path h="2488692" w="10437368">
                  <a:moveTo>
                    <a:pt x="0" y="151511"/>
                  </a:moveTo>
                  <a:cubicBezTo>
                    <a:pt x="0" y="67818"/>
                    <a:pt x="67818" y="0"/>
                    <a:pt x="151511" y="0"/>
                  </a:cubicBezTo>
                  <a:lnTo>
                    <a:pt x="10285857" y="0"/>
                  </a:lnTo>
                  <a:cubicBezTo>
                    <a:pt x="10369550" y="0"/>
                    <a:pt x="10437368" y="67818"/>
                    <a:pt x="10437368" y="151511"/>
                  </a:cubicBezTo>
                  <a:lnTo>
                    <a:pt x="10437368" y="2337181"/>
                  </a:lnTo>
                  <a:cubicBezTo>
                    <a:pt x="10437368" y="2420874"/>
                    <a:pt x="10369550" y="2488692"/>
                    <a:pt x="10285857" y="2488692"/>
                  </a:cubicBezTo>
                  <a:lnTo>
                    <a:pt x="151511" y="2488692"/>
                  </a:lnTo>
                  <a:cubicBezTo>
                    <a:pt x="67818" y="2488565"/>
                    <a:pt x="0" y="2420747"/>
                    <a:pt x="0" y="2337054"/>
                  </a:cubicBez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63310" y="6220216"/>
            <a:ext cx="337947" cy="270339"/>
            <a:chOff x="0" y="0"/>
            <a:chExt cx="450596" cy="360451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450596" cy="360426"/>
            </a:xfrm>
            <a:custGeom>
              <a:avLst/>
              <a:gdLst/>
              <a:ahLst/>
              <a:cxnLst/>
              <a:rect r="r" b="b" t="t" l="l"/>
              <a:pathLst>
                <a:path h="360426" w="450596">
                  <a:moveTo>
                    <a:pt x="0" y="0"/>
                  </a:moveTo>
                  <a:lnTo>
                    <a:pt x="450596" y="0"/>
                  </a:lnTo>
                  <a:lnTo>
                    <a:pt x="450596" y="360426"/>
                  </a:lnTo>
                  <a:lnTo>
                    <a:pt x="0" y="360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8dab361a1ef0464e"/>
              <a:stretch>
                <a:fillRect l="0" t="-352" r="0" b="-355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871586" y="6049880"/>
            <a:ext cx="6679101" cy="133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message from Ravi to Priya is structurally accepted only if a valid path exists within the allowed edge set 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991" y="7906922"/>
            <a:ext cx="7828026" cy="133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Connectivity</a:t>
            </a:r>
            <a:r>
              <a:rPr lang="en-US" sz="21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is not a network feature — it is a mathematical property. If no path exists in G, communication is structurally impossible by the model itself, not by a firewall rule.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485586" y="3184284"/>
            <a:ext cx="3794712" cy="3362277"/>
            <a:chOff x="0" y="0"/>
            <a:chExt cx="5059616" cy="44830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59680" cy="4483100"/>
            </a:xfrm>
            <a:custGeom>
              <a:avLst/>
              <a:gdLst/>
              <a:ahLst/>
              <a:cxnLst/>
              <a:rect r="r" b="b" t="t" l="l"/>
              <a:pathLst>
                <a:path h="4483100" w="5059680">
                  <a:moveTo>
                    <a:pt x="0" y="151892"/>
                  </a:moveTo>
                  <a:cubicBezTo>
                    <a:pt x="0" y="67945"/>
                    <a:pt x="67945" y="0"/>
                    <a:pt x="151892" y="0"/>
                  </a:cubicBezTo>
                  <a:lnTo>
                    <a:pt x="4907788" y="0"/>
                  </a:lnTo>
                  <a:cubicBezTo>
                    <a:pt x="4991735" y="0"/>
                    <a:pt x="5059680" y="67945"/>
                    <a:pt x="5059680" y="151892"/>
                  </a:cubicBezTo>
                  <a:lnTo>
                    <a:pt x="5059680" y="4331208"/>
                  </a:lnTo>
                  <a:cubicBezTo>
                    <a:pt x="5059680" y="4415155"/>
                    <a:pt x="4991735" y="4483100"/>
                    <a:pt x="4907788" y="4483100"/>
                  </a:cubicBezTo>
                  <a:lnTo>
                    <a:pt x="151892" y="4483100"/>
                  </a:lnTo>
                  <a:cubicBezTo>
                    <a:pt x="67945" y="4482973"/>
                    <a:pt x="0" y="4415028"/>
                    <a:pt x="0" y="4331208"/>
                  </a:cubicBezTo>
                  <a:close/>
                </a:path>
              </a:pathLst>
            </a:custGeom>
            <a:solidFill>
              <a:srgbClr val="D6F5EE"/>
            </a:solidFill>
            <a:ln w="9532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9770221" y="3440344"/>
            <a:ext cx="3225460" cy="451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Reachability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70221" y="4082472"/>
            <a:ext cx="3225460" cy="1756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Ravi can reach Priya iff a walk exists in G connecting the two vertices.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528443" y="3184284"/>
            <a:ext cx="3794712" cy="3362277"/>
            <a:chOff x="0" y="0"/>
            <a:chExt cx="5059616" cy="448303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59680" cy="4483100"/>
            </a:xfrm>
            <a:custGeom>
              <a:avLst/>
              <a:gdLst/>
              <a:ahLst/>
              <a:cxnLst/>
              <a:rect r="r" b="b" t="t" l="l"/>
              <a:pathLst>
                <a:path h="4483100" w="5059680">
                  <a:moveTo>
                    <a:pt x="0" y="151892"/>
                  </a:moveTo>
                  <a:cubicBezTo>
                    <a:pt x="0" y="67945"/>
                    <a:pt x="67945" y="0"/>
                    <a:pt x="151892" y="0"/>
                  </a:cubicBezTo>
                  <a:lnTo>
                    <a:pt x="4907788" y="0"/>
                  </a:lnTo>
                  <a:cubicBezTo>
                    <a:pt x="4991735" y="0"/>
                    <a:pt x="5059680" y="67945"/>
                    <a:pt x="5059680" y="151892"/>
                  </a:cubicBezTo>
                  <a:lnTo>
                    <a:pt x="5059680" y="4331208"/>
                  </a:lnTo>
                  <a:cubicBezTo>
                    <a:pt x="5059680" y="4415155"/>
                    <a:pt x="4991735" y="4483100"/>
                    <a:pt x="4907788" y="4483100"/>
                  </a:cubicBezTo>
                  <a:lnTo>
                    <a:pt x="151892" y="4483100"/>
                  </a:lnTo>
                  <a:cubicBezTo>
                    <a:pt x="67945" y="4482973"/>
                    <a:pt x="0" y="4415028"/>
                    <a:pt x="0" y="4331208"/>
                  </a:cubicBezTo>
                  <a:close/>
                </a:path>
              </a:pathLst>
            </a:custGeom>
            <a:solidFill>
              <a:srgbClr val="D6F5EE"/>
            </a:solidFill>
            <a:ln w="9532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3813060" y="3440344"/>
            <a:ext cx="3225460" cy="87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Connected Graph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813060" y="4505030"/>
            <a:ext cx="3225460" cy="1756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G is connected if every pair of vertices is joined by at least one path — full campus reachability.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485586" y="6794697"/>
            <a:ext cx="7837561" cy="2094605"/>
            <a:chOff x="0" y="0"/>
            <a:chExt cx="10450081" cy="279280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450068" cy="2792857"/>
            </a:xfrm>
            <a:custGeom>
              <a:avLst/>
              <a:gdLst/>
              <a:ahLst/>
              <a:cxnLst/>
              <a:rect r="r" b="b" t="t" l="l"/>
              <a:pathLst>
                <a:path h="2792857" w="10450068">
                  <a:moveTo>
                    <a:pt x="0" y="152146"/>
                  </a:moveTo>
                  <a:cubicBezTo>
                    <a:pt x="0" y="68072"/>
                    <a:pt x="68072" y="0"/>
                    <a:pt x="152146" y="0"/>
                  </a:cubicBezTo>
                  <a:lnTo>
                    <a:pt x="10297922" y="0"/>
                  </a:lnTo>
                  <a:cubicBezTo>
                    <a:pt x="10381996" y="0"/>
                    <a:pt x="10450068" y="68072"/>
                    <a:pt x="10450068" y="152146"/>
                  </a:cubicBezTo>
                  <a:lnTo>
                    <a:pt x="10450068" y="2640711"/>
                  </a:lnTo>
                  <a:cubicBezTo>
                    <a:pt x="10450068" y="2724785"/>
                    <a:pt x="10381996" y="2792857"/>
                    <a:pt x="10297922" y="2792857"/>
                  </a:cubicBezTo>
                  <a:lnTo>
                    <a:pt x="152146" y="2792857"/>
                  </a:lnTo>
                  <a:cubicBezTo>
                    <a:pt x="68072" y="2792857"/>
                    <a:pt x="0" y="2724658"/>
                    <a:pt x="0" y="2640711"/>
                  </a:cubicBezTo>
                  <a:close/>
                </a:path>
              </a:pathLst>
            </a:custGeom>
            <a:solidFill>
              <a:srgbClr val="D6F5EE"/>
            </a:solidFill>
            <a:ln w="9532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9770221" y="7050757"/>
            <a:ext cx="7268308" cy="451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62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Components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70221" y="7692885"/>
            <a:ext cx="7268308" cy="91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Disconnected sub-graphs form isolated components — modelling security zones that cannot communicate.</a:t>
            </a:r>
          </a:p>
        </p:txBody>
      </p:sp>
    </p:spTree>
  </p:cSld>
  <p:clrMapOvr>
    <a:masterClrMapping/>
  </p:clrMapOvr>
  <p:transition spd="slow">
    <p:push dir="l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044283"/>
            <a:ext cx="16315868" cy="647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7"/>
              </a:lnSpc>
            </a:pPr>
            <a:r>
              <a:rPr lang="en-US" sz="382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Paths, Cycles, Connectivity &amp; Graph Representations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991" y="2595058"/>
            <a:ext cx="10438809" cy="5915330"/>
            <a:chOff x="0" y="0"/>
            <a:chExt cx="13918413" cy="7887106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3918437" cy="7887081"/>
            </a:xfrm>
            <a:custGeom>
              <a:avLst/>
              <a:gdLst/>
              <a:ahLst/>
              <a:cxnLst/>
              <a:rect r="r" b="b" t="t" l="l"/>
              <a:pathLst>
                <a:path h="7887081" w="13918437">
                  <a:moveTo>
                    <a:pt x="0" y="0"/>
                  </a:moveTo>
                  <a:lnTo>
                    <a:pt x="13918437" y="0"/>
                  </a:lnTo>
                  <a:lnTo>
                    <a:pt x="13918437" y="7887081"/>
                  </a:lnTo>
                  <a:lnTo>
                    <a:pt x="0" y="78870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75638d234b0f49c0"/>
              <a:stretch>
                <a:fillRect l="-5" t="0" r="-5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917051" y="1988887"/>
            <a:ext cx="5401332" cy="342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8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Key Graph Concepts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11917051" y="2482606"/>
            <a:ext cx="5401332" cy="1412586"/>
          </a:xfrm>
          <a:custGeom>
            <a:avLst/>
            <a:gdLst/>
            <a:ahLst/>
            <a:cxnLst/>
            <a:rect r="r" b="b" t="t" l="l"/>
            <a:pathLst>
              <a:path h="1412586" w="5401332">
                <a:moveTo>
                  <a:pt x="0" y="0"/>
                </a:moveTo>
                <a:lnTo>
                  <a:pt x="5401333" y="0"/>
                </a:lnTo>
                <a:lnTo>
                  <a:pt x="5401333" y="1412586"/>
                </a:lnTo>
                <a:lnTo>
                  <a:pt x="0" y="1412586"/>
                </a:lnTo>
                <a:lnTo>
                  <a:pt x="0" y="0"/>
                </a:lnTo>
                <a:close/>
              </a:path>
            </a:pathLst>
          </a:custGeom>
          <a:blipFill>
            <a:blip r:embed="Rdd9b019945244e84">
              <a:extLst>
                <a:ext uri="{96DAC541-7B7A-43D3-8B79-37D633B846F1}">
                  <asvg:svgBlip xmlns:asvg="http://schemas.microsoft.com/office/drawing/2016/SVG/main" r:embed="R4b1d9482cede4867"/>
                </a:ext>
              </a:extLst>
            </a:blip>
            <a:stretch>
              <a:fillRect l="0" t="-488" r="0" b="-489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254998" y="2668076"/>
            <a:ext cx="4839833" cy="342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8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Directed &amp; Weighted Edges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54998" y="3125914"/>
            <a:ext cx="4839833" cy="545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Direction models one-way trust; weights model link cost or priority in a key-distribution scenario.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1917051" y="4029246"/>
            <a:ext cx="5401332" cy="1412586"/>
          </a:xfrm>
          <a:custGeom>
            <a:avLst/>
            <a:gdLst/>
            <a:ahLst/>
            <a:cxnLst/>
            <a:rect r="r" b="b" t="t" l="l"/>
            <a:pathLst>
              <a:path h="1412586" w="5401332">
                <a:moveTo>
                  <a:pt x="0" y="0"/>
                </a:moveTo>
                <a:lnTo>
                  <a:pt x="5401333" y="0"/>
                </a:lnTo>
                <a:lnTo>
                  <a:pt x="5401333" y="1412587"/>
                </a:lnTo>
                <a:lnTo>
                  <a:pt x="0" y="1412587"/>
                </a:lnTo>
                <a:lnTo>
                  <a:pt x="0" y="0"/>
                </a:lnTo>
                <a:close/>
              </a:path>
            </a:pathLst>
          </a:custGeom>
          <a:blipFill>
            <a:blip r:embed="Rdd9b019945244e84">
              <a:extLst>
                <a:ext uri="{96DAC541-7B7A-43D3-8B79-37D633B846F1}">
                  <asvg:svgBlip xmlns:asvg="http://schemas.microsoft.com/office/drawing/2016/SVG/main" r:embed="R4b1d9482cede4867"/>
                </a:ext>
              </a:extLst>
            </a:blip>
            <a:stretch>
              <a:fillRect l="0" t="-488" r="0" b="-489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254998" y="4214708"/>
            <a:ext cx="4839833" cy="342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8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Adjacency Matrix / List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254998" y="4672555"/>
            <a:ext cx="4839833" cy="545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Matrix entry A[i][j] = 1 iff an allowed link exists. Lists compactly represent sparse campus topologies.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11917051" y="5575887"/>
            <a:ext cx="5401332" cy="1675924"/>
          </a:xfrm>
          <a:custGeom>
            <a:avLst/>
            <a:gdLst/>
            <a:ahLst/>
            <a:cxnLst/>
            <a:rect r="r" b="b" t="t" l="l"/>
            <a:pathLst>
              <a:path h="1675924" w="5401332">
                <a:moveTo>
                  <a:pt x="0" y="0"/>
                </a:moveTo>
                <a:lnTo>
                  <a:pt x="5401333" y="0"/>
                </a:lnTo>
                <a:lnTo>
                  <a:pt x="5401333" y="1675924"/>
                </a:lnTo>
                <a:lnTo>
                  <a:pt x="0" y="1675924"/>
                </a:lnTo>
                <a:lnTo>
                  <a:pt x="0" y="0"/>
                </a:lnTo>
                <a:close/>
              </a:path>
            </a:pathLst>
          </a:custGeom>
          <a:blipFill>
            <a:blip r:embed="R004b9fbfff9e44e7">
              <a:extLst>
                <a:ext uri="{96DAC541-7B7A-43D3-8B79-37D633B846F1}">
                  <asvg:svgBlip xmlns:asvg="http://schemas.microsoft.com/office/drawing/2016/SVG/main" r:embed="R8788fa909f0146c3"/>
                </a:ext>
              </a:extLst>
            </a:blip>
            <a:stretch>
              <a:fillRect l="0" t="-215" r="0" b="-215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254998" y="5761349"/>
            <a:ext cx="4839833" cy="342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8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Paths vs. Cycles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254998" y="6219196"/>
            <a:ext cx="4839833" cy="80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 </a:t>
            </a:r>
            <a:r>
              <a:rPr lang="en-US" sz="1501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path</a:t>
            </a:r>
            <a:r>
              <a:rPr lang="en-US" sz="15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is a walk with no repeated vertices. A </a:t>
            </a:r>
            <a:r>
              <a:rPr lang="en-US" sz="1501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cycle</a:t>
            </a:r>
            <a:r>
              <a:rPr lang="en-US" sz="15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returns to its start — relevant for detecting redundant or looped routes.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11917051" y="7385856"/>
            <a:ext cx="5401332" cy="1675924"/>
          </a:xfrm>
          <a:custGeom>
            <a:avLst/>
            <a:gdLst/>
            <a:ahLst/>
            <a:cxnLst/>
            <a:rect r="r" b="b" t="t" l="l"/>
            <a:pathLst>
              <a:path h="1675924" w="5401332">
                <a:moveTo>
                  <a:pt x="0" y="0"/>
                </a:moveTo>
                <a:lnTo>
                  <a:pt x="5401333" y="0"/>
                </a:lnTo>
                <a:lnTo>
                  <a:pt x="5401333" y="1675924"/>
                </a:lnTo>
                <a:lnTo>
                  <a:pt x="0" y="1675924"/>
                </a:lnTo>
                <a:lnTo>
                  <a:pt x="0" y="0"/>
                </a:lnTo>
                <a:close/>
              </a:path>
            </a:pathLst>
          </a:custGeom>
          <a:blipFill>
            <a:blip r:embed="R004b9fbfff9e44e7">
              <a:extLst>
                <a:ext uri="{96DAC541-7B7A-43D3-8B79-37D633B846F1}">
                  <asvg:svgBlip xmlns:asvg="http://schemas.microsoft.com/office/drawing/2016/SVG/main" r:embed="R8788fa909f0146c3"/>
                </a:ext>
              </a:extLst>
            </a:blip>
            <a:stretch>
              <a:fillRect l="0" t="-215" r="0" b="-215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254998" y="7571327"/>
            <a:ext cx="4839833" cy="342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8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Security Decision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254998" y="8029165"/>
            <a:ext cx="4839833" cy="80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An allowed path in G is the mathematical certificate that a message route is structurally authorised. No path ⟹ no communication.</a:t>
            </a:r>
          </a:p>
        </p:txBody>
      </p:sp>
    </p:spTree>
  </p:cSld>
  <p:clrMapOvr>
    <a:masterClrMapping/>
  </p:clrMapOvr>
  <p:transition spd="fast">
    <p:push dir="l"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39550"/>
            <a:ext cx="16315868" cy="795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7"/>
              </a:lnSpc>
            </a:pPr>
            <a:r>
              <a:rPr lang="en-US" sz="4653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Trees, Spanning Trees &amp; Key Distribution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991" y="2065411"/>
            <a:ext cx="8710803" cy="4936169"/>
            <a:chOff x="0" y="0"/>
            <a:chExt cx="11614404" cy="6581559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1614404" cy="6581521"/>
            </a:xfrm>
            <a:custGeom>
              <a:avLst/>
              <a:gdLst/>
              <a:ahLst/>
              <a:cxnLst/>
              <a:rect r="r" b="b" t="t" l="l"/>
              <a:pathLst>
                <a:path h="6581521" w="11614404">
                  <a:moveTo>
                    <a:pt x="0" y="0"/>
                  </a:moveTo>
                  <a:lnTo>
                    <a:pt x="11614404" y="0"/>
                  </a:lnTo>
                  <a:lnTo>
                    <a:pt x="11614404" y="6581521"/>
                  </a:lnTo>
                  <a:lnTo>
                    <a:pt x="0" y="65815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faf0bd7c82b54248"/>
              <a:stretch>
                <a:fillRect l="0" t="-5" r="0" b="-6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97468" y="3324311"/>
            <a:ext cx="7020773" cy="402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 b="true">
                <a:solidFill>
                  <a:srgbClr val="26A688"/>
                </a:solidFill>
                <a:latin typeface="Arimo Bold"/>
                <a:ea typeface="Arimo Bold"/>
                <a:cs typeface="Arimo Bold"/>
                <a:sym typeface="Arimo Bold"/>
              </a:rPr>
              <a:t>Trees as Structural Security Models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97468" y="3881228"/>
            <a:ext cx="7020773" cy="1106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 </a:t>
            </a:r>
            <a:r>
              <a:rPr lang="en-US" sz="1876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tree</a:t>
            </a:r>
            <a:r>
              <a:rPr lang="en-US" sz="18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is a connected acyclic graph. A </a:t>
            </a:r>
            <a:r>
              <a:rPr lang="en-US" sz="1876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spanning tree</a:t>
            </a:r>
            <a:r>
              <a:rPr lang="en-US" sz="18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of G is a subgraph that touches every vertex with no cycles — the minimal connected backbone of the campus network.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97468" y="5131460"/>
            <a:ext cx="7020773" cy="602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5"/>
              </a:lnSpc>
            </a:pPr>
            <a:r>
              <a:rPr lang="en-US" sz="15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Cayley's formula: there are </a:t>
            </a:r>
            <a:r>
              <a:rPr lang="en-US" sz="1501" i="true">
                <a:solidFill>
                  <a:srgbClr val="333F7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   </a:t>
            </a:r>
            <a:r>
              <a:rPr lang="en-US" sz="15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distinct labelled trees on n vertices — quantifying the structural richness of possible key-distribution topologies.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732048" y="5207698"/>
            <a:ext cx="367589" cy="243526"/>
            <a:chOff x="0" y="0"/>
            <a:chExt cx="490118" cy="324701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490093" cy="324739"/>
            </a:xfrm>
            <a:custGeom>
              <a:avLst/>
              <a:gdLst/>
              <a:ahLst/>
              <a:cxnLst/>
              <a:rect r="r" b="b" t="t" l="l"/>
              <a:pathLst>
                <a:path h="324739" w="490093">
                  <a:moveTo>
                    <a:pt x="0" y="0"/>
                  </a:moveTo>
                  <a:lnTo>
                    <a:pt x="490093" y="0"/>
                  </a:lnTo>
                  <a:lnTo>
                    <a:pt x="490093" y="324739"/>
                  </a:lnTo>
                  <a:lnTo>
                    <a:pt x="0" y="324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96dbb3ef61614886"/>
              <a:stretch>
                <a:fillRect l="0" t="-312" r="-5" b="-30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88219" y="7451093"/>
            <a:ext cx="8066484" cy="2061391"/>
            <a:chOff x="0" y="0"/>
            <a:chExt cx="10755312" cy="274852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55376" cy="2748534"/>
            </a:xfrm>
            <a:custGeom>
              <a:avLst/>
              <a:gdLst/>
              <a:ahLst/>
              <a:cxnLst/>
              <a:rect r="r" b="b" t="t" l="l"/>
              <a:pathLst>
                <a:path h="2748534" w="10755376">
                  <a:moveTo>
                    <a:pt x="0" y="134747"/>
                  </a:moveTo>
                  <a:cubicBezTo>
                    <a:pt x="0" y="60325"/>
                    <a:pt x="60325" y="0"/>
                    <a:pt x="134747" y="0"/>
                  </a:cubicBezTo>
                  <a:lnTo>
                    <a:pt x="10620629" y="0"/>
                  </a:lnTo>
                  <a:cubicBezTo>
                    <a:pt x="10695051" y="0"/>
                    <a:pt x="10755376" y="60325"/>
                    <a:pt x="10755376" y="134747"/>
                  </a:cubicBezTo>
                  <a:lnTo>
                    <a:pt x="10755376" y="2613787"/>
                  </a:lnTo>
                  <a:cubicBezTo>
                    <a:pt x="10755376" y="2688209"/>
                    <a:pt x="10695051" y="2748534"/>
                    <a:pt x="10620629" y="2748534"/>
                  </a:cubicBezTo>
                  <a:lnTo>
                    <a:pt x="134747" y="2748534"/>
                  </a:lnTo>
                  <a:cubicBezTo>
                    <a:pt x="60325" y="2748534"/>
                    <a:pt x="0" y="2688209"/>
                    <a:pt x="0" y="2613787"/>
                  </a:cubicBezTo>
                  <a:close/>
                </a:path>
              </a:pathLst>
            </a:custGeom>
            <a:solidFill>
              <a:srgbClr val="D6F5EE"/>
            </a:solidFill>
            <a:ln w="9532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241870" y="7676178"/>
            <a:ext cx="7559192" cy="402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Key Distribution Tree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41870" y="8152219"/>
            <a:ext cx="7559192" cy="753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 rooted spanning tree structures how a Key Distribution Centre propagates session keys to all nodes without redundant paths.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247137" y="7451093"/>
            <a:ext cx="8066484" cy="2061391"/>
            <a:chOff x="0" y="0"/>
            <a:chExt cx="10755312" cy="274852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55376" cy="2748534"/>
            </a:xfrm>
            <a:custGeom>
              <a:avLst/>
              <a:gdLst/>
              <a:ahLst/>
              <a:cxnLst/>
              <a:rect r="r" b="b" t="t" l="l"/>
              <a:pathLst>
                <a:path h="2748534" w="10755376">
                  <a:moveTo>
                    <a:pt x="0" y="134747"/>
                  </a:moveTo>
                  <a:cubicBezTo>
                    <a:pt x="0" y="60325"/>
                    <a:pt x="60325" y="0"/>
                    <a:pt x="134747" y="0"/>
                  </a:cubicBezTo>
                  <a:lnTo>
                    <a:pt x="10620629" y="0"/>
                  </a:lnTo>
                  <a:cubicBezTo>
                    <a:pt x="10695051" y="0"/>
                    <a:pt x="10755376" y="60325"/>
                    <a:pt x="10755376" y="134747"/>
                  </a:cubicBezTo>
                  <a:lnTo>
                    <a:pt x="10755376" y="2613787"/>
                  </a:lnTo>
                  <a:cubicBezTo>
                    <a:pt x="10755376" y="2688209"/>
                    <a:pt x="10695051" y="2748534"/>
                    <a:pt x="10620629" y="2748534"/>
                  </a:cubicBezTo>
                  <a:lnTo>
                    <a:pt x="134747" y="2748534"/>
                  </a:lnTo>
                  <a:cubicBezTo>
                    <a:pt x="60325" y="2748534"/>
                    <a:pt x="0" y="2688209"/>
                    <a:pt x="0" y="2613787"/>
                  </a:cubicBezTo>
                  <a:close/>
                </a:path>
              </a:pathLst>
            </a:custGeom>
            <a:solidFill>
              <a:srgbClr val="D6F5EE"/>
            </a:solidFill>
            <a:ln w="9532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9500787" y="7676178"/>
            <a:ext cx="7559192" cy="402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Bipartite Matching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500787" y="8152219"/>
            <a:ext cx="7559192" cy="1106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Model users-to-services as a bipartite graph G=(U∪S, E). Hall's theorem guarantees a perfect matching exists — every user is assigned an authorised service node.</a:t>
            </a:r>
          </a:p>
        </p:txBody>
      </p:sp>
    </p:spTree>
  </p:cSld>
  <p:clrMapOvr>
    <a:masterClrMapping/>
  </p:clrMapOvr>
  <p:transition spd="fast">
    <p:push dir="l"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cId6c6c099750da43e6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6a520c495eec4168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279d421e887b4d8d"/>
              <a:stretch>
                <a:fillRect l="-1" t="0" r="-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991" y="735378"/>
            <a:ext cx="9452677" cy="865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9"/>
              </a:lnSpc>
            </a:pPr>
            <a:r>
              <a:rPr lang="en-US" sz="5103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Thank You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85297" y="2157070"/>
            <a:ext cx="9060361" cy="880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0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Module 5 gives the architecture a mathematical model of who can communicate through which network structure.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991" y="1962045"/>
            <a:ext cx="28594" cy="1346464"/>
            <a:chOff x="0" y="0"/>
            <a:chExt cx="38125" cy="179528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8100" cy="1795272"/>
            </a:xfrm>
            <a:custGeom>
              <a:avLst/>
              <a:gdLst/>
              <a:ahLst/>
              <a:cxnLst/>
              <a:rect r="r" b="b" t="t" l="l"/>
              <a:pathLst>
                <a:path h="1795272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776222"/>
                  </a:lnTo>
                  <a:cubicBezTo>
                    <a:pt x="38100" y="1786763"/>
                    <a:pt x="29591" y="1795272"/>
                    <a:pt x="19050" y="1795272"/>
                  </a:cubicBezTo>
                  <a:cubicBezTo>
                    <a:pt x="8509" y="1795272"/>
                    <a:pt x="0" y="1786763"/>
                    <a:pt x="0" y="1776222"/>
                  </a:cubicBezTo>
                  <a:close/>
                </a:path>
              </a:pathLst>
            </a:custGeom>
            <a:solidFill>
              <a:srgbClr val="26A68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88219" y="3574961"/>
            <a:ext cx="9462211" cy="5941695"/>
            <a:chOff x="0" y="0"/>
            <a:chExt cx="12616282" cy="79222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616180" cy="7922260"/>
            </a:xfrm>
            <a:custGeom>
              <a:avLst/>
              <a:gdLst/>
              <a:ahLst/>
              <a:cxnLst/>
              <a:rect r="r" b="b" t="t" l="l"/>
              <a:pathLst>
                <a:path h="7922260" w="12616180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2469495" y="0"/>
                  </a:lnTo>
                  <a:cubicBezTo>
                    <a:pt x="12550521" y="0"/>
                    <a:pt x="12616180" y="65659"/>
                    <a:pt x="12616180" y="146685"/>
                  </a:cubicBezTo>
                  <a:lnTo>
                    <a:pt x="12616180" y="7775575"/>
                  </a:lnTo>
                  <a:cubicBezTo>
                    <a:pt x="12616180" y="7856601"/>
                    <a:pt x="12550521" y="7922260"/>
                    <a:pt x="12469495" y="7922260"/>
                  </a:cubicBezTo>
                  <a:lnTo>
                    <a:pt x="146685" y="7922260"/>
                  </a:lnTo>
                  <a:cubicBezTo>
                    <a:pt x="65659" y="7922260"/>
                    <a:pt x="0" y="7856601"/>
                    <a:pt x="0" y="7775575"/>
                  </a:cubicBezTo>
                  <a:close/>
                </a:path>
              </a:pathLst>
            </a:custGeom>
            <a:solidFill>
              <a:srgbClr val="D6F5EE"/>
            </a:solidFill>
            <a:ln w="9532" cap="sq">
              <a:solidFill>
                <a:srgbClr val="BCDBD4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002525" y="3589268"/>
            <a:ext cx="9433608" cy="1478270"/>
            <a:chOff x="0" y="0"/>
            <a:chExt cx="12578144" cy="197102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578080" cy="1971040"/>
            </a:xfrm>
            <a:custGeom>
              <a:avLst/>
              <a:gdLst/>
              <a:ahLst/>
              <a:cxnLst/>
              <a:rect r="r" b="b" t="t" l="l"/>
              <a:pathLst>
                <a:path h="1971040" w="12578080">
                  <a:moveTo>
                    <a:pt x="122047" y="0"/>
                  </a:moveTo>
                  <a:lnTo>
                    <a:pt x="12456033" y="0"/>
                  </a:lnTo>
                  <a:cubicBezTo>
                    <a:pt x="12523470" y="0"/>
                    <a:pt x="12578080" y="54610"/>
                    <a:pt x="12578080" y="122047"/>
                  </a:cubicBezTo>
                  <a:lnTo>
                    <a:pt x="12578080" y="1971040"/>
                  </a:lnTo>
                  <a:lnTo>
                    <a:pt x="0" y="1971040"/>
                  </a:lnTo>
                  <a:lnTo>
                    <a:pt x="0" y="122047"/>
                  </a:lnTo>
                  <a:cubicBezTo>
                    <a:pt x="0" y="54610"/>
                    <a:pt x="54610" y="0"/>
                    <a:pt x="122047" y="0"/>
                  </a:cubicBezTo>
                  <a:close/>
                </a:path>
              </a:pathLst>
            </a:custGeom>
            <a:solidFill>
              <a:srgbClr val="D6F5EE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64063" y="3831765"/>
            <a:ext cx="8910533" cy="427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Graph G=(V,E)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64063" y="4327789"/>
            <a:ext cx="8910533" cy="478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0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Vertices, edges and allowed communication links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02525" y="5067538"/>
            <a:ext cx="9433608" cy="1478270"/>
            <a:chOff x="0" y="0"/>
            <a:chExt cx="12578144" cy="197102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578207" cy="1971040"/>
            </a:xfrm>
            <a:custGeom>
              <a:avLst/>
              <a:gdLst/>
              <a:ahLst/>
              <a:cxnLst/>
              <a:rect r="r" b="b" t="t" l="l"/>
              <a:pathLst>
                <a:path h="1971040" w="12578207">
                  <a:moveTo>
                    <a:pt x="0" y="0"/>
                  </a:moveTo>
                  <a:lnTo>
                    <a:pt x="12578207" y="0"/>
                  </a:lnTo>
                  <a:lnTo>
                    <a:pt x="12578207" y="1971040"/>
                  </a:lnTo>
                  <a:lnTo>
                    <a:pt x="0" y="197104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02525" y="5067538"/>
            <a:ext cx="9433608" cy="28594"/>
            <a:chOff x="0" y="0"/>
            <a:chExt cx="12578144" cy="3812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578080" cy="38100"/>
            </a:xfrm>
            <a:custGeom>
              <a:avLst/>
              <a:gdLst/>
              <a:ahLst/>
              <a:cxnLst/>
              <a:rect r="r" b="b" t="t" l="l"/>
              <a:pathLst>
                <a:path h="38100" w="1257808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2559030" y="0"/>
                  </a:lnTo>
                  <a:cubicBezTo>
                    <a:pt x="12569572" y="0"/>
                    <a:pt x="12578080" y="8509"/>
                    <a:pt x="12578080" y="19050"/>
                  </a:cubicBezTo>
                  <a:cubicBezTo>
                    <a:pt x="12578080" y="29591"/>
                    <a:pt x="12569572" y="38100"/>
                    <a:pt x="1255903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BCDBD4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64063" y="5310035"/>
            <a:ext cx="8910533" cy="427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Connectivity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64063" y="5806069"/>
            <a:ext cx="8910533" cy="478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0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Structural reachability as the security certificate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02525" y="6545809"/>
            <a:ext cx="9433608" cy="1478270"/>
            <a:chOff x="0" y="0"/>
            <a:chExt cx="12578144" cy="197102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578207" cy="1971040"/>
            </a:xfrm>
            <a:custGeom>
              <a:avLst/>
              <a:gdLst/>
              <a:ahLst/>
              <a:cxnLst/>
              <a:rect r="r" b="b" t="t" l="l"/>
              <a:pathLst>
                <a:path h="1971040" w="12578207">
                  <a:moveTo>
                    <a:pt x="0" y="0"/>
                  </a:moveTo>
                  <a:lnTo>
                    <a:pt x="12578207" y="0"/>
                  </a:lnTo>
                  <a:lnTo>
                    <a:pt x="12578207" y="1971040"/>
                  </a:lnTo>
                  <a:lnTo>
                    <a:pt x="0" y="197104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02525" y="6545809"/>
            <a:ext cx="9433608" cy="28594"/>
            <a:chOff x="0" y="0"/>
            <a:chExt cx="12578144" cy="3812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578080" cy="38100"/>
            </a:xfrm>
            <a:custGeom>
              <a:avLst/>
              <a:gdLst/>
              <a:ahLst/>
              <a:cxnLst/>
              <a:rect r="r" b="b" t="t" l="l"/>
              <a:pathLst>
                <a:path h="38100" w="1257808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2559030" y="0"/>
                  </a:lnTo>
                  <a:cubicBezTo>
                    <a:pt x="12569572" y="0"/>
                    <a:pt x="12578080" y="8509"/>
                    <a:pt x="12578080" y="19050"/>
                  </a:cubicBezTo>
                  <a:cubicBezTo>
                    <a:pt x="12578080" y="29591"/>
                    <a:pt x="12569572" y="38100"/>
                    <a:pt x="1255903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BCDBD4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264063" y="6788306"/>
            <a:ext cx="8910533" cy="427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Spanning Trees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64063" y="7284339"/>
            <a:ext cx="8910533" cy="478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0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Minimal backbone for key distribution topology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002525" y="8024089"/>
            <a:ext cx="9433608" cy="1478270"/>
            <a:chOff x="0" y="0"/>
            <a:chExt cx="12578144" cy="197102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578207" cy="1971040"/>
            </a:xfrm>
            <a:custGeom>
              <a:avLst/>
              <a:gdLst/>
              <a:ahLst/>
              <a:cxnLst/>
              <a:rect r="r" b="b" t="t" l="l"/>
              <a:pathLst>
                <a:path h="1971040" w="12578207">
                  <a:moveTo>
                    <a:pt x="0" y="0"/>
                  </a:moveTo>
                  <a:lnTo>
                    <a:pt x="12578207" y="0"/>
                  </a:lnTo>
                  <a:lnTo>
                    <a:pt x="12578207" y="1848993"/>
                  </a:lnTo>
                  <a:cubicBezTo>
                    <a:pt x="12578207" y="1916430"/>
                    <a:pt x="12523597" y="1971040"/>
                    <a:pt x="12456160" y="1971040"/>
                  </a:cubicBezTo>
                  <a:lnTo>
                    <a:pt x="122174" y="1971040"/>
                  </a:lnTo>
                  <a:cubicBezTo>
                    <a:pt x="54610" y="1971040"/>
                    <a:pt x="0" y="1916430"/>
                    <a:pt x="0" y="18489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02525" y="8024089"/>
            <a:ext cx="9433608" cy="28594"/>
            <a:chOff x="0" y="0"/>
            <a:chExt cx="12578144" cy="3812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578080" cy="38100"/>
            </a:xfrm>
            <a:custGeom>
              <a:avLst/>
              <a:gdLst/>
              <a:ahLst/>
              <a:cxnLst/>
              <a:rect r="r" b="b" t="t" l="l"/>
              <a:pathLst>
                <a:path h="38100" w="1257808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2559030" y="0"/>
                  </a:lnTo>
                  <a:cubicBezTo>
                    <a:pt x="12569572" y="0"/>
                    <a:pt x="12578080" y="8509"/>
                    <a:pt x="12578080" y="19050"/>
                  </a:cubicBezTo>
                  <a:cubicBezTo>
                    <a:pt x="12578080" y="29591"/>
                    <a:pt x="12569572" y="38100"/>
                    <a:pt x="1255903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BCDBD4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264063" y="8266586"/>
            <a:ext cx="8910533" cy="427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55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Bipartite Matching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64063" y="8762609"/>
            <a:ext cx="8910533" cy="478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2"/>
              </a:lnSpc>
            </a:pPr>
            <a:r>
              <a:rPr lang="en-US" sz="20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Hall's theorem for user-to-service authorisation</a:t>
            </a:r>
          </a:p>
        </p:txBody>
      </p:sp>
    </p:spTree>
  </p:cSld>
  <p:clrMapOvr>
    <a:masterClrMapping/>
  </p:clrMapOvr>
  <p:transition spd="fast">
    <p:push dir="l"/>
  </p:transition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cIdb0c5387451f54567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e5980d7d614445c8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8649" y="0"/>
            <a:ext cx="6863191" cy="10295039"/>
            <a:chOff x="0" y="0"/>
            <a:chExt cx="9150922" cy="13726719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a1d5392d34d84f73"/>
              <a:stretch>
                <a:fillRect l="-1" t="0" r="-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991" y="2213058"/>
            <a:ext cx="9452677" cy="271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A Mathematical Security Architecture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991" y="5015132"/>
            <a:ext cx="9452677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Module 6 — The Integrity &amp; Validation Lock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991" y="5836301"/>
            <a:ext cx="9452677" cy="143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Algebraic Structures, Error Control &amp; Discrete Mathematics — the final layer of the six-lock architecture, completing the chain from Logic to Algebra.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92991" y="7593635"/>
            <a:ext cx="2025148" cy="431044"/>
            <a:chOff x="0" y="0"/>
            <a:chExt cx="2700198" cy="57472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00147" cy="574675"/>
            </a:xfrm>
            <a:custGeom>
              <a:avLst/>
              <a:gdLst/>
              <a:ahLst/>
              <a:cxnLst/>
              <a:rect r="r" b="b" t="t" l="l"/>
              <a:pathLst>
                <a:path h="574675" w="2700147">
                  <a:moveTo>
                    <a:pt x="0" y="127127"/>
                  </a:moveTo>
                  <a:cubicBezTo>
                    <a:pt x="0" y="56896"/>
                    <a:pt x="56896" y="0"/>
                    <a:pt x="127127" y="0"/>
                  </a:cubicBezTo>
                  <a:lnTo>
                    <a:pt x="2573020" y="0"/>
                  </a:lnTo>
                  <a:cubicBezTo>
                    <a:pt x="2643251" y="0"/>
                    <a:pt x="2700147" y="56896"/>
                    <a:pt x="2700147" y="127127"/>
                  </a:cubicBezTo>
                  <a:lnTo>
                    <a:pt x="2700147" y="447548"/>
                  </a:lnTo>
                  <a:cubicBezTo>
                    <a:pt x="2700147" y="517779"/>
                    <a:pt x="2643251" y="574675"/>
                    <a:pt x="2573020" y="574675"/>
                  </a:cubicBezTo>
                  <a:lnTo>
                    <a:pt x="127127" y="574675"/>
                  </a:lnTo>
                  <a:cubicBezTo>
                    <a:pt x="56896" y="574675"/>
                    <a:pt x="0" y="517779"/>
                    <a:pt x="0" y="447548"/>
                  </a:cubicBezTo>
                  <a:close/>
                </a:path>
              </a:pathLst>
            </a:custGeom>
            <a:solidFill>
              <a:srgbClr val="D6F5EE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163231" y="7697734"/>
            <a:ext cx="2599763" cy="241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sz="17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MODULE 6 OF 6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3155156" y="7588872"/>
            <a:ext cx="3380804" cy="440579"/>
            <a:chOff x="0" y="0"/>
            <a:chExt cx="4507738" cy="5874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507738" cy="587375"/>
            </a:xfrm>
            <a:custGeom>
              <a:avLst/>
              <a:gdLst/>
              <a:ahLst/>
              <a:cxnLst/>
              <a:rect r="r" b="b" t="t" l="l"/>
              <a:pathLst>
                <a:path h="587375" w="4507738">
                  <a:moveTo>
                    <a:pt x="0" y="129921"/>
                  </a:moveTo>
                  <a:cubicBezTo>
                    <a:pt x="0" y="58166"/>
                    <a:pt x="58166" y="0"/>
                    <a:pt x="129921" y="0"/>
                  </a:cubicBezTo>
                  <a:lnTo>
                    <a:pt x="4377817" y="0"/>
                  </a:lnTo>
                  <a:cubicBezTo>
                    <a:pt x="4449572" y="0"/>
                    <a:pt x="4507738" y="58166"/>
                    <a:pt x="4507738" y="129921"/>
                  </a:cubicBezTo>
                  <a:lnTo>
                    <a:pt x="4507738" y="457454"/>
                  </a:lnTo>
                  <a:cubicBezTo>
                    <a:pt x="4507738" y="529209"/>
                    <a:pt x="4449572" y="587375"/>
                    <a:pt x="4377817" y="587375"/>
                  </a:cubicBezTo>
                  <a:lnTo>
                    <a:pt x="129921" y="587375"/>
                  </a:lnTo>
                  <a:cubicBezTo>
                    <a:pt x="58166" y="587375"/>
                    <a:pt x="0" y="529209"/>
                    <a:pt x="0" y="457454"/>
                  </a:cubicBezTo>
                  <a:close/>
                </a:path>
              </a:pathLst>
            </a:custGeom>
            <a:blipFill>
              <a:blip r:embed="Rda5405032a7041a3">
                <a:alphaModFix amt="0"/>
              </a:blip>
              <a:stretch>
                <a:fillRect l="0" t="-99530" r="0" b="-99540"/>
              </a:stretch>
            </a:blipFill>
            <a:ln w="9532" cap="sq">
              <a:solidFill>
                <a:srgbClr val="26A688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3330169" y="7697734"/>
            <a:ext cx="3945884" cy="241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sz="1726">
                <a:solidFill>
                  <a:srgbClr val="26A688"/>
                </a:solidFill>
                <a:latin typeface="Open Sans"/>
                <a:ea typeface="Open Sans"/>
                <a:cs typeface="Open Sans"/>
                <a:sym typeface="Open Sans"/>
              </a:rPr>
              <a:t>BBA MATHEMATICS PROJECT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013298"/>
            <a:ext cx="16315868" cy="744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6"/>
              </a:lnSpc>
            </a:pPr>
            <a:r>
              <a:rPr lang="en-US" sz="4428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The Message Integrity &amp; Validation Lock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2179530"/>
            <a:ext cx="7882090" cy="381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Core Principle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991" y="2712901"/>
            <a:ext cx="7882090" cy="1003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 transmitted message must remain </a:t>
            </a:r>
            <a:r>
              <a:rPr lang="en-US" sz="1726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mathematically consistent</a:t>
            </a:r>
            <a:r>
              <a:rPr lang="en-US" sz="17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at the receiver. If the received codeword fails the integrity condition, the validation layer </a:t>
            </a:r>
            <a:r>
              <a:rPr lang="en-US" sz="1726">
                <a:solidFill>
                  <a:srgbClr val="26A688"/>
                </a:solidFill>
                <a:latin typeface="Open Sans"/>
                <a:ea typeface="Open Sans"/>
                <a:cs typeface="Open Sans"/>
                <a:sym typeface="Open Sans"/>
              </a:rPr>
              <a:t>rejects</a:t>
            </a:r>
            <a:r>
              <a:rPr lang="en-US" sz="17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it — corrupted data is never accepted.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36294" y="2179530"/>
            <a:ext cx="7882090" cy="381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Worked Example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431522" y="2759192"/>
            <a:ext cx="3860549" cy="1339158"/>
            <a:chOff x="0" y="0"/>
            <a:chExt cx="5147399" cy="17855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47437" cy="1785493"/>
            </a:xfrm>
            <a:custGeom>
              <a:avLst/>
              <a:gdLst/>
              <a:ahLst/>
              <a:cxnLst/>
              <a:rect r="r" b="b" t="t" l="l"/>
              <a:pathLst>
                <a:path h="1785493" w="5147437">
                  <a:moveTo>
                    <a:pt x="0" y="127508"/>
                  </a:moveTo>
                  <a:cubicBezTo>
                    <a:pt x="0" y="57150"/>
                    <a:pt x="57150" y="0"/>
                    <a:pt x="127508" y="0"/>
                  </a:cubicBezTo>
                  <a:lnTo>
                    <a:pt x="5019929" y="0"/>
                  </a:lnTo>
                  <a:cubicBezTo>
                    <a:pt x="5090414" y="0"/>
                    <a:pt x="5147437" y="57150"/>
                    <a:pt x="5147437" y="127508"/>
                  </a:cubicBezTo>
                  <a:lnTo>
                    <a:pt x="5147437" y="1657985"/>
                  </a:lnTo>
                  <a:cubicBezTo>
                    <a:pt x="5147437" y="1728470"/>
                    <a:pt x="5090287" y="1785493"/>
                    <a:pt x="5019929" y="1785493"/>
                  </a:cubicBezTo>
                  <a:lnTo>
                    <a:pt x="127508" y="1785493"/>
                  </a:lnTo>
                  <a:cubicBezTo>
                    <a:pt x="57150" y="1785493"/>
                    <a:pt x="0" y="1728470"/>
                    <a:pt x="0" y="1657985"/>
                  </a:cubicBezTo>
                  <a:close/>
                </a:path>
              </a:pathLst>
            </a:custGeom>
            <a:solidFill>
              <a:srgbClr val="D6F5EE"/>
            </a:solidFill>
            <a:ln w="9532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671914" y="2971019"/>
            <a:ext cx="3379765" cy="381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x = 101</a:t>
            </a:r>
            <a:r>
              <a:rPr lang="en-US" sz="2176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  <a:r>
              <a:rPr lang="en-US" sz="21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71914" y="3504390"/>
            <a:ext cx="3379765" cy="353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Transmitted string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462606" y="2759192"/>
            <a:ext cx="3860549" cy="1339158"/>
            <a:chOff x="0" y="0"/>
            <a:chExt cx="5147399" cy="17855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47437" cy="1785493"/>
            </a:xfrm>
            <a:custGeom>
              <a:avLst/>
              <a:gdLst/>
              <a:ahLst/>
              <a:cxnLst/>
              <a:rect r="r" b="b" t="t" l="l"/>
              <a:pathLst>
                <a:path h="1785493" w="5147437">
                  <a:moveTo>
                    <a:pt x="0" y="127508"/>
                  </a:moveTo>
                  <a:cubicBezTo>
                    <a:pt x="0" y="57150"/>
                    <a:pt x="57150" y="0"/>
                    <a:pt x="127508" y="0"/>
                  </a:cubicBezTo>
                  <a:lnTo>
                    <a:pt x="5019929" y="0"/>
                  </a:lnTo>
                  <a:cubicBezTo>
                    <a:pt x="5090414" y="0"/>
                    <a:pt x="5147437" y="57150"/>
                    <a:pt x="5147437" y="127508"/>
                  </a:cubicBezTo>
                  <a:lnTo>
                    <a:pt x="5147437" y="1657985"/>
                  </a:lnTo>
                  <a:cubicBezTo>
                    <a:pt x="5147437" y="1728470"/>
                    <a:pt x="5090287" y="1785493"/>
                    <a:pt x="5019929" y="1785493"/>
                  </a:cubicBezTo>
                  <a:lnTo>
                    <a:pt x="127508" y="1785493"/>
                  </a:lnTo>
                  <a:cubicBezTo>
                    <a:pt x="57150" y="1785493"/>
                    <a:pt x="0" y="1728470"/>
                    <a:pt x="0" y="1657985"/>
                  </a:cubicBezTo>
                  <a:close/>
                </a:path>
              </a:pathLst>
            </a:custGeom>
            <a:solidFill>
              <a:srgbClr val="D6F5EE"/>
            </a:solidFill>
            <a:ln w="9532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3702998" y="2971019"/>
            <a:ext cx="3379765" cy="381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y = 100101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702998" y="3504390"/>
            <a:ext cx="3379765" cy="353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Received string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431522" y="4268895"/>
            <a:ext cx="7891624" cy="1339158"/>
            <a:chOff x="0" y="0"/>
            <a:chExt cx="10522166" cy="178554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522203" cy="1785493"/>
            </a:xfrm>
            <a:custGeom>
              <a:avLst/>
              <a:gdLst/>
              <a:ahLst/>
              <a:cxnLst/>
              <a:rect r="r" b="b" t="t" l="l"/>
              <a:pathLst>
                <a:path h="1785493" w="10522203">
                  <a:moveTo>
                    <a:pt x="0" y="127508"/>
                  </a:moveTo>
                  <a:cubicBezTo>
                    <a:pt x="0" y="57150"/>
                    <a:pt x="57150" y="0"/>
                    <a:pt x="127508" y="0"/>
                  </a:cubicBezTo>
                  <a:lnTo>
                    <a:pt x="10394696" y="0"/>
                  </a:lnTo>
                  <a:cubicBezTo>
                    <a:pt x="10465181" y="0"/>
                    <a:pt x="10522203" y="57150"/>
                    <a:pt x="10522203" y="127508"/>
                  </a:cubicBezTo>
                  <a:lnTo>
                    <a:pt x="10522203" y="1657985"/>
                  </a:lnTo>
                  <a:cubicBezTo>
                    <a:pt x="10522203" y="1728470"/>
                    <a:pt x="10465053" y="1785493"/>
                    <a:pt x="10394696" y="1785493"/>
                  </a:cubicBezTo>
                  <a:lnTo>
                    <a:pt x="127508" y="1785493"/>
                  </a:lnTo>
                  <a:cubicBezTo>
                    <a:pt x="57150" y="1785493"/>
                    <a:pt x="0" y="1728470"/>
                    <a:pt x="0" y="1657985"/>
                  </a:cubicBezTo>
                  <a:close/>
                </a:path>
              </a:pathLst>
            </a:custGeom>
            <a:solidFill>
              <a:srgbClr val="D6F5EE"/>
            </a:solidFill>
            <a:ln w="9532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9671914" y="4480722"/>
            <a:ext cx="7410850" cy="381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d(x, y) = 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71914" y="5014093"/>
            <a:ext cx="7410850" cy="353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One position differs — error detected at bit 4.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436294" y="5805859"/>
            <a:ext cx="7882090" cy="1411996"/>
            <a:chOff x="0" y="0"/>
            <a:chExt cx="10509453" cy="188266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509503" cy="1882648"/>
            </a:xfrm>
            <a:custGeom>
              <a:avLst/>
              <a:gdLst/>
              <a:ahLst/>
              <a:cxnLst/>
              <a:rect r="r" b="b" t="t" l="l"/>
              <a:pathLst>
                <a:path h="1882648" w="10509503">
                  <a:moveTo>
                    <a:pt x="0" y="126619"/>
                  </a:moveTo>
                  <a:cubicBezTo>
                    <a:pt x="0" y="56642"/>
                    <a:pt x="56642" y="0"/>
                    <a:pt x="126619" y="0"/>
                  </a:cubicBezTo>
                  <a:lnTo>
                    <a:pt x="10382885" y="0"/>
                  </a:lnTo>
                  <a:cubicBezTo>
                    <a:pt x="10452862" y="0"/>
                    <a:pt x="10509503" y="56642"/>
                    <a:pt x="10509503" y="126619"/>
                  </a:cubicBezTo>
                  <a:lnTo>
                    <a:pt x="10509503" y="1756029"/>
                  </a:lnTo>
                  <a:cubicBezTo>
                    <a:pt x="10509503" y="1826006"/>
                    <a:pt x="10452862" y="1882648"/>
                    <a:pt x="10382885" y="1882648"/>
                  </a:cubicBezTo>
                  <a:lnTo>
                    <a:pt x="126619" y="1882648"/>
                  </a:lnTo>
                  <a:cubicBezTo>
                    <a:pt x="56642" y="1882648"/>
                    <a:pt x="0" y="1826006"/>
                    <a:pt x="0" y="1756029"/>
                  </a:cubicBez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662379" y="6092276"/>
            <a:ext cx="282540" cy="226095"/>
            <a:chOff x="0" y="0"/>
            <a:chExt cx="376720" cy="30146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376682" cy="301498"/>
            </a:xfrm>
            <a:custGeom>
              <a:avLst/>
              <a:gdLst/>
              <a:ahLst/>
              <a:cxnLst/>
              <a:rect r="r" b="b" t="t" l="l"/>
              <a:pathLst>
                <a:path h="301498" w="376682">
                  <a:moveTo>
                    <a:pt x="0" y="0"/>
                  </a:moveTo>
                  <a:lnTo>
                    <a:pt x="376682" y="0"/>
                  </a:lnTo>
                  <a:lnTo>
                    <a:pt x="376682" y="301498"/>
                  </a:lnTo>
                  <a:lnTo>
                    <a:pt x="0" y="3014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0e7b8a2efc0b4cdd"/>
              <a:stretch>
                <a:fillRect l="-13" t="0" r="-26" b="12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0171014" y="5995787"/>
            <a:ext cx="6921275" cy="1003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Hamming bound guarantees that beyond a threshold distance, no code can both detect and correct all errors — a fundamental limit from combinatorics.</a:t>
            </a:r>
          </a:p>
        </p:txBody>
      </p:sp>
      <p:sp>
        <p:nvSpPr>
          <p:cNvPr name="Freeform 27" id="27" descr="preencoded.png"/>
          <p:cNvSpPr/>
          <p:nvPr/>
        </p:nvSpPr>
        <p:spPr>
          <a:xfrm flipH="false" flipV="false" rot="0">
            <a:off x="992991" y="7622981"/>
            <a:ext cx="5318522" cy="1620669"/>
          </a:xfrm>
          <a:custGeom>
            <a:avLst/>
            <a:gdLst/>
            <a:ahLst/>
            <a:cxnLst/>
            <a:rect r="r" b="b" t="t" l="l"/>
            <a:pathLst>
              <a:path h="1620669" w="5318522">
                <a:moveTo>
                  <a:pt x="0" y="0"/>
                </a:moveTo>
                <a:lnTo>
                  <a:pt x="5318522" y="0"/>
                </a:lnTo>
                <a:lnTo>
                  <a:pt x="5318522" y="1620670"/>
                </a:lnTo>
                <a:lnTo>
                  <a:pt x="0" y="1620670"/>
                </a:lnTo>
                <a:lnTo>
                  <a:pt x="0" y="0"/>
                </a:lnTo>
                <a:close/>
              </a:path>
            </a:pathLst>
          </a:custGeom>
          <a:blipFill>
            <a:blip r:embed="R21049d3da8314ca3">
              <a:extLst>
                <a:ext uri="{96DAC541-7B7A-43D3-8B79-37D633B846F1}">
                  <asvg:svgBlip xmlns:asvg="http://schemas.microsoft.com/office/drawing/2016/SVG/main" r:embed="Rcce8b21b9ccf42db"/>
                </a:ext>
              </a:extLst>
            </a:blip>
            <a:stretch>
              <a:fillRect l="0" t="-487" r="0" b="-487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362065" y="7849095"/>
            <a:ext cx="4694758" cy="381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Parity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62065" y="8310382"/>
            <a:ext cx="4694758" cy="678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 basic method for detecting single-bit transmission errors using an extra check bit.</a:t>
            </a:r>
          </a:p>
        </p:txBody>
      </p:sp>
      <p:sp>
        <p:nvSpPr>
          <p:cNvPr name="Freeform 30" id="30" descr="preencoded.png"/>
          <p:cNvSpPr/>
          <p:nvPr/>
        </p:nvSpPr>
        <p:spPr>
          <a:xfrm flipH="false" flipV="false" rot="0">
            <a:off x="6491583" y="7622981"/>
            <a:ext cx="5318522" cy="1620669"/>
          </a:xfrm>
          <a:custGeom>
            <a:avLst/>
            <a:gdLst/>
            <a:ahLst/>
            <a:cxnLst/>
            <a:rect r="r" b="b" t="t" l="l"/>
            <a:pathLst>
              <a:path h="1620669" w="5318522">
                <a:moveTo>
                  <a:pt x="0" y="0"/>
                </a:moveTo>
                <a:lnTo>
                  <a:pt x="5318522" y="0"/>
                </a:lnTo>
                <a:lnTo>
                  <a:pt x="5318522" y="1620670"/>
                </a:lnTo>
                <a:lnTo>
                  <a:pt x="0" y="1620670"/>
                </a:lnTo>
                <a:lnTo>
                  <a:pt x="0" y="0"/>
                </a:lnTo>
                <a:close/>
              </a:path>
            </a:pathLst>
          </a:custGeom>
          <a:blipFill>
            <a:blip r:embed="R21049d3da8314ca3">
              <a:extLst>
                <a:ext uri="{96DAC541-7B7A-43D3-8B79-37D633B846F1}">
                  <asvg:svgBlip xmlns:asvg="http://schemas.microsoft.com/office/drawing/2016/SVG/main" r:embed="Rcce8b21b9ccf42db"/>
                </a:ext>
              </a:extLst>
            </a:blip>
            <a:stretch>
              <a:fillRect l="0" t="-487" r="0" b="-487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6860657" y="7849095"/>
            <a:ext cx="4694758" cy="381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Hamming Distance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860657" y="8310382"/>
            <a:ext cx="4694758" cy="678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d(x, y)</a:t>
            </a:r>
            <a:r>
              <a:rPr lang="en-US" sz="17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counts the number of positions where two binary strings differ.</a:t>
            </a:r>
          </a:p>
        </p:txBody>
      </p:sp>
      <p:sp>
        <p:nvSpPr>
          <p:cNvPr name="Freeform 33" id="33" descr="preencoded.png"/>
          <p:cNvSpPr/>
          <p:nvPr/>
        </p:nvSpPr>
        <p:spPr>
          <a:xfrm flipH="false" flipV="false" rot="0">
            <a:off x="11990175" y="7622981"/>
            <a:ext cx="5318674" cy="1620669"/>
          </a:xfrm>
          <a:custGeom>
            <a:avLst/>
            <a:gdLst/>
            <a:ahLst/>
            <a:cxnLst/>
            <a:rect r="r" b="b" t="t" l="l"/>
            <a:pathLst>
              <a:path h="1620669" w="5318674">
                <a:moveTo>
                  <a:pt x="0" y="0"/>
                </a:moveTo>
                <a:lnTo>
                  <a:pt x="5318674" y="0"/>
                </a:lnTo>
                <a:lnTo>
                  <a:pt x="5318674" y="1620670"/>
                </a:lnTo>
                <a:lnTo>
                  <a:pt x="0" y="1620670"/>
                </a:lnTo>
                <a:lnTo>
                  <a:pt x="0" y="0"/>
                </a:lnTo>
                <a:close/>
              </a:path>
            </a:pathLst>
          </a:custGeom>
          <a:blipFill>
            <a:blip r:embed="R21049d3da8314ca3">
              <a:extLst>
                <a:ext uri="{96DAC541-7B7A-43D3-8B79-37D633B846F1}">
                  <asvg:svgBlip xmlns:asvg="http://schemas.microsoft.com/office/drawing/2016/SVG/main" r:embed="Rcce8b21b9ccf42db"/>
                </a:ext>
              </a:extLst>
            </a:blip>
            <a:stretch>
              <a:fillRect l="0" t="-488" r="0" b="-488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2359249" y="7849095"/>
            <a:ext cx="4694911" cy="381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Hamming Bound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359249" y="8310382"/>
            <a:ext cx="4694911" cy="678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17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 mathematical counting limit on how many errors a code can correct.</a:t>
            </a:r>
          </a:p>
        </p:txBody>
      </p:sp>
    </p:spTree>
  </p:cSld>
  <p:clrMapOvr>
    <a:masterClrMapping/>
  </p:clrMapOvr>
  <p:transition spd="fast">
    <p:push dir="l"/>
  </p:transition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939279"/>
            <a:ext cx="16315868" cy="1516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4"/>
              </a:lnSpc>
            </a:pPr>
            <a:r>
              <a:rPr lang="en-US" sz="4578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Boolean Algebra: One Mathematical Acceptance Decision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2884656"/>
            <a:ext cx="8715718" cy="2083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62"/>
              </a:lnSpc>
            </a:pPr>
            <a:r>
              <a:rPr lang="en-US" sz="6379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ACCEPT = A ∧ P ∧ K ∧ R ∧ I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88219" y="5182372"/>
            <a:ext cx="8725252" cy="3911584"/>
            <a:chOff x="0" y="0"/>
            <a:chExt cx="11633670" cy="52154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633708" cy="5215509"/>
            </a:xfrm>
            <a:custGeom>
              <a:avLst/>
              <a:gdLst/>
              <a:ahLst/>
              <a:cxnLst/>
              <a:rect r="r" b="b" t="t" l="l"/>
              <a:pathLst>
                <a:path h="5215509" w="11633708">
                  <a:moveTo>
                    <a:pt x="0" y="131953"/>
                  </a:moveTo>
                  <a:cubicBezTo>
                    <a:pt x="0" y="59055"/>
                    <a:pt x="59055" y="0"/>
                    <a:pt x="131953" y="0"/>
                  </a:cubicBezTo>
                  <a:lnTo>
                    <a:pt x="11501755" y="0"/>
                  </a:lnTo>
                  <a:cubicBezTo>
                    <a:pt x="11574653" y="0"/>
                    <a:pt x="11633708" y="59055"/>
                    <a:pt x="11633708" y="131953"/>
                  </a:cubicBezTo>
                  <a:lnTo>
                    <a:pt x="11633708" y="5083556"/>
                  </a:lnTo>
                  <a:cubicBezTo>
                    <a:pt x="11633708" y="5156454"/>
                    <a:pt x="11574653" y="5215509"/>
                    <a:pt x="11501755" y="5215509"/>
                  </a:cubicBezTo>
                  <a:lnTo>
                    <a:pt x="131953" y="5215509"/>
                  </a:lnTo>
                  <a:cubicBezTo>
                    <a:pt x="59055" y="5215382"/>
                    <a:pt x="0" y="5156327"/>
                    <a:pt x="0" y="5083556"/>
                  </a:cubicBezTo>
                  <a:close/>
                </a:path>
              </a:pathLst>
            </a:custGeom>
            <a:solidFill>
              <a:srgbClr val="D6F5EE"/>
            </a:solidFill>
            <a:ln w="9532" cap="sq">
              <a:solidFill>
                <a:srgbClr val="BCDBD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02525" y="5196669"/>
            <a:ext cx="4348324" cy="1294324"/>
            <a:chOff x="0" y="0"/>
            <a:chExt cx="5797766" cy="172576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97804" cy="1725803"/>
            </a:xfrm>
            <a:custGeom>
              <a:avLst/>
              <a:gdLst/>
              <a:ahLst/>
              <a:cxnLst/>
              <a:rect r="r" b="b" t="t" l="l"/>
              <a:pathLst>
                <a:path h="1725803" w="5797804">
                  <a:moveTo>
                    <a:pt x="109601" y="0"/>
                  </a:moveTo>
                  <a:lnTo>
                    <a:pt x="5797804" y="0"/>
                  </a:lnTo>
                  <a:lnTo>
                    <a:pt x="5797804" y="1725803"/>
                  </a:lnTo>
                  <a:lnTo>
                    <a:pt x="0" y="1725803"/>
                  </a:lnTo>
                  <a:lnTo>
                    <a:pt x="0" y="109601"/>
                  </a:lnTo>
                  <a:cubicBezTo>
                    <a:pt x="0" y="49149"/>
                    <a:pt x="49149" y="0"/>
                    <a:pt x="109601" y="0"/>
                  </a:cubicBezTo>
                  <a:close/>
                </a:path>
              </a:pathLst>
            </a:custGeom>
            <a:solidFill>
              <a:srgbClr val="D6F5EE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97035" y="5362623"/>
            <a:ext cx="3667373" cy="395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5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A — Authentication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97035" y="5914768"/>
            <a:ext cx="3667373" cy="381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7"/>
              </a:lnSpc>
            </a:pPr>
            <a:r>
              <a:rPr lang="en-US" sz="18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Identity verified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350850" y="5196669"/>
            <a:ext cx="4348324" cy="1294324"/>
            <a:chOff x="0" y="0"/>
            <a:chExt cx="5797766" cy="172576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797677" cy="1725676"/>
            </a:xfrm>
            <a:custGeom>
              <a:avLst/>
              <a:gdLst/>
              <a:ahLst/>
              <a:cxnLst/>
              <a:rect r="r" b="b" t="t" l="l"/>
              <a:pathLst>
                <a:path h="1725676" w="5797677">
                  <a:moveTo>
                    <a:pt x="0" y="0"/>
                  </a:moveTo>
                  <a:lnTo>
                    <a:pt x="5688076" y="0"/>
                  </a:lnTo>
                  <a:cubicBezTo>
                    <a:pt x="5748655" y="0"/>
                    <a:pt x="5797677" y="49149"/>
                    <a:pt x="5797677" y="109601"/>
                  </a:cubicBezTo>
                  <a:lnTo>
                    <a:pt x="5797677" y="1725676"/>
                  </a:lnTo>
                  <a:lnTo>
                    <a:pt x="0" y="17256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350850" y="5196669"/>
            <a:ext cx="28594" cy="1294324"/>
            <a:chOff x="0" y="0"/>
            <a:chExt cx="38125" cy="172576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8100" cy="1725803"/>
            </a:xfrm>
            <a:custGeom>
              <a:avLst/>
              <a:gdLst/>
              <a:ahLst/>
              <a:cxnLst/>
              <a:rect r="r" b="b" t="t" l="l"/>
              <a:pathLst>
                <a:path h="1725803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706753"/>
                  </a:lnTo>
                  <a:cubicBezTo>
                    <a:pt x="38100" y="1717294"/>
                    <a:pt x="29591" y="1725803"/>
                    <a:pt x="19050" y="1725803"/>
                  </a:cubicBezTo>
                  <a:cubicBezTo>
                    <a:pt x="8509" y="1725803"/>
                    <a:pt x="0" y="1717294"/>
                    <a:pt x="0" y="1706753"/>
                  </a:cubicBezTo>
                  <a:close/>
                </a:path>
              </a:pathLst>
            </a:custGeom>
            <a:solidFill>
              <a:srgbClr val="BCDBD4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5837282" y="5362623"/>
            <a:ext cx="3667373" cy="395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5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P — Permission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837282" y="5914768"/>
            <a:ext cx="3667373" cy="381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7"/>
              </a:lnSpc>
            </a:pPr>
            <a:r>
              <a:rPr lang="en-US" sz="18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Access rights valid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02525" y="6491002"/>
            <a:ext cx="4348324" cy="1294324"/>
            <a:chOff x="0" y="0"/>
            <a:chExt cx="5797766" cy="172576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797804" cy="1725803"/>
            </a:xfrm>
            <a:custGeom>
              <a:avLst/>
              <a:gdLst/>
              <a:ahLst/>
              <a:cxnLst/>
              <a:rect r="r" b="b" t="t" l="l"/>
              <a:pathLst>
                <a:path h="1725803" w="5797804">
                  <a:moveTo>
                    <a:pt x="0" y="0"/>
                  </a:moveTo>
                  <a:lnTo>
                    <a:pt x="5797804" y="0"/>
                  </a:lnTo>
                  <a:lnTo>
                    <a:pt x="5797804" y="1725803"/>
                  </a:lnTo>
                  <a:lnTo>
                    <a:pt x="0" y="1725803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02525" y="6491002"/>
            <a:ext cx="4348324" cy="28594"/>
            <a:chOff x="0" y="0"/>
            <a:chExt cx="5797766" cy="3812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97804" cy="38100"/>
            </a:xfrm>
            <a:custGeom>
              <a:avLst/>
              <a:gdLst/>
              <a:ahLst/>
              <a:cxnLst/>
              <a:rect r="r" b="b" t="t" l="l"/>
              <a:pathLst>
                <a:path h="38100" w="5797804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5778754" y="0"/>
                  </a:lnTo>
                  <a:cubicBezTo>
                    <a:pt x="5789295" y="0"/>
                    <a:pt x="5797804" y="8509"/>
                    <a:pt x="5797804" y="19050"/>
                  </a:cubicBezTo>
                  <a:cubicBezTo>
                    <a:pt x="5797804" y="29591"/>
                    <a:pt x="5789295" y="38100"/>
                    <a:pt x="5778754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BCDBD4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197035" y="6656946"/>
            <a:ext cx="3667373" cy="395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5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K — Key Condition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97035" y="7209092"/>
            <a:ext cx="3667373" cy="381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7"/>
              </a:lnSpc>
            </a:pPr>
            <a:r>
              <a:rPr lang="en-US" sz="18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Cryptographic key valid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5350850" y="6491002"/>
            <a:ext cx="4348324" cy="1294324"/>
            <a:chOff x="0" y="0"/>
            <a:chExt cx="5797766" cy="172576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797804" cy="1725803"/>
            </a:xfrm>
            <a:custGeom>
              <a:avLst/>
              <a:gdLst/>
              <a:ahLst/>
              <a:cxnLst/>
              <a:rect r="r" b="b" t="t" l="l"/>
              <a:pathLst>
                <a:path h="1725803" w="5797804">
                  <a:moveTo>
                    <a:pt x="0" y="0"/>
                  </a:moveTo>
                  <a:lnTo>
                    <a:pt x="5797804" y="0"/>
                  </a:lnTo>
                  <a:lnTo>
                    <a:pt x="5797804" y="1725803"/>
                  </a:lnTo>
                  <a:lnTo>
                    <a:pt x="0" y="1725803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350850" y="6491002"/>
            <a:ext cx="28594" cy="1294324"/>
            <a:chOff x="0" y="0"/>
            <a:chExt cx="38125" cy="172576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8100" cy="1725803"/>
            </a:xfrm>
            <a:custGeom>
              <a:avLst/>
              <a:gdLst/>
              <a:ahLst/>
              <a:cxnLst/>
              <a:rect r="r" b="b" t="t" l="l"/>
              <a:pathLst>
                <a:path h="1725803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706753"/>
                  </a:lnTo>
                  <a:cubicBezTo>
                    <a:pt x="38100" y="1717294"/>
                    <a:pt x="29591" y="1725803"/>
                    <a:pt x="19050" y="1725803"/>
                  </a:cubicBezTo>
                  <a:cubicBezTo>
                    <a:pt x="8509" y="1725803"/>
                    <a:pt x="0" y="1717294"/>
                    <a:pt x="0" y="1706753"/>
                  </a:cubicBezTo>
                  <a:close/>
                </a:path>
              </a:pathLst>
            </a:custGeom>
            <a:solidFill>
              <a:srgbClr val="BCDBD4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5350850" y="6491002"/>
            <a:ext cx="4348324" cy="28594"/>
            <a:chOff x="0" y="0"/>
            <a:chExt cx="5797766" cy="3812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797804" cy="38100"/>
            </a:xfrm>
            <a:custGeom>
              <a:avLst/>
              <a:gdLst/>
              <a:ahLst/>
              <a:cxnLst/>
              <a:rect r="r" b="b" t="t" l="l"/>
              <a:pathLst>
                <a:path h="38100" w="5797804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5778754" y="0"/>
                  </a:lnTo>
                  <a:cubicBezTo>
                    <a:pt x="5789295" y="0"/>
                    <a:pt x="5797804" y="8509"/>
                    <a:pt x="5797804" y="19050"/>
                  </a:cubicBezTo>
                  <a:cubicBezTo>
                    <a:pt x="5797804" y="29591"/>
                    <a:pt x="5789295" y="38100"/>
                    <a:pt x="5778754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BCDBD4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5837282" y="6656946"/>
            <a:ext cx="3667373" cy="395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5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R — Route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837282" y="7209092"/>
            <a:ext cx="3667373" cy="381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7"/>
              </a:lnSpc>
            </a:pPr>
            <a:r>
              <a:rPr lang="en-US" sz="18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Communication path valid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02525" y="7785325"/>
            <a:ext cx="8696649" cy="1294324"/>
            <a:chOff x="0" y="0"/>
            <a:chExt cx="11595532" cy="172576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595481" cy="1725676"/>
            </a:xfrm>
            <a:custGeom>
              <a:avLst/>
              <a:gdLst/>
              <a:ahLst/>
              <a:cxnLst/>
              <a:rect r="r" b="b" t="t" l="l"/>
              <a:pathLst>
                <a:path h="1725676" w="11595481">
                  <a:moveTo>
                    <a:pt x="0" y="0"/>
                  </a:moveTo>
                  <a:lnTo>
                    <a:pt x="11595481" y="0"/>
                  </a:lnTo>
                  <a:lnTo>
                    <a:pt x="11595481" y="1616075"/>
                  </a:lnTo>
                  <a:cubicBezTo>
                    <a:pt x="11595481" y="1676654"/>
                    <a:pt x="11546332" y="1725676"/>
                    <a:pt x="11485880" y="1725676"/>
                  </a:cubicBezTo>
                  <a:lnTo>
                    <a:pt x="109601" y="1725676"/>
                  </a:lnTo>
                  <a:cubicBezTo>
                    <a:pt x="49022" y="1725676"/>
                    <a:pt x="0" y="1676527"/>
                    <a:pt x="0" y="161607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02525" y="7785325"/>
            <a:ext cx="8696649" cy="28594"/>
            <a:chOff x="0" y="0"/>
            <a:chExt cx="11595532" cy="3812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595481" cy="38100"/>
            </a:xfrm>
            <a:custGeom>
              <a:avLst/>
              <a:gdLst/>
              <a:ahLst/>
              <a:cxnLst/>
              <a:rect r="r" b="b" t="t" l="l"/>
              <a:pathLst>
                <a:path h="38100" w="11595481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1576431" y="0"/>
                  </a:lnTo>
                  <a:cubicBezTo>
                    <a:pt x="11586973" y="0"/>
                    <a:pt x="11595481" y="8509"/>
                    <a:pt x="11595481" y="19050"/>
                  </a:cubicBezTo>
                  <a:cubicBezTo>
                    <a:pt x="11595481" y="29591"/>
                    <a:pt x="11586973" y="38100"/>
                    <a:pt x="11576431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BCDBD4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197035" y="7951279"/>
            <a:ext cx="8015697" cy="395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5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I — Integrity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97035" y="8503425"/>
            <a:ext cx="8015697" cy="381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7"/>
              </a:lnSpc>
            </a:pPr>
            <a:r>
              <a:rPr lang="en-US" sz="18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Message unaltered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0122160" y="2747277"/>
            <a:ext cx="7365273" cy="6560706"/>
            <a:chOff x="0" y="0"/>
            <a:chExt cx="9820364" cy="874760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820275" cy="8747506"/>
            </a:xfrm>
            <a:custGeom>
              <a:avLst/>
              <a:gdLst/>
              <a:ahLst/>
              <a:cxnLst/>
              <a:rect r="r" b="b" t="t" l="l"/>
              <a:pathLst>
                <a:path h="8747506" w="9820275">
                  <a:moveTo>
                    <a:pt x="0" y="225552"/>
                  </a:moveTo>
                  <a:cubicBezTo>
                    <a:pt x="0" y="100965"/>
                    <a:pt x="100965" y="0"/>
                    <a:pt x="225552" y="0"/>
                  </a:cubicBezTo>
                  <a:lnTo>
                    <a:pt x="9594723" y="0"/>
                  </a:lnTo>
                  <a:cubicBezTo>
                    <a:pt x="9719310" y="0"/>
                    <a:pt x="9820275" y="100965"/>
                    <a:pt x="9820275" y="225552"/>
                  </a:cubicBezTo>
                  <a:lnTo>
                    <a:pt x="9820275" y="8521954"/>
                  </a:lnTo>
                  <a:cubicBezTo>
                    <a:pt x="9820275" y="8646541"/>
                    <a:pt x="9719310" y="8747506"/>
                    <a:pt x="9594723" y="8747506"/>
                  </a:cubicBezTo>
                  <a:lnTo>
                    <a:pt x="225552" y="8747506"/>
                  </a:lnTo>
                  <a:cubicBezTo>
                    <a:pt x="100965" y="8747633"/>
                    <a:pt x="0" y="8646668"/>
                    <a:pt x="0" y="8521954"/>
                  </a:cubicBezTo>
                  <a:close/>
                </a:path>
              </a:pathLst>
            </a:custGeom>
            <a:solidFill>
              <a:srgbClr val="26A688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0357047" y="2913231"/>
            <a:ext cx="6895509" cy="395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51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AND Gate Truth Table</a:t>
            </a:r>
          </a:p>
        </p:txBody>
      </p:sp>
      <p:graphicFrame>
        <p:nvGraphicFramePr>
          <p:cNvPr name="Table 43" id="43"/>
          <p:cNvGraphicFramePr>
            <a:graphicFrameLocks noGrp="true"/>
          </p:cNvGraphicFramePr>
          <p:nvPr/>
        </p:nvGraphicFramePr>
        <p:xfrm>
          <a:off x="10357043" y="3527750"/>
          <a:ext cx="6863362" cy="2955059"/>
        </p:xfrm>
        <a:graphic>
          <a:graphicData uri="http://schemas.openxmlformats.org/drawingml/2006/table">
            <a:tbl>
              <a:tblPr/>
              <a:tblGrid>
                <a:gridCol w="2287787"/>
                <a:gridCol w="2287787"/>
                <a:gridCol w="2287787"/>
              </a:tblGrid>
              <a:tr h="58837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A</a:t>
                      </a:r>
                      <a:endParaRPr lang="en-US" sz="1100"/>
                    </a:p>
                  </a:txBody>
                  <a:tcPr marL="156531" marR="156531" marT="156531" marB="156531" anchor="ctr">
                    <a:lnL cmpd="sng" algn="ctr" cap="flat" w="12700">
                      <a:solidFill>
                        <a:srgbClr val="5ABB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6A6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5ABB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5ABB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B</a:t>
                      </a:r>
                      <a:endParaRPr lang="en-US" sz="1100"/>
                    </a:p>
                  </a:txBody>
                  <a:tcPr marL="156531" marR="156531" marT="156531" marB="156531" anchor="ctr">
                    <a:lnL cmpd="sng" algn="ctr" cap="flat" w="12700">
                      <a:solidFill>
                        <a:srgbClr val="26A6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6A6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5ABB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5ABB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A ∧ B</a:t>
                      </a:r>
                      <a:endParaRPr lang="en-US" sz="1100"/>
                    </a:p>
                  </a:txBody>
                  <a:tcPr marL="156531" marR="156531" marT="156531" marB="156531" anchor="ctr">
                    <a:lnL cmpd="sng" algn="ctr" cap="flat" w="12700">
                      <a:solidFill>
                        <a:srgbClr val="26A6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5ABB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5ABB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5ABB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27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lang="en-US" sz="1100"/>
                    </a:p>
                  </a:txBody>
                  <a:tcPr marL="156531" marR="156531" marT="156531" marB="156531" anchor="ctr">
                    <a:lnL cmpd="sng" algn="ctr" cap="flat" w="12700">
                      <a:solidFill>
                        <a:srgbClr val="5ABB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6A6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5ABB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5ABB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lang="en-US" sz="1100"/>
                    </a:p>
                  </a:txBody>
                  <a:tcPr marL="156531" marR="156531" marT="156531" marB="156531" anchor="ctr">
                    <a:lnL cmpd="sng" algn="ctr" cap="flat" w="12700">
                      <a:solidFill>
                        <a:srgbClr val="26A6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6A6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5ABB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5ABB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1</a:t>
                      </a:r>
                      <a:endParaRPr lang="en-US" sz="1100"/>
                    </a:p>
                  </a:txBody>
                  <a:tcPr marL="156531" marR="156531" marT="156531" marB="156531" anchor="ctr">
                    <a:lnL cmpd="sng" algn="ctr" cap="flat" w="12700">
                      <a:solidFill>
                        <a:srgbClr val="26A6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5ABB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5ABB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5ABB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27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lang="en-US" sz="1100"/>
                    </a:p>
                  </a:txBody>
                  <a:tcPr marL="156531" marR="156531" marT="156531" marB="156531" anchor="ctr">
                    <a:lnL cmpd="sng" algn="ctr" cap="flat" w="12700">
                      <a:solidFill>
                        <a:srgbClr val="5ABB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6A6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5ABB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5ABB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lang="en-US" sz="1100"/>
                    </a:p>
                  </a:txBody>
                  <a:tcPr marL="156531" marR="156531" marT="156531" marB="156531" anchor="ctr">
                    <a:lnL cmpd="sng" algn="ctr" cap="flat" w="12700">
                      <a:solidFill>
                        <a:srgbClr val="26A6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6A6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5ABB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5ABB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lang="en-US" sz="1100"/>
                    </a:p>
                  </a:txBody>
                  <a:tcPr marL="156531" marR="156531" marT="156531" marB="156531" anchor="ctr">
                    <a:lnL cmpd="sng" algn="ctr" cap="flat" w="12700">
                      <a:solidFill>
                        <a:srgbClr val="26A6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5ABB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5ABB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5ABB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27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lang="en-US" sz="1100"/>
                    </a:p>
                  </a:txBody>
                  <a:tcPr marL="156531" marR="156531" marT="156531" marB="156531" anchor="ctr">
                    <a:lnL cmpd="sng" algn="ctr" cap="flat" w="12700">
                      <a:solidFill>
                        <a:srgbClr val="5ABB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6A6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5ABB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5ABB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 lang="en-US" sz="1100"/>
                    </a:p>
                  </a:txBody>
                  <a:tcPr marL="156531" marR="156531" marT="156531" marB="156531" anchor="ctr">
                    <a:lnL cmpd="sng" algn="ctr" cap="flat" w="12700">
                      <a:solidFill>
                        <a:srgbClr val="26A6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6A6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5ABB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5ABB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lang="en-US" sz="1100"/>
                    </a:p>
                  </a:txBody>
                  <a:tcPr marL="156531" marR="156531" marT="156531" marB="156531" anchor="ctr">
                    <a:lnL cmpd="sng" algn="ctr" cap="flat" w="12700">
                      <a:solidFill>
                        <a:srgbClr val="26A6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5ABB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5ABB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5ABB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837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lang="en-US" sz="1100"/>
                    </a:p>
                  </a:txBody>
                  <a:tcPr marL="156531" marR="156531" marT="156531" marB="156531" anchor="ctr">
                    <a:lnL cmpd="sng" algn="ctr" cap="flat" w="12700">
                      <a:solidFill>
                        <a:srgbClr val="5ABB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6A6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5ABB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5ABB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lang="en-US" sz="1100"/>
                    </a:p>
                  </a:txBody>
                  <a:tcPr marL="156531" marR="156531" marT="156531" marB="156531" anchor="ctr">
                    <a:lnL cmpd="sng" algn="ctr" cap="flat" w="12700">
                      <a:solidFill>
                        <a:srgbClr val="26A6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26A6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5ABB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5ABB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1"/>
                        </a:lnSpc>
                        <a:defRPr/>
                      </a:pPr>
                      <a:r>
                        <a:rPr lang="en-US" sz="1801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</a:t>
                      </a:r>
                      <a:endParaRPr lang="en-US" sz="1100"/>
                    </a:p>
                  </a:txBody>
                  <a:tcPr marL="156531" marR="156531" marT="156531" marB="156531" anchor="ctr">
                    <a:lnL cmpd="sng" algn="ctr" cap="flat" w="12700">
                      <a:solidFill>
                        <a:srgbClr val="26A6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5ABB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5ABB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5ABB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4" id="44"/>
          <p:cNvSpPr txBox="true"/>
          <p:nvPr/>
        </p:nvSpPr>
        <p:spPr>
          <a:xfrm rot="0">
            <a:off x="10357047" y="6745281"/>
            <a:ext cx="6895509" cy="1068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7"/>
              </a:lnSpc>
            </a:pPr>
            <a:r>
              <a:rPr lang="en-US" sz="180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Because all conditions are joined by </a:t>
            </a:r>
            <a:r>
              <a:rPr lang="en-US" sz="180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AND</a:t>
            </a:r>
            <a:r>
              <a:rPr lang="en-US" sz="180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a single false input collapses the entire decision to </a:t>
            </a:r>
            <a:r>
              <a:rPr lang="en-US" sz="180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ACCEPT = 0</a:t>
            </a:r>
            <a:r>
              <a:rPr lang="en-US" sz="180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Boolean identities formalise and verify this logic.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5042840" y="5535816"/>
            <a:ext cx="616020" cy="616039"/>
            <a:chOff x="0" y="0"/>
            <a:chExt cx="821360" cy="82138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21436" cy="821436"/>
            </a:xfrm>
            <a:custGeom>
              <a:avLst/>
              <a:gdLst/>
              <a:ahLst/>
              <a:cxnLst/>
              <a:rect r="r" b="b" t="t" l="l"/>
              <a:pathLst>
                <a:path h="821436" w="821436">
                  <a:moveTo>
                    <a:pt x="0" y="138049"/>
                  </a:moveTo>
                  <a:cubicBezTo>
                    <a:pt x="0" y="61722"/>
                    <a:pt x="61722" y="0"/>
                    <a:pt x="138049" y="0"/>
                  </a:cubicBezTo>
                  <a:lnTo>
                    <a:pt x="683387" y="0"/>
                  </a:lnTo>
                  <a:cubicBezTo>
                    <a:pt x="759587" y="0"/>
                    <a:pt x="821436" y="61722"/>
                    <a:pt x="821436" y="138049"/>
                  </a:cubicBezTo>
                  <a:lnTo>
                    <a:pt x="821436" y="683387"/>
                  </a:lnTo>
                  <a:cubicBezTo>
                    <a:pt x="821436" y="759587"/>
                    <a:pt x="759714" y="821436"/>
                    <a:pt x="683387" y="821436"/>
                  </a:cubicBezTo>
                  <a:lnTo>
                    <a:pt x="138049" y="821436"/>
                  </a:lnTo>
                  <a:cubicBezTo>
                    <a:pt x="61722" y="821436"/>
                    <a:pt x="0" y="759587"/>
                    <a:pt x="0" y="683387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Freeform 47" id="47" descr="preencoded.png"/>
          <p:cNvSpPr/>
          <p:nvPr/>
        </p:nvSpPr>
        <p:spPr>
          <a:xfrm flipH="false" flipV="false" rot="0">
            <a:off x="5203993" y="5696826"/>
            <a:ext cx="293713" cy="293722"/>
          </a:xfrm>
          <a:custGeom>
            <a:avLst/>
            <a:gdLst/>
            <a:ahLst/>
            <a:cxnLst/>
            <a:rect r="r" b="b" t="t" l="l"/>
            <a:pathLst>
              <a:path h="293722" w="293713">
                <a:moveTo>
                  <a:pt x="0" y="0"/>
                </a:moveTo>
                <a:lnTo>
                  <a:pt x="293713" y="0"/>
                </a:lnTo>
                <a:lnTo>
                  <a:pt x="293713" y="293723"/>
                </a:lnTo>
                <a:lnTo>
                  <a:pt x="0" y="293723"/>
                </a:lnTo>
                <a:lnTo>
                  <a:pt x="0" y="0"/>
                </a:lnTo>
                <a:close/>
              </a:path>
            </a:pathLst>
          </a:custGeom>
          <a:blipFill>
            <a:blip r:embed="R305c3a0a1cc042da">
              <a:extLst>
                <a:ext uri="{96DAC541-7B7A-43D3-8B79-37D633B846F1}">
                  <asvg:svgBlip xmlns:asvg="http://schemas.microsoft.com/office/drawing/2016/SVG/main" r:embed="R68d6edcc8a654110"/>
                </a:ext>
              </a:extLst>
            </a:blip>
            <a:stretch>
              <a:fillRect l="-1" t="0" r="-1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5042840" y="6830149"/>
            <a:ext cx="616020" cy="616039"/>
            <a:chOff x="0" y="0"/>
            <a:chExt cx="821360" cy="82138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21436" cy="821436"/>
            </a:xfrm>
            <a:custGeom>
              <a:avLst/>
              <a:gdLst/>
              <a:ahLst/>
              <a:cxnLst/>
              <a:rect r="r" b="b" t="t" l="l"/>
              <a:pathLst>
                <a:path h="821436" w="821436">
                  <a:moveTo>
                    <a:pt x="0" y="138049"/>
                  </a:moveTo>
                  <a:cubicBezTo>
                    <a:pt x="0" y="61722"/>
                    <a:pt x="61722" y="0"/>
                    <a:pt x="138049" y="0"/>
                  </a:cubicBezTo>
                  <a:lnTo>
                    <a:pt x="683387" y="0"/>
                  </a:lnTo>
                  <a:cubicBezTo>
                    <a:pt x="759587" y="0"/>
                    <a:pt x="821436" y="61722"/>
                    <a:pt x="821436" y="138049"/>
                  </a:cubicBezTo>
                  <a:lnTo>
                    <a:pt x="821436" y="683387"/>
                  </a:lnTo>
                  <a:cubicBezTo>
                    <a:pt x="821436" y="759587"/>
                    <a:pt x="759714" y="821436"/>
                    <a:pt x="683387" y="821436"/>
                  </a:cubicBezTo>
                  <a:lnTo>
                    <a:pt x="138049" y="821436"/>
                  </a:lnTo>
                  <a:cubicBezTo>
                    <a:pt x="61722" y="821436"/>
                    <a:pt x="0" y="759587"/>
                    <a:pt x="0" y="683387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Freeform 50" id="50" descr="preencoded.png"/>
          <p:cNvSpPr/>
          <p:nvPr/>
        </p:nvSpPr>
        <p:spPr>
          <a:xfrm flipH="false" flipV="false" rot="0">
            <a:off x="5203993" y="6991160"/>
            <a:ext cx="293713" cy="293722"/>
          </a:xfrm>
          <a:custGeom>
            <a:avLst/>
            <a:gdLst/>
            <a:ahLst/>
            <a:cxnLst/>
            <a:rect r="r" b="b" t="t" l="l"/>
            <a:pathLst>
              <a:path h="293722" w="293713">
                <a:moveTo>
                  <a:pt x="0" y="0"/>
                </a:moveTo>
                <a:lnTo>
                  <a:pt x="293713" y="0"/>
                </a:lnTo>
                <a:lnTo>
                  <a:pt x="293713" y="293722"/>
                </a:lnTo>
                <a:lnTo>
                  <a:pt x="0" y="293722"/>
                </a:lnTo>
                <a:lnTo>
                  <a:pt x="0" y="0"/>
                </a:lnTo>
                <a:close/>
              </a:path>
            </a:pathLst>
          </a:custGeom>
          <a:blipFill>
            <a:blip r:embed="R5ae472286a284b32">
              <a:extLst>
                <a:ext uri="{96DAC541-7B7A-43D3-8B79-37D633B846F1}">
                  <asvg:svgBlip xmlns:asvg="http://schemas.microsoft.com/office/drawing/2016/SVG/main" r:embed="Rdc2491a69c2e4997"/>
                </a:ext>
              </a:extLst>
            </a:blip>
            <a:stretch>
              <a:fillRect l="-12903" t="0" r="-12903" b="0"/>
            </a:stretch>
          </a:blipFill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63191" cy="10295039"/>
            <a:chOff x="0" y="0"/>
            <a:chExt cx="9150922" cy="13726719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541e4af259dc4a99"/>
              <a:stretch>
                <a:fillRect l="-1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6182" y="966530"/>
            <a:ext cx="9452677" cy="1257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7"/>
              </a:lnSpc>
            </a:pPr>
            <a:r>
              <a:rPr lang="en-US" sz="382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Algebraic Structures Behind Secure Discrete Systems</a:t>
            </a:r>
          </a:p>
        </p:txBody>
      </p:sp>
      <p:sp>
        <p:nvSpPr>
          <p:cNvPr name="Freeform 9" id="9" descr="preencoded.png"/>
          <p:cNvSpPr/>
          <p:nvPr/>
        </p:nvSpPr>
        <p:spPr>
          <a:xfrm flipH="false" flipV="false" rot="0">
            <a:off x="7856182" y="2575550"/>
            <a:ext cx="487632" cy="487642"/>
          </a:xfrm>
          <a:custGeom>
            <a:avLst/>
            <a:gdLst/>
            <a:ahLst/>
            <a:cxnLst/>
            <a:rect r="r" b="b" t="t" l="l"/>
            <a:pathLst>
              <a:path h="487642" w="487632">
                <a:moveTo>
                  <a:pt x="0" y="0"/>
                </a:moveTo>
                <a:lnTo>
                  <a:pt x="487632" y="0"/>
                </a:lnTo>
                <a:lnTo>
                  <a:pt x="487632" y="487642"/>
                </a:lnTo>
                <a:lnTo>
                  <a:pt x="0" y="487642"/>
                </a:lnTo>
                <a:lnTo>
                  <a:pt x="0" y="0"/>
                </a:lnTo>
                <a:close/>
              </a:path>
            </a:pathLst>
          </a:custGeom>
          <a:blipFill>
            <a:blip r:embed="Ree0f874286b948b1">
              <a:extLst>
                <a:ext uri="{96DAC541-7B7A-43D3-8B79-37D633B846F1}">
                  <asvg:svgBlip xmlns:asvg="http://schemas.microsoft.com/office/drawing/2016/SVG/main" r:embed="Rf8ddbcc5e29b4a5b"/>
                </a:ext>
              </a:extLst>
            </a:blip>
            <a:stretch>
              <a:fillRect l="-1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511369" y="2537450"/>
            <a:ext cx="3833289" cy="647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8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Groups &amp; Binary Operations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11369" y="3300031"/>
            <a:ext cx="3833289" cy="1072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Structured rules for combining elements. </a:t>
            </a:r>
            <a:r>
              <a:rPr lang="en-US" sz="1501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ℤₙ</a:t>
            </a:r>
            <a:r>
              <a:rPr lang="en-US" sz="15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under addition and </a:t>
            </a:r>
            <a:r>
              <a:rPr lang="en-US" sz="1501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ℤₚ*</a:t>
            </a:r>
            <a:r>
              <a:rPr lang="en-US" sz="15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under multiplication form well-defined modular groups.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7856182" y="4640513"/>
            <a:ext cx="487632" cy="487642"/>
          </a:xfrm>
          <a:custGeom>
            <a:avLst/>
            <a:gdLst/>
            <a:ahLst/>
            <a:cxnLst/>
            <a:rect r="r" b="b" t="t" l="l"/>
            <a:pathLst>
              <a:path h="487642" w="487632">
                <a:moveTo>
                  <a:pt x="0" y="0"/>
                </a:moveTo>
                <a:lnTo>
                  <a:pt x="487632" y="0"/>
                </a:lnTo>
                <a:lnTo>
                  <a:pt x="487632" y="487642"/>
                </a:lnTo>
                <a:lnTo>
                  <a:pt x="0" y="487642"/>
                </a:lnTo>
                <a:lnTo>
                  <a:pt x="0" y="0"/>
                </a:lnTo>
                <a:close/>
              </a:path>
            </a:pathLst>
          </a:custGeom>
          <a:blipFill>
            <a:blip r:embed="R38a045c5755d48bb">
              <a:extLst>
                <a:ext uri="{96DAC541-7B7A-43D3-8B79-37D633B846F1}">
                  <asvg:svgBlip xmlns:asvg="http://schemas.microsoft.com/office/drawing/2016/SVG/main" r:embed="Rf2e4d83948cb422c"/>
                </a:ext>
              </a:extLst>
            </a:blip>
            <a:stretch>
              <a:fillRect l="0" t="-6729" r="0" b="-673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511369" y="4602413"/>
            <a:ext cx="3833289" cy="342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8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Fields — GF(p) &amp; GF(2ⁿ)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11369" y="5060252"/>
            <a:ext cx="3833289" cy="1335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GF(p)</a:t>
            </a:r>
            <a:r>
              <a:rPr lang="en-US" sz="15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provides both addition and multiplication with full algebraic structure. </a:t>
            </a:r>
            <a:r>
              <a:rPr lang="en-US" sz="1501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GF(2ⁿ)</a:t>
            </a:r>
            <a:r>
              <a:rPr lang="en-US" sz="15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is a finite-field extension underpinning coding and cryptographic constructions.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7856182" y="6664071"/>
            <a:ext cx="487632" cy="487642"/>
          </a:xfrm>
          <a:custGeom>
            <a:avLst/>
            <a:gdLst/>
            <a:ahLst/>
            <a:cxnLst/>
            <a:rect r="r" b="b" t="t" l="l"/>
            <a:pathLst>
              <a:path h="487642" w="487632">
                <a:moveTo>
                  <a:pt x="0" y="0"/>
                </a:moveTo>
                <a:lnTo>
                  <a:pt x="487632" y="0"/>
                </a:lnTo>
                <a:lnTo>
                  <a:pt x="487632" y="487642"/>
                </a:lnTo>
                <a:lnTo>
                  <a:pt x="0" y="487642"/>
                </a:lnTo>
                <a:lnTo>
                  <a:pt x="0" y="0"/>
                </a:lnTo>
                <a:close/>
              </a:path>
            </a:pathLst>
          </a:custGeom>
          <a:blipFill>
            <a:blip r:embed="R39a8a327b4d54b17">
              <a:extLst>
                <a:ext uri="{96DAC541-7B7A-43D3-8B79-37D633B846F1}">
                  <asvg:svgBlip xmlns:asvg="http://schemas.microsoft.com/office/drawing/2016/SVG/main" r:embed="R52c5426c84914f4e"/>
                </a:ext>
              </a:extLst>
            </a:blip>
            <a:stretch>
              <a:fillRect l="-1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511369" y="6625971"/>
            <a:ext cx="3833289" cy="342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8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Recurrence Relations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11369" y="7083819"/>
            <a:ext cx="3833289" cy="80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Describe repeated state transitions. Used to model structured pseudo-random sequences in discrete secure systems.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829908" y="2520620"/>
            <a:ext cx="4488475" cy="342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8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Architecture Connection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829908" y="2978458"/>
            <a:ext cx="4488475" cy="1335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These structures do not independently create a secure cipher. They provide the </a:t>
            </a:r>
            <a:r>
              <a:rPr lang="en-US" sz="1501" b="true">
                <a:solidFill>
                  <a:srgbClr val="26A68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mathematically controlled environment</a:t>
            </a:r>
            <a:r>
              <a:rPr lang="en-US" sz="15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in which cryptographic and error-control constructions operate with guaranteed algebraic properties.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841875" y="8180327"/>
            <a:ext cx="3090072" cy="1124236"/>
            <a:chOff x="0" y="0"/>
            <a:chExt cx="4120096" cy="149898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120134" cy="1498981"/>
            </a:xfrm>
            <a:custGeom>
              <a:avLst/>
              <a:gdLst/>
              <a:ahLst/>
              <a:cxnLst/>
              <a:rect r="r" b="b" t="t" l="l"/>
              <a:pathLst>
                <a:path h="1498981" w="4120134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4007993" y="0"/>
                  </a:lnTo>
                  <a:cubicBezTo>
                    <a:pt x="4069842" y="0"/>
                    <a:pt x="4120134" y="50165"/>
                    <a:pt x="4120134" y="112141"/>
                  </a:cubicBezTo>
                  <a:lnTo>
                    <a:pt x="4120134" y="1386840"/>
                  </a:lnTo>
                  <a:cubicBezTo>
                    <a:pt x="4120134" y="1448689"/>
                    <a:pt x="4069969" y="1498981"/>
                    <a:pt x="4007993" y="1498981"/>
                  </a:cubicBezTo>
                  <a:lnTo>
                    <a:pt x="112141" y="1498981"/>
                  </a:lnTo>
                  <a:cubicBezTo>
                    <a:pt x="50292" y="1498981"/>
                    <a:pt x="0" y="1448816"/>
                    <a:pt x="0" y="1386840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8079734" y="8380095"/>
            <a:ext cx="2614355" cy="342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8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ℤₙ (mod n)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079734" y="8784317"/>
            <a:ext cx="2614355" cy="282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Additive modular group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037408" y="8180327"/>
            <a:ext cx="3090072" cy="1124236"/>
            <a:chOff x="0" y="0"/>
            <a:chExt cx="4120096" cy="149898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120134" cy="1498981"/>
            </a:xfrm>
            <a:custGeom>
              <a:avLst/>
              <a:gdLst/>
              <a:ahLst/>
              <a:cxnLst/>
              <a:rect r="r" b="b" t="t" l="l"/>
              <a:pathLst>
                <a:path h="1498981" w="4120134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4007993" y="0"/>
                  </a:lnTo>
                  <a:cubicBezTo>
                    <a:pt x="4069842" y="0"/>
                    <a:pt x="4120134" y="50165"/>
                    <a:pt x="4120134" y="112141"/>
                  </a:cubicBezTo>
                  <a:lnTo>
                    <a:pt x="4120134" y="1386840"/>
                  </a:lnTo>
                  <a:cubicBezTo>
                    <a:pt x="4120134" y="1448689"/>
                    <a:pt x="4069969" y="1498981"/>
                    <a:pt x="4007993" y="1498981"/>
                  </a:cubicBezTo>
                  <a:lnTo>
                    <a:pt x="112141" y="1498981"/>
                  </a:lnTo>
                  <a:cubicBezTo>
                    <a:pt x="50292" y="1498981"/>
                    <a:pt x="0" y="1448816"/>
                    <a:pt x="0" y="1386840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1275266" y="8380095"/>
            <a:ext cx="2614355" cy="342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8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ℤₚ* (prime p)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275266" y="8784317"/>
            <a:ext cx="2614355" cy="282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Multiplicative group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4232931" y="8180327"/>
            <a:ext cx="3090224" cy="1124236"/>
            <a:chOff x="0" y="0"/>
            <a:chExt cx="4120299" cy="149898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120388" cy="1498981"/>
            </a:xfrm>
            <a:custGeom>
              <a:avLst/>
              <a:gdLst/>
              <a:ahLst/>
              <a:cxnLst/>
              <a:rect r="r" b="b" t="t" l="l"/>
              <a:pathLst>
                <a:path h="1498981" w="4120388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4008247" y="0"/>
                  </a:lnTo>
                  <a:cubicBezTo>
                    <a:pt x="4070096" y="0"/>
                    <a:pt x="4120388" y="50165"/>
                    <a:pt x="4120388" y="112141"/>
                  </a:cubicBezTo>
                  <a:lnTo>
                    <a:pt x="4120388" y="1386840"/>
                  </a:lnTo>
                  <a:cubicBezTo>
                    <a:pt x="4120388" y="1448689"/>
                    <a:pt x="4070223" y="1498981"/>
                    <a:pt x="4008247" y="1498981"/>
                  </a:cubicBezTo>
                  <a:lnTo>
                    <a:pt x="112141" y="1498981"/>
                  </a:lnTo>
                  <a:cubicBezTo>
                    <a:pt x="50292" y="1498981"/>
                    <a:pt x="0" y="1448816"/>
                    <a:pt x="0" y="1386840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14470790" y="8380095"/>
            <a:ext cx="2614508" cy="342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8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GF(2ⁿ)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470790" y="8784317"/>
            <a:ext cx="2614508" cy="282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Finite-field extension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628307" y="9846183"/>
            <a:ext cx="1609020" cy="384353"/>
            <a:chOff x="0" y="0"/>
            <a:chExt cx="2145360" cy="512470"/>
          </a:xfrm>
        </p:grpSpPr>
        <p:sp>
          <p:nvSpPr>
            <p:cNvPr name="Freeform 7" id="7" descr="preencoded.png">
              <a:hlinkClick r:id="rcId14d4c4ba9d3146da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145411" cy="512445"/>
            </a:xfrm>
            <a:custGeom>
              <a:avLst/>
              <a:gdLst/>
              <a:ahLst/>
              <a:cxnLst/>
              <a:rect r="r" b="b" t="t" l="l"/>
              <a:pathLst>
                <a:path h="512445" w="2145411">
                  <a:moveTo>
                    <a:pt x="0" y="0"/>
                  </a:moveTo>
                  <a:lnTo>
                    <a:pt x="2145411" y="0"/>
                  </a:lnTo>
                  <a:lnTo>
                    <a:pt x="2145411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1ba7bd1e6d294af5"/>
              <a:stretch>
                <a:fillRect l="0" t="0" r="2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8649" y="0"/>
            <a:ext cx="6863191" cy="12798057"/>
            <a:chOff x="0" y="0"/>
            <a:chExt cx="9150922" cy="17064076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50858" cy="17064101"/>
            </a:xfrm>
            <a:custGeom>
              <a:avLst/>
              <a:gdLst/>
              <a:ahLst/>
              <a:cxnLst/>
              <a:rect r="r" b="b" t="t" l="l"/>
              <a:pathLst>
                <a:path h="17064101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7064101"/>
                  </a:lnTo>
                  <a:lnTo>
                    <a:pt x="0" y="17064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e2210ce0ed5b4bd7"/>
              <a:stretch>
                <a:fillRect l="0" t="-14" r="0" b="-14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991" y="751742"/>
            <a:ext cx="9452677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77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Thank You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5438" y="1339453"/>
            <a:ext cx="10367762" cy="160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10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Module 6 completes the </a:t>
            </a:r>
            <a:r>
              <a:rPr lang="en-US" sz="1050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Integrity &amp; Validation Lock</a:t>
            </a:r>
            <a:r>
              <a:rPr lang="en-US" sz="10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— the final layer of the six-module security architecture.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443685" y="1579855"/>
            <a:ext cx="8551288" cy="6788296"/>
            <a:chOff x="0" y="0"/>
            <a:chExt cx="11401717" cy="9051061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1401679" cy="9051036"/>
            </a:xfrm>
            <a:custGeom>
              <a:avLst/>
              <a:gdLst/>
              <a:ahLst/>
              <a:cxnLst/>
              <a:rect r="r" b="b" t="t" l="l"/>
              <a:pathLst>
                <a:path h="9051036" w="11401679">
                  <a:moveTo>
                    <a:pt x="0" y="0"/>
                  </a:moveTo>
                  <a:lnTo>
                    <a:pt x="11401679" y="0"/>
                  </a:lnTo>
                  <a:lnTo>
                    <a:pt x="11401679" y="9051036"/>
                  </a:lnTo>
                  <a:lnTo>
                    <a:pt x="0" y="90510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e23697c199384845"/>
              <a:stretch>
                <a:fillRect l="0" t="-9" r="0" b="-9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4939703" y="4387882"/>
            <a:ext cx="1536725" cy="1082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6"/>
              </a:lnSpc>
            </a:pPr>
            <a:r>
              <a:rPr lang="en-US" sz="2176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Secure Message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451444" y="2378497"/>
            <a:ext cx="2286152" cy="379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6"/>
              </a:lnSpc>
            </a:pPr>
            <a:r>
              <a:rPr lang="en-US" sz="21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Logic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451444" y="2906039"/>
            <a:ext cx="2286152" cy="163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5"/>
              </a:lnSpc>
            </a:pPr>
            <a:r>
              <a:rPr lang="en-US" sz="17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Formal decision rules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640863" y="2273075"/>
            <a:ext cx="2286152" cy="379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6"/>
              </a:lnSpc>
            </a:pPr>
            <a:r>
              <a:rPr lang="en-US" sz="21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Algebra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640863" y="2800626"/>
            <a:ext cx="2286152" cy="374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5"/>
              </a:lnSpc>
            </a:pPr>
            <a:r>
              <a:rPr lang="en-US" sz="17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Boolean and formal algebra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640863" y="6557734"/>
            <a:ext cx="2286152" cy="731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6"/>
              </a:lnSpc>
            </a:pPr>
            <a:r>
              <a:rPr lang="en-US" sz="21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Cryptography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640863" y="7436672"/>
            <a:ext cx="2286152" cy="374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5"/>
              </a:lnSpc>
            </a:pPr>
            <a:r>
              <a:rPr lang="en-US" sz="17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Encryption and signatures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451444" y="6733432"/>
            <a:ext cx="2286152" cy="379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6"/>
              </a:lnSpc>
            </a:pPr>
            <a:r>
              <a:rPr lang="en-US" sz="21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Counting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451444" y="7260984"/>
            <a:ext cx="2286152" cy="374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5"/>
              </a:lnSpc>
            </a:pPr>
            <a:r>
              <a:rPr lang="en-US" sz="17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Integrity checks and totals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276024" y="4472016"/>
            <a:ext cx="2336121" cy="379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6"/>
              </a:lnSpc>
            </a:pPr>
            <a:r>
              <a:rPr lang="en-US" sz="21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Access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276024" y="4999568"/>
            <a:ext cx="2336121" cy="374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5"/>
              </a:lnSpc>
            </a:pPr>
            <a:r>
              <a:rPr lang="en-US" sz="17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Permission and control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03787" y="4484513"/>
            <a:ext cx="2336121" cy="379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6"/>
              </a:lnSpc>
            </a:pPr>
            <a:r>
              <a:rPr lang="en-US" sz="21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Graphs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03787" y="5012065"/>
            <a:ext cx="2336121" cy="374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5"/>
              </a:lnSpc>
            </a:pPr>
            <a:r>
              <a:rPr lang="en-US" sz="17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Structural relationships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05674" y="8537048"/>
            <a:ext cx="10155079" cy="160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"A secure architecture is strongest when every mathematical condition is checked together."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92991" y="8447837"/>
            <a:ext cx="19069" cy="329613"/>
            <a:chOff x="0" y="0"/>
            <a:chExt cx="25425" cy="43948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5400" cy="439420"/>
            </a:xfrm>
            <a:custGeom>
              <a:avLst/>
              <a:gdLst/>
              <a:ahLst/>
              <a:cxnLst/>
              <a:rect r="r" b="b" t="t" l="l"/>
              <a:pathLst>
                <a:path h="439420" w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426720"/>
                  </a:lnTo>
                  <a:cubicBezTo>
                    <a:pt x="25400" y="433705"/>
                    <a:pt x="19685" y="439420"/>
                    <a:pt x="12700" y="439420"/>
                  </a:cubicBezTo>
                  <a:cubicBezTo>
                    <a:pt x="5715" y="439420"/>
                    <a:pt x="0" y="433705"/>
                    <a:pt x="0" y="426720"/>
                  </a:cubicBezTo>
                  <a:close/>
                </a:path>
              </a:pathLst>
            </a:custGeom>
            <a:solidFill>
              <a:srgbClr val="26A688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88219" y="8852364"/>
            <a:ext cx="9462211" cy="746512"/>
            <a:chOff x="0" y="0"/>
            <a:chExt cx="12616282" cy="9953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616307" cy="995426"/>
            </a:xfrm>
            <a:custGeom>
              <a:avLst/>
              <a:gdLst/>
              <a:ahLst/>
              <a:cxnLst/>
              <a:rect r="r" b="b" t="t" l="l"/>
              <a:pathLst>
                <a:path h="995426" w="12616307">
                  <a:moveTo>
                    <a:pt x="0" y="80518"/>
                  </a:moveTo>
                  <a:cubicBezTo>
                    <a:pt x="0" y="36068"/>
                    <a:pt x="36068" y="0"/>
                    <a:pt x="80518" y="0"/>
                  </a:cubicBezTo>
                  <a:lnTo>
                    <a:pt x="12535789" y="0"/>
                  </a:lnTo>
                  <a:cubicBezTo>
                    <a:pt x="12580239" y="0"/>
                    <a:pt x="12616307" y="36068"/>
                    <a:pt x="12616307" y="80518"/>
                  </a:cubicBezTo>
                  <a:lnTo>
                    <a:pt x="12616307" y="914908"/>
                  </a:lnTo>
                  <a:cubicBezTo>
                    <a:pt x="12616307" y="959358"/>
                    <a:pt x="12580239" y="995426"/>
                    <a:pt x="12535789" y="995426"/>
                  </a:cubicBezTo>
                  <a:lnTo>
                    <a:pt x="80518" y="995426"/>
                  </a:lnTo>
                  <a:cubicBezTo>
                    <a:pt x="36068" y="995299"/>
                    <a:pt x="0" y="959358"/>
                    <a:pt x="0" y="914908"/>
                  </a:cubicBezTo>
                  <a:close/>
                </a:path>
              </a:pathLst>
            </a:custGeom>
            <a:solidFill>
              <a:srgbClr val="D6F5EE"/>
            </a:solidFill>
            <a:ln w="9532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1144314" y="8989409"/>
            <a:ext cx="9150029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35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Boolean Algebra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44314" y="9282065"/>
            <a:ext cx="9150029" cy="160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Formal decision logic for the final ACCEPT condition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88219" y="9660245"/>
            <a:ext cx="9462211" cy="746512"/>
            <a:chOff x="0" y="0"/>
            <a:chExt cx="12616282" cy="9953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616307" cy="995426"/>
            </a:xfrm>
            <a:custGeom>
              <a:avLst/>
              <a:gdLst/>
              <a:ahLst/>
              <a:cxnLst/>
              <a:rect r="r" b="b" t="t" l="l"/>
              <a:pathLst>
                <a:path h="995426" w="12616307">
                  <a:moveTo>
                    <a:pt x="0" y="80518"/>
                  </a:moveTo>
                  <a:cubicBezTo>
                    <a:pt x="0" y="36068"/>
                    <a:pt x="36068" y="0"/>
                    <a:pt x="80518" y="0"/>
                  </a:cubicBezTo>
                  <a:lnTo>
                    <a:pt x="12535789" y="0"/>
                  </a:lnTo>
                  <a:cubicBezTo>
                    <a:pt x="12580239" y="0"/>
                    <a:pt x="12616307" y="36068"/>
                    <a:pt x="12616307" y="80518"/>
                  </a:cubicBezTo>
                  <a:lnTo>
                    <a:pt x="12616307" y="914908"/>
                  </a:lnTo>
                  <a:cubicBezTo>
                    <a:pt x="12616307" y="959358"/>
                    <a:pt x="12580239" y="995426"/>
                    <a:pt x="12535789" y="995426"/>
                  </a:cubicBezTo>
                  <a:lnTo>
                    <a:pt x="80518" y="995426"/>
                  </a:lnTo>
                  <a:cubicBezTo>
                    <a:pt x="36068" y="995299"/>
                    <a:pt x="0" y="959358"/>
                    <a:pt x="0" y="914908"/>
                  </a:cubicBezTo>
                  <a:close/>
                </a:path>
              </a:pathLst>
            </a:custGeom>
            <a:solidFill>
              <a:srgbClr val="D6F5EE"/>
            </a:solidFill>
            <a:ln w="9532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1144314" y="9797282"/>
            <a:ext cx="9150029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35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Hamming Distance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44314" y="10089937"/>
            <a:ext cx="9150029" cy="160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Precise measurement of transmission error magnitude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88219" y="10468118"/>
            <a:ext cx="9462211" cy="746512"/>
            <a:chOff x="0" y="0"/>
            <a:chExt cx="12616282" cy="9953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616307" cy="995426"/>
            </a:xfrm>
            <a:custGeom>
              <a:avLst/>
              <a:gdLst/>
              <a:ahLst/>
              <a:cxnLst/>
              <a:rect r="r" b="b" t="t" l="l"/>
              <a:pathLst>
                <a:path h="995426" w="12616307">
                  <a:moveTo>
                    <a:pt x="0" y="80518"/>
                  </a:moveTo>
                  <a:cubicBezTo>
                    <a:pt x="0" y="36068"/>
                    <a:pt x="36068" y="0"/>
                    <a:pt x="80518" y="0"/>
                  </a:cubicBezTo>
                  <a:lnTo>
                    <a:pt x="12535789" y="0"/>
                  </a:lnTo>
                  <a:cubicBezTo>
                    <a:pt x="12580239" y="0"/>
                    <a:pt x="12616307" y="36068"/>
                    <a:pt x="12616307" y="80518"/>
                  </a:cubicBezTo>
                  <a:lnTo>
                    <a:pt x="12616307" y="914908"/>
                  </a:lnTo>
                  <a:cubicBezTo>
                    <a:pt x="12616307" y="959358"/>
                    <a:pt x="12580239" y="995426"/>
                    <a:pt x="12535789" y="995426"/>
                  </a:cubicBezTo>
                  <a:lnTo>
                    <a:pt x="80518" y="995426"/>
                  </a:lnTo>
                  <a:cubicBezTo>
                    <a:pt x="36068" y="995299"/>
                    <a:pt x="0" y="959358"/>
                    <a:pt x="0" y="914908"/>
                  </a:cubicBezTo>
                  <a:close/>
                </a:path>
              </a:pathLst>
            </a:custGeom>
            <a:solidFill>
              <a:srgbClr val="D6F5EE"/>
            </a:solidFill>
            <a:ln w="9532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1144314" y="10605164"/>
            <a:ext cx="9150029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35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Finite Fields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44314" y="10897810"/>
            <a:ext cx="9150029" cy="160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Structured computation environments for cryptography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88219" y="11275990"/>
            <a:ext cx="9462211" cy="746512"/>
            <a:chOff x="0" y="0"/>
            <a:chExt cx="12616282" cy="9953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616307" cy="995426"/>
            </a:xfrm>
            <a:custGeom>
              <a:avLst/>
              <a:gdLst/>
              <a:ahLst/>
              <a:cxnLst/>
              <a:rect r="r" b="b" t="t" l="l"/>
              <a:pathLst>
                <a:path h="995426" w="12616307">
                  <a:moveTo>
                    <a:pt x="0" y="80518"/>
                  </a:moveTo>
                  <a:cubicBezTo>
                    <a:pt x="0" y="36068"/>
                    <a:pt x="36068" y="0"/>
                    <a:pt x="80518" y="0"/>
                  </a:cubicBezTo>
                  <a:lnTo>
                    <a:pt x="12535789" y="0"/>
                  </a:lnTo>
                  <a:cubicBezTo>
                    <a:pt x="12580239" y="0"/>
                    <a:pt x="12616307" y="36068"/>
                    <a:pt x="12616307" y="80518"/>
                  </a:cubicBezTo>
                  <a:lnTo>
                    <a:pt x="12616307" y="914908"/>
                  </a:lnTo>
                  <a:cubicBezTo>
                    <a:pt x="12616307" y="959358"/>
                    <a:pt x="12580239" y="995426"/>
                    <a:pt x="12535789" y="995426"/>
                  </a:cubicBezTo>
                  <a:lnTo>
                    <a:pt x="80518" y="995426"/>
                  </a:lnTo>
                  <a:cubicBezTo>
                    <a:pt x="36068" y="995299"/>
                    <a:pt x="0" y="959358"/>
                    <a:pt x="0" y="914908"/>
                  </a:cubicBezTo>
                  <a:close/>
                </a:path>
              </a:pathLst>
            </a:custGeom>
            <a:solidFill>
              <a:srgbClr val="D6F5EE"/>
            </a:solidFill>
            <a:ln w="9532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44" id="44"/>
          <p:cNvSpPr txBox="true"/>
          <p:nvPr/>
        </p:nvSpPr>
        <p:spPr>
          <a:xfrm rot="0">
            <a:off x="1144314" y="11413036"/>
            <a:ext cx="9150029" cy="24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35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Recurrences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44314" y="11705692"/>
            <a:ext cx="9150029" cy="160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Repeated-state mathematics for sequence modelling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terms:created xsi:type="dcterms:W3CDTF">2006-08-16T00:00:00.0000000Z</dcterms:created>
  <dc:identifier>DAHWXxFvGpc</dc:identifier>
  <dcterms:modified xsi:type="dcterms:W3CDTF">2026-10-14T18:34:03.9950000Z</dcterms:modified>
  <revision>1</revision>
  <dc:title>Module-1-Mathematical-Logic-and-Proof-Techniques.pptx</dc:title>
</coreProperties>
</file>