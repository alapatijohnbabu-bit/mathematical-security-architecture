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ptos Bold" charset="1" panose="020B0004020202020204"/>
      <p:regular r:id="rId15"/>
    </p:embeddedFont>
    <p:embeddedFont>
      <p:font typeface="Aptos" charset="1" panose="020B0004020202020204"/>
      <p:regular r:id="rId16"/>
    </p:embeddedFont>
    <p:embeddedFont>
      <p:font typeface="Aptos Italics" charset="1" panose="020B000402020209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14921" y="1853108"/>
            <a:ext cx="3088510" cy="3088510"/>
            <a:chOff x="0" y="0"/>
            <a:chExt cx="4118013" cy="4118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7975" cy="4117975"/>
            </a:xfrm>
            <a:custGeom>
              <a:avLst/>
              <a:gdLst/>
              <a:ahLst/>
              <a:cxnLst/>
              <a:rect r="r" b="b" t="t" l="l"/>
              <a:pathLst>
                <a:path h="4117975" w="4117975">
                  <a:moveTo>
                    <a:pt x="0" y="2059051"/>
                  </a:moveTo>
                  <a:cubicBezTo>
                    <a:pt x="0" y="921893"/>
                    <a:pt x="921893" y="0"/>
                    <a:pt x="2059051" y="0"/>
                  </a:cubicBezTo>
                  <a:cubicBezTo>
                    <a:pt x="3196209" y="0"/>
                    <a:pt x="4117975" y="921893"/>
                    <a:pt x="4117975" y="2059051"/>
                  </a:cubicBezTo>
                  <a:cubicBezTo>
                    <a:pt x="4117975" y="3196209"/>
                    <a:pt x="3196209" y="4117975"/>
                    <a:pt x="2059051" y="4117975"/>
                  </a:cubicBezTo>
                  <a:cubicBezTo>
                    <a:pt x="921893" y="4117975"/>
                    <a:pt x="0" y="3196209"/>
                    <a:pt x="0" y="2059051"/>
                  </a:cubicBezTo>
                  <a:close/>
                </a:path>
              </a:pathLst>
            </a:custGeom>
            <a:solidFill>
              <a:srgbClr val="E2D2B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069892" y="2608078"/>
            <a:ext cx="1647206" cy="1647206"/>
            <a:chOff x="0" y="0"/>
            <a:chExt cx="2196274" cy="21962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338" cy="2196338"/>
            </a:xfrm>
            <a:custGeom>
              <a:avLst/>
              <a:gdLst/>
              <a:ahLst/>
              <a:cxnLst/>
              <a:rect r="r" b="b" t="t" l="l"/>
              <a:pathLst>
                <a:path h="2196338" w="2196338">
                  <a:moveTo>
                    <a:pt x="0" y="1098169"/>
                  </a:moveTo>
                  <a:cubicBezTo>
                    <a:pt x="0" y="491617"/>
                    <a:pt x="491617" y="0"/>
                    <a:pt x="1098169" y="0"/>
                  </a:cubicBezTo>
                  <a:cubicBezTo>
                    <a:pt x="1704721" y="0"/>
                    <a:pt x="2196338" y="491617"/>
                    <a:pt x="2196338" y="1098169"/>
                  </a:cubicBezTo>
                  <a:cubicBezTo>
                    <a:pt x="2196338" y="1704721"/>
                    <a:pt x="1704721" y="2196338"/>
                    <a:pt x="1098169" y="2196338"/>
                  </a:cubicBezTo>
                  <a:cubicBezTo>
                    <a:pt x="491617" y="2196338"/>
                    <a:pt x="0" y="1704594"/>
                    <a:pt x="0" y="1098169"/>
                  </a:cubicBezTo>
                  <a:close/>
                </a:path>
              </a:pathLst>
            </a:custGeom>
            <a:solidFill>
              <a:srgbClr val="4D776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22872" y="3047333"/>
            <a:ext cx="754971" cy="754971"/>
            <a:chOff x="0" y="0"/>
            <a:chExt cx="1006627" cy="10066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FFFCF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12494" y="1889303"/>
            <a:ext cx="11301736" cy="225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A Mathematical Security</a:t>
            </a:r>
          </a:p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122" y="4644171"/>
            <a:ext cx="10615403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Authentication • Key Management • Message Integrity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1122" y="6016847"/>
            <a:ext cx="10203599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A six-module maths project using discrete mathematics to explain how secure messaging decisions can be modelled and checked.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1122" y="9036720"/>
            <a:ext cx="814459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855E3E"/>
                </a:solidFill>
                <a:latin typeface="Aptos Bold"/>
                <a:ea typeface="Aptos Bold"/>
                <a:cs typeface="Aptos Bold"/>
                <a:sym typeface="Aptos Bold"/>
              </a:rPr>
              <a:t>University Project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40951" y="8168955"/>
            <a:ext cx="5712381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2620040010 - Alapati John Babu</a:t>
            </a:r>
          </a:p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2620090013 - Kanduri Vishnu Preetham</a:t>
            </a:r>
          </a:p>
          <a:p>
            <a:pPr algn="ctr">
              <a:lnSpc>
                <a:spcPts val="3062"/>
              </a:lnSpc>
              <a:spcBef>
                <a:spcPct val="0"/>
              </a:spcBef>
            </a:pPr>
            <a:r>
              <a:rPr lang="en-US" b="true" sz="255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2620090006 - Sai Harsha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85410" y="7589684"/>
            <a:ext cx="146613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Team - L :-</a:t>
            </a:r>
          </a:p>
          <a:p>
            <a:pPr algn="ctr">
              <a:lnSpc>
                <a:spcPts val="306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592" y="567338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The problem we are addressing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8324" y="1455029"/>
            <a:ext cx="1098137" cy="75495"/>
            <a:chOff x="0" y="0"/>
            <a:chExt cx="146418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183" cy="100711"/>
            </a:xfrm>
            <a:custGeom>
              <a:avLst/>
              <a:gdLst/>
              <a:ahLst/>
              <a:cxnLst/>
              <a:rect r="r" b="b" t="t" l="l"/>
              <a:pathLst>
                <a:path h="100711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4044" y="1692926"/>
            <a:ext cx="15968824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How can a messaging system decide whether a message should be trusted?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984" y="2738199"/>
            <a:ext cx="5161817" cy="3102807"/>
            <a:chOff x="0" y="0"/>
            <a:chExt cx="6882422" cy="41370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82384" cy="4137025"/>
            </a:xfrm>
            <a:custGeom>
              <a:avLst/>
              <a:gdLst/>
              <a:ahLst/>
              <a:cxnLst/>
              <a:rect r="r" b="b" t="t" l="l"/>
              <a:pathLst>
                <a:path h="4137025" w="6882384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6192901" y="0"/>
                  </a:lnTo>
                  <a:cubicBezTo>
                    <a:pt x="6573774" y="0"/>
                    <a:pt x="6882384" y="308737"/>
                    <a:pt x="6882384" y="689483"/>
                  </a:cubicBezTo>
                  <a:lnTo>
                    <a:pt x="6882384" y="3447542"/>
                  </a:lnTo>
                  <a:cubicBezTo>
                    <a:pt x="6882384" y="3828415"/>
                    <a:pt x="6573647" y="4137025"/>
                    <a:pt x="6192901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445847" y="3038142"/>
            <a:ext cx="445210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THE RISK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5847" y="3642122"/>
            <a:ext cx="4452109" cy="192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A message could come from the wrong user, use an invalid key, or be changed in transit.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81680" y="2738199"/>
            <a:ext cx="5161817" cy="3102807"/>
            <a:chOff x="0" y="0"/>
            <a:chExt cx="6882422" cy="41370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2384" cy="4137025"/>
            </a:xfrm>
            <a:custGeom>
              <a:avLst/>
              <a:gdLst/>
              <a:ahLst/>
              <a:cxnLst/>
              <a:rect r="r" b="b" t="t" l="l"/>
              <a:pathLst>
                <a:path h="4137025" w="6882384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6192901" y="0"/>
                  </a:lnTo>
                  <a:cubicBezTo>
                    <a:pt x="6573774" y="0"/>
                    <a:pt x="6882384" y="308737"/>
                    <a:pt x="6882384" y="689483"/>
                  </a:cubicBezTo>
                  <a:lnTo>
                    <a:pt x="6882384" y="3447542"/>
                  </a:lnTo>
                  <a:cubicBezTo>
                    <a:pt x="6882384" y="3828415"/>
                    <a:pt x="6573647" y="4137025"/>
                    <a:pt x="6192901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36534" y="3038142"/>
            <a:ext cx="445210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OUR APPROACH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36534" y="3642122"/>
            <a:ext cx="4452109" cy="192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Represent important security checks using mathematical rules and structures.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72366" y="2738199"/>
            <a:ext cx="5161817" cy="3102807"/>
            <a:chOff x="0" y="0"/>
            <a:chExt cx="6882422" cy="41370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2384" cy="4137025"/>
            </a:xfrm>
            <a:custGeom>
              <a:avLst/>
              <a:gdLst/>
              <a:ahLst/>
              <a:cxnLst/>
              <a:rect r="r" b="b" t="t" l="l"/>
              <a:pathLst>
                <a:path h="4137025" w="6882384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6192901" y="0"/>
                  </a:lnTo>
                  <a:cubicBezTo>
                    <a:pt x="6573774" y="0"/>
                    <a:pt x="6882384" y="308737"/>
                    <a:pt x="6882384" y="689483"/>
                  </a:cubicBezTo>
                  <a:lnTo>
                    <a:pt x="6882384" y="3447542"/>
                  </a:lnTo>
                  <a:cubicBezTo>
                    <a:pt x="6882384" y="3828415"/>
                    <a:pt x="6573647" y="4137025"/>
                    <a:pt x="6192901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427229" y="3038142"/>
            <a:ext cx="445210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THE GOAL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27229" y="3642122"/>
            <a:ext cx="4452109" cy="192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Accept only when required checks pass; otherwise reject or recheck.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8396" y="6987245"/>
            <a:ext cx="15282491" cy="85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Main idea: mathematics makes the security rules explicit, consistent, and easier to reason about.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592" y="567338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The six mathematical modules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8324" y="1455029"/>
            <a:ext cx="1098137" cy="75495"/>
            <a:chOff x="0" y="0"/>
            <a:chExt cx="146418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183" cy="100711"/>
            </a:xfrm>
            <a:custGeom>
              <a:avLst/>
              <a:gdLst/>
              <a:ahLst/>
              <a:cxnLst/>
              <a:rect r="r" b="b" t="t" l="l"/>
              <a:pathLst>
                <a:path h="100711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4044" y="1692926"/>
            <a:ext cx="15968824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Each module contributes one part of the security model.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984" y="2532297"/>
            <a:ext cx="5024552" cy="2416473"/>
            <a:chOff x="0" y="0"/>
            <a:chExt cx="6699402" cy="3221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99377" cy="3221863"/>
            </a:xfrm>
            <a:custGeom>
              <a:avLst/>
              <a:gdLst/>
              <a:ahLst/>
              <a:cxnLst/>
              <a:rect r="r" b="b" t="t" l="l"/>
              <a:pathLst>
                <a:path h="3221863" w="6699377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162421" y="0"/>
                  </a:lnTo>
                  <a:cubicBezTo>
                    <a:pt x="6458966" y="0"/>
                    <a:pt x="6699377" y="240411"/>
                    <a:pt x="6699377" y="536956"/>
                  </a:cubicBezTo>
                  <a:lnTo>
                    <a:pt x="6699377" y="2684907"/>
                  </a:lnTo>
                  <a:cubicBezTo>
                    <a:pt x="6699377" y="2981452"/>
                    <a:pt x="6458966" y="3221863"/>
                    <a:pt x="6162421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445847" y="2832249"/>
            <a:ext cx="431483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1. Logic &amp; Proofs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5847" y="3436220"/>
            <a:ext cx="4314835" cy="124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State the security conditions and prove the decision rule.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50307" y="2532297"/>
            <a:ext cx="5024552" cy="2416473"/>
            <a:chOff x="0" y="0"/>
            <a:chExt cx="6699402" cy="32219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99377" cy="3221863"/>
            </a:xfrm>
            <a:custGeom>
              <a:avLst/>
              <a:gdLst/>
              <a:ahLst/>
              <a:cxnLst/>
              <a:rect r="r" b="b" t="t" l="l"/>
              <a:pathLst>
                <a:path h="3221863" w="6699377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162421" y="0"/>
                  </a:lnTo>
                  <a:cubicBezTo>
                    <a:pt x="6458966" y="0"/>
                    <a:pt x="6699377" y="240411"/>
                    <a:pt x="6699377" y="536956"/>
                  </a:cubicBezTo>
                  <a:lnTo>
                    <a:pt x="6699377" y="2684907"/>
                  </a:lnTo>
                  <a:cubicBezTo>
                    <a:pt x="6699377" y="2981452"/>
                    <a:pt x="6458966" y="3221863"/>
                    <a:pt x="6162421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005171" y="2832249"/>
            <a:ext cx="431483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2. Sets, Relations &amp; Functions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05171" y="3436220"/>
            <a:ext cx="4314835" cy="124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Model users, roles, permissions, and mappings.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209631" y="2532297"/>
            <a:ext cx="5024552" cy="2416473"/>
            <a:chOff x="0" y="0"/>
            <a:chExt cx="6699402" cy="32219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99377" cy="3221863"/>
            </a:xfrm>
            <a:custGeom>
              <a:avLst/>
              <a:gdLst/>
              <a:ahLst/>
              <a:cxnLst/>
              <a:rect r="r" b="b" t="t" l="l"/>
              <a:pathLst>
                <a:path h="3221863" w="6699377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162421" y="0"/>
                  </a:lnTo>
                  <a:cubicBezTo>
                    <a:pt x="6458966" y="0"/>
                    <a:pt x="6699377" y="240411"/>
                    <a:pt x="6699377" y="536956"/>
                  </a:cubicBezTo>
                  <a:lnTo>
                    <a:pt x="6699377" y="2684907"/>
                  </a:lnTo>
                  <a:cubicBezTo>
                    <a:pt x="6699377" y="2981452"/>
                    <a:pt x="6458966" y="3221863"/>
                    <a:pt x="6162421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564494" y="2832249"/>
            <a:ext cx="431483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3. Combinatorics &amp; Counting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64494" y="3436220"/>
            <a:ext cx="4314835" cy="124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Estimate key-space size and reason about collisions.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90984" y="5689444"/>
            <a:ext cx="5024552" cy="2416473"/>
            <a:chOff x="0" y="0"/>
            <a:chExt cx="6699402" cy="32219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99377" cy="3221863"/>
            </a:xfrm>
            <a:custGeom>
              <a:avLst/>
              <a:gdLst/>
              <a:ahLst/>
              <a:cxnLst/>
              <a:rect r="r" b="b" t="t" l="l"/>
              <a:pathLst>
                <a:path h="3221863" w="6699377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162421" y="0"/>
                  </a:lnTo>
                  <a:cubicBezTo>
                    <a:pt x="6458966" y="0"/>
                    <a:pt x="6699377" y="240411"/>
                    <a:pt x="6699377" y="536956"/>
                  </a:cubicBezTo>
                  <a:lnTo>
                    <a:pt x="6699377" y="2684907"/>
                  </a:lnTo>
                  <a:cubicBezTo>
                    <a:pt x="6699377" y="2981452"/>
                    <a:pt x="6458966" y="3221863"/>
                    <a:pt x="6162421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445847" y="5989396"/>
            <a:ext cx="431483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4. Number Theory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5847" y="6593367"/>
            <a:ext cx="4314835" cy="124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Explain modular arithmetic and RSA-style key operations.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50307" y="5689444"/>
            <a:ext cx="5024552" cy="2416473"/>
            <a:chOff x="0" y="0"/>
            <a:chExt cx="6699402" cy="32219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99377" cy="3221863"/>
            </a:xfrm>
            <a:custGeom>
              <a:avLst/>
              <a:gdLst/>
              <a:ahLst/>
              <a:cxnLst/>
              <a:rect r="r" b="b" t="t" l="l"/>
              <a:pathLst>
                <a:path h="3221863" w="6699377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162421" y="0"/>
                  </a:lnTo>
                  <a:cubicBezTo>
                    <a:pt x="6458966" y="0"/>
                    <a:pt x="6699377" y="240411"/>
                    <a:pt x="6699377" y="536956"/>
                  </a:cubicBezTo>
                  <a:lnTo>
                    <a:pt x="6699377" y="2684907"/>
                  </a:lnTo>
                  <a:cubicBezTo>
                    <a:pt x="6699377" y="2981452"/>
                    <a:pt x="6458966" y="3221863"/>
                    <a:pt x="6162421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7005171" y="5989396"/>
            <a:ext cx="431483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5. Graphs &amp; Trees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05171" y="6593367"/>
            <a:ext cx="4314835" cy="124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Represent communication routes and key-distribution links.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09631" y="5689444"/>
            <a:ext cx="5024552" cy="2416473"/>
            <a:chOff x="0" y="0"/>
            <a:chExt cx="6699402" cy="32219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99377" cy="3221863"/>
            </a:xfrm>
            <a:custGeom>
              <a:avLst/>
              <a:gdLst/>
              <a:ahLst/>
              <a:cxnLst/>
              <a:rect r="r" b="b" t="t" l="l"/>
              <a:pathLst>
                <a:path h="3221863" w="6699377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6162421" y="0"/>
                  </a:lnTo>
                  <a:cubicBezTo>
                    <a:pt x="6458966" y="0"/>
                    <a:pt x="6699377" y="240411"/>
                    <a:pt x="6699377" y="536956"/>
                  </a:cubicBezTo>
                  <a:lnTo>
                    <a:pt x="6699377" y="2684907"/>
                  </a:lnTo>
                  <a:cubicBezTo>
                    <a:pt x="6699377" y="2981452"/>
                    <a:pt x="6458966" y="3221863"/>
                    <a:pt x="6162421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564494" y="5989396"/>
            <a:ext cx="431483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6. Algebraic Structures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64494" y="6593367"/>
            <a:ext cx="4314835" cy="124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Explain group-based operations used in key exchange and integrity methods.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592" y="567338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How the security decision works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8324" y="1455029"/>
            <a:ext cx="1098137" cy="75495"/>
            <a:chOff x="0" y="0"/>
            <a:chExt cx="146418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183" cy="100711"/>
            </a:xfrm>
            <a:custGeom>
              <a:avLst/>
              <a:gdLst/>
              <a:ahLst/>
              <a:cxnLst/>
              <a:rect r="r" b="b" t="t" l="l"/>
              <a:pathLst>
                <a:path h="100711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4044" y="1692926"/>
            <a:ext cx="15968824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Module 1: mathematical logic turns requirements into a clear accept/reject rule.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8396" y="2800588"/>
            <a:ext cx="15419756" cy="9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4"/>
              </a:lnSpc>
            </a:pPr>
            <a:r>
              <a:rPr lang="en-US" sz="4803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ACCEPT = A ∧ P ∧ K ∧ R ∧ 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0984" y="4454033"/>
            <a:ext cx="2965542" cy="1592875"/>
            <a:chOff x="0" y="0"/>
            <a:chExt cx="3954056" cy="21238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54018" cy="2123821"/>
            </a:xfrm>
            <a:custGeom>
              <a:avLst/>
              <a:gdLst/>
              <a:ahLst/>
              <a:cxnLst/>
              <a:rect r="r" b="b" t="t" l="l"/>
              <a:pathLst>
                <a:path h="2123821" w="395401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600069" y="0"/>
                  </a:lnTo>
                  <a:cubicBezTo>
                    <a:pt x="3795522" y="0"/>
                    <a:pt x="3954018" y="158496"/>
                    <a:pt x="3954018" y="353949"/>
                  </a:cubicBezTo>
                  <a:lnTo>
                    <a:pt x="3954018" y="1769872"/>
                  </a:lnTo>
                  <a:cubicBezTo>
                    <a:pt x="3954018" y="1965325"/>
                    <a:pt x="3795522" y="2123821"/>
                    <a:pt x="360006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53671" y="4671622"/>
            <a:ext cx="52626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7651" y="4644171"/>
            <a:ext cx="1967570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Authentication is valid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522670" y="4454033"/>
            <a:ext cx="2965542" cy="1592875"/>
            <a:chOff x="0" y="0"/>
            <a:chExt cx="3954056" cy="21238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54018" cy="2123821"/>
            </a:xfrm>
            <a:custGeom>
              <a:avLst/>
              <a:gdLst/>
              <a:ahLst/>
              <a:cxnLst/>
              <a:rect r="r" b="b" t="t" l="l"/>
              <a:pathLst>
                <a:path h="2123821" w="395401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600069" y="0"/>
                  </a:lnTo>
                  <a:cubicBezTo>
                    <a:pt x="3795522" y="0"/>
                    <a:pt x="3954018" y="158496"/>
                    <a:pt x="3954018" y="353949"/>
                  </a:cubicBezTo>
                  <a:lnTo>
                    <a:pt x="3954018" y="1769872"/>
                  </a:lnTo>
                  <a:cubicBezTo>
                    <a:pt x="3954018" y="1965325"/>
                    <a:pt x="3795522" y="2123821"/>
                    <a:pt x="360006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4685357" y="4671622"/>
            <a:ext cx="52626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89328" y="4644171"/>
            <a:ext cx="1967570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Permission is valid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954347" y="4454033"/>
            <a:ext cx="2965542" cy="1592875"/>
            <a:chOff x="0" y="0"/>
            <a:chExt cx="3954056" cy="21238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54018" cy="2123821"/>
            </a:xfrm>
            <a:custGeom>
              <a:avLst/>
              <a:gdLst/>
              <a:ahLst/>
              <a:cxnLst/>
              <a:rect r="r" b="b" t="t" l="l"/>
              <a:pathLst>
                <a:path h="2123821" w="395401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600069" y="0"/>
                  </a:lnTo>
                  <a:cubicBezTo>
                    <a:pt x="3795522" y="0"/>
                    <a:pt x="3954018" y="158496"/>
                    <a:pt x="3954018" y="353949"/>
                  </a:cubicBezTo>
                  <a:lnTo>
                    <a:pt x="3954018" y="1769872"/>
                  </a:lnTo>
                  <a:cubicBezTo>
                    <a:pt x="3954018" y="1965325"/>
                    <a:pt x="3795522" y="2123821"/>
                    <a:pt x="360006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117034" y="4671622"/>
            <a:ext cx="52626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21014" y="4644171"/>
            <a:ext cx="1967570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Key condition is valid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386033" y="4454033"/>
            <a:ext cx="2965542" cy="1592875"/>
            <a:chOff x="0" y="0"/>
            <a:chExt cx="3954056" cy="21238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54018" cy="2123821"/>
            </a:xfrm>
            <a:custGeom>
              <a:avLst/>
              <a:gdLst/>
              <a:ahLst/>
              <a:cxnLst/>
              <a:rect r="r" b="b" t="t" l="l"/>
              <a:pathLst>
                <a:path h="2123821" w="395401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600069" y="0"/>
                  </a:lnTo>
                  <a:cubicBezTo>
                    <a:pt x="3795522" y="0"/>
                    <a:pt x="3954018" y="158496"/>
                    <a:pt x="3954018" y="353949"/>
                  </a:cubicBezTo>
                  <a:lnTo>
                    <a:pt x="3954018" y="1769872"/>
                  </a:lnTo>
                  <a:cubicBezTo>
                    <a:pt x="3954018" y="1965325"/>
                    <a:pt x="3795522" y="2123821"/>
                    <a:pt x="360006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548710" y="4671622"/>
            <a:ext cx="52626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52690" y="4644171"/>
            <a:ext cx="1967570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Route is valid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817709" y="4454033"/>
            <a:ext cx="2965542" cy="1592875"/>
            <a:chOff x="0" y="0"/>
            <a:chExt cx="3954056" cy="21238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54018" cy="2123821"/>
            </a:xfrm>
            <a:custGeom>
              <a:avLst/>
              <a:gdLst/>
              <a:ahLst/>
              <a:cxnLst/>
              <a:rect r="r" b="b" t="t" l="l"/>
              <a:pathLst>
                <a:path h="2123821" w="3954018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600069" y="0"/>
                  </a:lnTo>
                  <a:cubicBezTo>
                    <a:pt x="3795522" y="0"/>
                    <a:pt x="3954018" y="158496"/>
                    <a:pt x="3954018" y="353949"/>
                  </a:cubicBezTo>
                  <a:lnTo>
                    <a:pt x="3954018" y="1769872"/>
                  </a:lnTo>
                  <a:cubicBezTo>
                    <a:pt x="3954018" y="1965325"/>
                    <a:pt x="3795522" y="2123821"/>
                    <a:pt x="3600069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4980396" y="4671622"/>
            <a:ext cx="52626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584367" y="4644171"/>
            <a:ext cx="1967570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Message integrity is valid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8396" y="7193137"/>
            <a:ext cx="15419756" cy="9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If even one condition is false, the message is rejected.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592" y="567338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Users, permissions and keys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8324" y="1455029"/>
            <a:ext cx="1098137" cy="75495"/>
            <a:chOff x="0" y="0"/>
            <a:chExt cx="146418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183" cy="100711"/>
            </a:xfrm>
            <a:custGeom>
              <a:avLst/>
              <a:gdLst/>
              <a:ahLst/>
              <a:cxnLst/>
              <a:rect r="r" b="b" t="t" l="l"/>
              <a:pathLst>
                <a:path h="100711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4044" y="1692926"/>
            <a:ext cx="15968824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Modules 2–4: define who may act, then measure and reason about keys.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984" y="2738199"/>
            <a:ext cx="5161817" cy="3720513"/>
            <a:chOff x="0" y="0"/>
            <a:chExt cx="6882422" cy="49606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82384" cy="4960620"/>
            </a:xfrm>
            <a:custGeom>
              <a:avLst/>
              <a:gdLst/>
              <a:ahLst/>
              <a:cxnLst/>
              <a:rect r="r" b="b" t="t" l="l"/>
              <a:pathLst>
                <a:path h="4960620" w="6882384">
                  <a:moveTo>
                    <a:pt x="0" y="826770"/>
                  </a:moveTo>
                  <a:cubicBezTo>
                    <a:pt x="0" y="370205"/>
                    <a:pt x="370205" y="0"/>
                    <a:pt x="826770" y="0"/>
                  </a:cubicBezTo>
                  <a:lnTo>
                    <a:pt x="6055614" y="0"/>
                  </a:lnTo>
                  <a:cubicBezTo>
                    <a:pt x="6512179" y="0"/>
                    <a:pt x="6882384" y="370205"/>
                    <a:pt x="6882384" y="826770"/>
                  </a:cubicBezTo>
                  <a:lnTo>
                    <a:pt x="6882384" y="4133850"/>
                  </a:lnTo>
                  <a:cubicBezTo>
                    <a:pt x="6882384" y="4590415"/>
                    <a:pt x="6512179" y="4960620"/>
                    <a:pt x="6055614" y="4960620"/>
                  </a:cubicBezTo>
                  <a:lnTo>
                    <a:pt x="826770" y="4960620"/>
                  </a:lnTo>
                  <a:cubicBezTo>
                    <a:pt x="370205" y="4960747"/>
                    <a:pt x="0" y="4590542"/>
                    <a:pt x="0" y="4133850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445847" y="3038142"/>
            <a:ext cx="445210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SET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5847" y="3642122"/>
            <a:ext cx="4452109" cy="254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Users = {Ravi, Priya, Anu}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Permissions = {Send, Receive, Manage}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A relation records which actions each user may perform.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81680" y="2738199"/>
            <a:ext cx="5161817" cy="3720513"/>
            <a:chOff x="0" y="0"/>
            <a:chExt cx="6882422" cy="49606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2384" cy="4960620"/>
            </a:xfrm>
            <a:custGeom>
              <a:avLst/>
              <a:gdLst/>
              <a:ahLst/>
              <a:cxnLst/>
              <a:rect r="r" b="b" t="t" l="l"/>
              <a:pathLst>
                <a:path h="4960620" w="6882384">
                  <a:moveTo>
                    <a:pt x="0" y="826770"/>
                  </a:moveTo>
                  <a:cubicBezTo>
                    <a:pt x="0" y="370205"/>
                    <a:pt x="370205" y="0"/>
                    <a:pt x="826770" y="0"/>
                  </a:cubicBezTo>
                  <a:lnTo>
                    <a:pt x="6055614" y="0"/>
                  </a:lnTo>
                  <a:cubicBezTo>
                    <a:pt x="6512179" y="0"/>
                    <a:pt x="6882384" y="370205"/>
                    <a:pt x="6882384" y="826770"/>
                  </a:cubicBezTo>
                  <a:lnTo>
                    <a:pt x="6882384" y="4133850"/>
                  </a:lnTo>
                  <a:cubicBezTo>
                    <a:pt x="6882384" y="4590415"/>
                    <a:pt x="6512179" y="4960620"/>
                    <a:pt x="6055614" y="4960620"/>
                  </a:cubicBezTo>
                  <a:lnTo>
                    <a:pt x="826770" y="4960620"/>
                  </a:lnTo>
                  <a:cubicBezTo>
                    <a:pt x="370205" y="4960747"/>
                    <a:pt x="0" y="4590542"/>
                    <a:pt x="0" y="4133850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36534" y="3038142"/>
            <a:ext cx="445210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COUNTING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36534" y="3642122"/>
            <a:ext cx="4452109" cy="254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For S symbols and a key length L: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Key-space = Sᴸ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An 8-digit PIN has 10⁸ = 100,000,000 possibilities.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72366" y="2738199"/>
            <a:ext cx="5161817" cy="3720513"/>
            <a:chOff x="0" y="0"/>
            <a:chExt cx="6882422" cy="49606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2384" cy="4960620"/>
            </a:xfrm>
            <a:custGeom>
              <a:avLst/>
              <a:gdLst/>
              <a:ahLst/>
              <a:cxnLst/>
              <a:rect r="r" b="b" t="t" l="l"/>
              <a:pathLst>
                <a:path h="4960620" w="6882384">
                  <a:moveTo>
                    <a:pt x="0" y="826770"/>
                  </a:moveTo>
                  <a:cubicBezTo>
                    <a:pt x="0" y="370205"/>
                    <a:pt x="370205" y="0"/>
                    <a:pt x="826770" y="0"/>
                  </a:cubicBezTo>
                  <a:lnTo>
                    <a:pt x="6055614" y="0"/>
                  </a:lnTo>
                  <a:cubicBezTo>
                    <a:pt x="6512179" y="0"/>
                    <a:pt x="6882384" y="370205"/>
                    <a:pt x="6882384" y="826770"/>
                  </a:cubicBezTo>
                  <a:lnTo>
                    <a:pt x="6882384" y="4133850"/>
                  </a:lnTo>
                  <a:cubicBezTo>
                    <a:pt x="6882384" y="4590415"/>
                    <a:pt x="6512179" y="4960620"/>
                    <a:pt x="6055614" y="4960620"/>
                  </a:cubicBezTo>
                  <a:lnTo>
                    <a:pt x="826770" y="4960620"/>
                  </a:lnTo>
                  <a:cubicBezTo>
                    <a:pt x="370205" y="4960747"/>
                    <a:pt x="0" y="4590542"/>
                    <a:pt x="0" y="4133850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427229" y="3038142"/>
            <a:ext cx="445210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NUMBER THEORY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27229" y="3642122"/>
            <a:ext cx="4452109" cy="254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Modular arithmetic supports cryptographic operations.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RSA is a mathematical example of public-key encryption and key management.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8396" y="7526788"/>
            <a:ext cx="15282491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These models explain access control and key strength; they do not by themselves prove a real system is secure.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592" y="567338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Routes and mathematical operations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8324" y="1455029"/>
            <a:ext cx="1098137" cy="75495"/>
            <a:chOff x="0" y="0"/>
            <a:chExt cx="146418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183" cy="100711"/>
            </a:xfrm>
            <a:custGeom>
              <a:avLst/>
              <a:gdLst/>
              <a:ahLst/>
              <a:cxnLst/>
              <a:rect r="r" b="b" t="t" l="l"/>
              <a:pathLst>
                <a:path h="100711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4044" y="1692926"/>
            <a:ext cx="15968824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Modules 5–6: model communication paths and the structures behind cryptographic methods.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8258" y="2738199"/>
            <a:ext cx="7563993" cy="3651885"/>
            <a:chOff x="0" y="0"/>
            <a:chExt cx="10085324" cy="48691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85324" cy="4869180"/>
            </a:xfrm>
            <a:custGeom>
              <a:avLst/>
              <a:gdLst/>
              <a:ahLst/>
              <a:cxnLst/>
              <a:rect r="r" b="b" t="t" l="l"/>
              <a:pathLst>
                <a:path h="4869180" w="10085324">
                  <a:moveTo>
                    <a:pt x="0" y="811530"/>
                  </a:moveTo>
                  <a:cubicBezTo>
                    <a:pt x="0" y="363347"/>
                    <a:pt x="363347" y="0"/>
                    <a:pt x="811530" y="0"/>
                  </a:cubicBezTo>
                  <a:lnTo>
                    <a:pt x="9273794" y="0"/>
                  </a:lnTo>
                  <a:cubicBezTo>
                    <a:pt x="9721976" y="0"/>
                    <a:pt x="10085324" y="363347"/>
                    <a:pt x="10085324" y="811530"/>
                  </a:cubicBezTo>
                  <a:lnTo>
                    <a:pt x="10085324" y="4057650"/>
                  </a:lnTo>
                  <a:cubicBezTo>
                    <a:pt x="10085324" y="4505833"/>
                    <a:pt x="9721976" y="4869180"/>
                    <a:pt x="9273794" y="4869180"/>
                  </a:cubicBezTo>
                  <a:lnTo>
                    <a:pt x="811530" y="4869180"/>
                  </a:lnTo>
                  <a:cubicBezTo>
                    <a:pt x="363347" y="4869180"/>
                    <a:pt x="0" y="4505833"/>
                    <a:pt x="0" y="4057650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583112" y="3038142"/>
            <a:ext cx="685428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GRAPH THEORY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3112" y="3642122"/>
            <a:ext cx="6854285" cy="247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Represent users or devices as vertices and communication links as edges.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A route can be checked before a message is delivered.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64288" y="2738199"/>
            <a:ext cx="7563993" cy="3651885"/>
            <a:chOff x="0" y="0"/>
            <a:chExt cx="10085324" cy="48691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85324" cy="4869180"/>
            </a:xfrm>
            <a:custGeom>
              <a:avLst/>
              <a:gdLst/>
              <a:ahLst/>
              <a:cxnLst/>
              <a:rect r="r" b="b" t="t" l="l"/>
              <a:pathLst>
                <a:path h="4869180" w="10085324">
                  <a:moveTo>
                    <a:pt x="0" y="811530"/>
                  </a:moveTo>
                  <a:cubicBezTo>
                    <a:pt x="0" y="363347"/>
                    <a:pt x="363347" y="0"/>
                    <a:pt x="811530" y="0"/>
                  </a:cubicBezTo>
                  <a:lnTo>
                    <a:pt x="9273794" y="0"/>
                  </a:lnTo>
                  <a:cubicBezTo>
                    <a:pt x="9721976" y="0"/>
                    <a:pt x="10085324" y="363347"/>
                    <a:pt x="10085324" y="811530"/>
                  </a:cubicBezTo>
                  <a:lnTo>
                    <a:pt x="10085324" y="4057650"/>
                  </a:lnTo>
                  <a:cubicBezTo>
                    <a:pt x="10085324" y="4505833"/>
                    <a:pt x="9721976" y="4869180"/>
                    <a:pt x="9273794" y="4869180"/>
                  </a:cubicBezTo>
                  <a:lnTo>
                    <a:pt x="811530" y="4869180"/>
                  </a:lnTo>
                  <a:cubicBezTo>
                    <a:pt x="363347" y="4869180"/>
                    <a:pt x="0" y="4505833"/>
                    <a:pt x="0" y="4057650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819151" y="3038142"/>
            <a:ext cx="685428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ALGEBRAIC STRUCTURES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19151" y="3642122"/>
            <a:ext cx="6854285" cy="247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Groups and modular operations provide a foundation for methods such as Diffie–Hellman key exchange and elliptic-curve cryptography.</a:t>
            </a:r>
          </a:p>
        </p:txBody>
      </p:sp>
      <p:sp>
        <p:nvSpPr>
          <p:cNvPr name="AutoShape 15" id="15"/>
          <p:cNvSpPr/>
          <p:nvPr/>
        </p:nvSpPr>
        <p:spPr>
          <a:xfrm rot="-1071480">
            <a:off x="2886056" y="7265641"/>
            <a:ext cx="1914858" cy="0"/>
          </a:xfrm>
          <a:prstGeom prst="line">
            <a:avLst/>
          </a:prstGeom>
          <a:ln cap="rnd" w="19050">
            <a:solidFill>
              <a:srgbClr val="855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1346580">
            <a:off x="4644790" y="7334269"/>
            <a:ext cx="1897704" cy="0"/>
          </a:xfrm>
          <a:prstGeom prst="line">
            <a:avLst/>
          </a:prstGeom>
          <a:ln cap="rnd" w="19050">
            <a:solidFill>
              <a:srgbClr val="855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-1701540">
            <a:off x="6340973" y="7334269"/>
            <a:ext cx="1525210" cy="0"/>
          </a:xfrm>
          <a:prstGeom prst="line">
            <a:avLst/>
          </a:prstGeom>
          <a:ln cap="rnd" w="19050">
            <a:solidFill>
              <a:srgbClr val="855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42840">
            <a:off x="4716532" y="6991102"/>
            <a:ext cx="3058249" cy="0"/>
          </a:xfrm>
          <a:prstGeom prst="line">
            <a:avLst/>
          </a:prstGeom>
          <a:ln cap="rnd" w="19050">
            <a:solidFill>
              <a:srgbClr val="855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2745343" y="7343794"/>
            <a:ext cx="411804" cy="411804"/>
            <a:chOff x="0" y="0"/>
            <a:chExt cx="549072" cy="5490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4D776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529823" y="6794725"/>
            <a:ext cx="411804" cy="411804"/>
            <a:chOff x="0" y="0"/>
            <a:chExt cx="549072" cy="5490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4D776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245657" y="7481068"/>
            <a:ext cx="411804" cy="411804"/>
            <a:chOff x="0" y="0"/>
            <a:chExt cx="549072" cy="549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4D776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549696" y="6794725"/>
            <a:ext cx="411804" cy="411804"/>
            <a:chOff x="0" y="0"/>
            <a:chExt cx="549072" cy="5490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105357" y="6909083"/>
            <a:ext cx="7183726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Together, these modules connect abstract maths to the design of secure communication.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592" y="567338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Case study: Ravi sends Priya a message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8324" y="1455029"/>
            <a:ext cx="1098137" cy="75495"/>
            <a:chOff x="0" y="0"/>
            <a:chExt cx="146418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183" cy="100711"/>
            </a:xfrm>
            <a:custGeom>
              <a:avLst/>
              <a:gdLst/>
              <a:ahLst/>
              <a:cxnLst/>
              <a:rect r="r" b="b" t="t" l="l"/>
              <a:pathLst>
                <a:path h="100711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4044" y="1692926"/>
            <a:ext cx="15968824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A simple scenario connects the six mathematical ideas.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04039" y="2539441"/>
            <a:ext cx="851059" cy="796147"/>
            <a:chOff x="0" y="0"/>
            <a:chExt cx="1134745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4745" cy="1061466"/>
            </a:xfrm>
            <a:custGeom>
              <a:avLst/>
              <a:gdLst/>
              <a:ahLst/>
              <a:cxnLst/>
              <a:rect r="r" b="b" t="t" l="l"/>
              <a:pathLst>
                <a:path h="1061466" w="1134745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957834" y="0"/>
                  </a:lnTo>
                  <a:cubicBezTo>
                    <a:pt x="1055497" y="0"/>
                    <a:pt x="1134745" y="79248"/>
                    <a:pt x="1134745" y="176911"/>
                  </a:cubicBezTo>
                  <a:lnTo>
                    <a:pt x="1134745" y="884555"/>
                  </a:lnTo>
                  <a:cubicBezTo>
                    <a:pt x="1134745" y="982218"/>
                    <a:pt x="1055497" y="1061466"/>
                    <a:pt x="957834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49759" y="2694975"/>
            <a:ext cx="75961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85161" y="2612622"/>
            <a:ext cx="265390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855E3E"/>
                </a:solidFill>
                <a:latin typeface="Aptos Bold"/>
                <a:ea typeface="Aptos Bold"/>
                <a:cs typeface="Aptos Bold"/>
                <a:sym typeface="Aptos Bold"/>
              </a:rPr>
              <a:t>Identify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3240" y="2612622"/>
            <a:ext cx="1116447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Check who is sending and who may receive.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04039" y="3802304"/>
            <a:ext cx="851059" cy="796147"/>
            <a:chOff x="0" y="0"/>
            <a:chExt cx="1134745" cy="10615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4745" cy="1061466"/>
            </a:xfrm>
            <a:custGeom>
              <a:avLst/>
              <a:gdLst/>
              <a:ahLst/>
              <a:cxnLst/>
              <a:rect r="r" b="b" t="t" l="l"/>
              <a:pathLst>
                <a:path h="1061466" w="1134745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957834" y="0"/>
                  </a:lnTo>
                  <a:cubicBezTo>
                    <a:pt x="1055497" y="0"/>
                    <a:pt x="1134745" y="79248"/>
                    <a:pt x="1134745" y="176911"/>
                  </a:cubicBezTo>
                  <a:lnTo>
                    <a:pt x="1134745" y="884555"/>
                  </a:lnTo>
                  <a:cubicBezTo>
                    <a:pt x="1134745" y="982218"/>
                    <a:pt x="1055497" y="1061466"/>
                    <a:pt x="957834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49759" y="3957838"/>
            <a:ext cx="75961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85161" y="3875475"/>
            <a:ext cx="265390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855E3E"/>
                </a:solidFill>
                <a:latin typeface="Aptos Bold"/>
                <a:ea typeface="Aptos Bold"/>
                <a:cs typeface="Aptos Bold"/>
                <a:sym typeface="Aptos Bold"/>
              </a:rPr>
              <a:t>Prepare keys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93240" y="3875475"/>
            <a:ext cx="1116447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Use the key model and cryptographic operations.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04039" y="5065157"/>
            <a:ext cx="851059" cy="796147"/>
            <a:chOff x="0" y="0"/>
            <a:chExt cx="1134745" cy="10615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4745" cy="1061466"/>
            </a:xfrm>
            <a:custGeom>
              <a:avLst/>
              <a:gdLst/>
              <a:ahLst/>
              <a:cxnLst/>
              <a:rect r="r" b="b" t="t" l="l"/>
              <a:pathLst>
                <a:path h="1061466" w="1134745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957834" y="0"/>
                  </a:lnTo>
                  <a:cubicBezTo>
                    <a:pt x="1055497" y="0"/>
                    <a:pt x="1134745" y="79248"/>
                    <a:pt x="1134745" y="176911"/>
                  </a:cubicBezTo>
                  <a:lnTo>
                    <a:pt x="1134745" y="884555"/>
                  </a:lnTo>
                  <a:cubicBezTo>
                    <a:pt x="1134745" y="982218"/>
                    <a:pt x="1055497" y="1061466"/>
                    <a:pt x="957834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49759" y="5220691"/>
            <a:ext cx="75961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85161" y="5138337"/>
            <a:ext cx="265390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855E3E"/>
                </a:solidFill>
                <a:latin typeface="Aptos Bold"/>
                <a:ea typeface="Aptos Bold"/>
                <a:cs typeface="Aptos Bold"/>
                <a:sym typeface="Aptos Bold"/>
              </a:rPr>
              <a:t>Check route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93240" y="5138337"/>
            <a:ext cx="1116447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Represent the delivery path as a graph.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04039" y="6328019"/>
            <a:ext cx="851059" cy="796147"/>
            <a:chOff x="0" y="0"/>
            <a:chExt cx="1134745" cy="10615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4745" cy="1061466"/>
            </a:xfrm>
            <a:custGeom>
              <a:avLst/>
              <a:gdLst/>
              <a:ahLst/>
              <a:cxnLst/>
              <a:rect r="r" b="b" t="t" l="l"/>
              <a:pathLst>
                <a:path h="1061466" w="1134745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957834" y="0"/>
                  </a:lnTo>
                  <a:cubicBezTo>
                    <a:pt x="1055497" y="0"/>
                    <a:pt x="1134745" y="79248"/>
                    <a:pt x="1134745" y="176911"/>
                  </a:cubicBezTo>
                  <a:lnTo>
                    <a:pt x="1134745" y="884555"/>
                  </a:lnTo>
                  <a:cubicBezTo>
                    <a:pt x="1134745" y="982218"/>
                    <a:pt x="1055497" y="1061466"/>
                    <a:pt x="957834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49759" y="6483553"/>
            <a:ext cx="75961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85161" y="6401191"/>
            <a:ext cx="265390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855E3E"/>
                </a:solidFill>
                <a:latin typeface="Aptos Bold"/>
                <a:ea typeface="Aptos Bold"/>
                <a:cs typeface="Aptos Bold"/>
                <a:sym typeface="Aptos Bold"/>
              </a:rPr>
              <a:t>Protect message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93240" y="6401191"/>
            <a:ext cx="1116447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Use integrity checks to detect changes.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04039" y="7590882"/>
            <a:ext cx="851059" cy="796147"/>
            <a:chOff x="0" y="0"/>
            <a:chExt cx="1134745" cy="10615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4745" cy="1061466"/>
            </a:xfrm>
            <a:custGeom>
              <a:avLst/>
              <a:gdLst/>
              <a:ahLst/>
              <a:cxnLst/>
              <a:rect r="r" b="b" t="t" l="l"/>
              <a:pathLst>
                <a:path h="1061466" w="1134745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957834" y="0"/>
                  </a:lnTo>
                  <a:cubicBezTo>
                    <a:pt x="1055497" y="0"/>
                    <a:pt x="1134745" y="79248"/>
                    <a:pt x="1134745" y="176911"/>
                  </a:cubicBezTo>
                  <a:lnTo>
                    <a:pt x="1134745" y="884555"/>
                  </a:lnTo>
                  <a:cubicBezTo>
                    <a:pt x="1134745" y="982218"/>
                    <a:pt x="1055497" y="1061466"/>
                    <a:pt x="957834" y="1061466"/>
                  </a:cubicBezTo>
                  <a:lnTo>
                    <a:pt x="176911" y="1061466"/>
                  </a:lnTo>
                  <a:cubicBezTo>
                    <a:pt x="79248" y="1061593"/>
                    <a:pt x="0" y="982345"/>
                    <a:pt x="0" y="884555"/>
                  </a:cubicBez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49759" y="7746416"/>
            <a:ext cx="75961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85161" y="7664053"/>
            <a:ext cx="265390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855E3E"/>
                </a:solidFill>
                <a:latin typeface="Aptos Bold"/>
                <a:ea typeface="Aptos Bold"/>
                <a:cs typeface="Aptos Bold"/>
                <a:sym typeface="Aptos Bold"/>
              </a:rPr>
              <a:t>Decide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93240" y="7664053"/>
            <a:ext cx="11164472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Apply the rule: all required checks must pass.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8396" y="9036720"/>
            <a:ext cx="1514522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This is the project’s conceptual case study, not a claim that every cryptographic step has been independently security-tested.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592" y="567338"/>
            <a:ext cx="16243363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What the project demonstrates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8324" y="1455029"/>
            <a:ext cx="1098137" cy="75495"/>
            <a:chOff x="0" y="0"/>
            <a:chExt cx="1464183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183" cy="100711"/>
            </a:xfrm>
            <a:custGeom>
              <a:avLst/>
              <a:gdLst/>
              <a:ahLst/>
              <a:cxnLst/>
              <a:rect r="r" b="b" t="t" l="l"/>
              <a:pathLst>
                <a:path h="100711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4D7766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34044" y="1692926"/>
            <a:ext cx="15968824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A concise summary of the mathematical contribution.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8258" y="2738199"/>
            <a:ext cx="5093189" cy="3034179"/>
            <a:chOff x="0" y="0"/>
            <a:chExt cx="6790919" cy="40455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90944" cy="4045585"/>
            </a:xfrm>
            <a:custGeom>
              <a:avLst/>
              <a:gdLst/>
              <a:ahLst/>
              <a:cxnLst/>
              <a:rect r="r" b="b" t="t" l="l"/>
              <a:pathLst>
                <a:path h="4045585" w="6790944">
                  <a:moveTo>
                    <a:pt x="0" y="674243"/>
                  </a:moveTo>
                  <a:cubicBezTo>
                    <a:pt x="0" y="301879"/>
                    <a:pt x="301879" y="0"/>
                    <a:pt x="674243" y="0"/>
                  </a:cubicBezTo>
                  <a:lnTo>
                    <a:pt x="6116701" y="0"/>
                  </a:lnTo>
                  <a:cubicBezTo>
                    <a:pt x="6489065" y="0"/>
                    <a:pt x="6790944" y="301879"/>
                    <a:pt x="6790944" y="674243"/>
                  </a:cubicBezTo>
                  <a:lnTo>
                    <a:pt x="6790944" y="3371342"/>
                  </a:lnTo>
                  <a:cubicBezTo>
                    <a:pt x="6790944" y="3743706"/>
                    <a:pt x="6489065" y="4045585"/>
                    <a:pt x="6116701" y="4045585"/>
                  </a:cubicBezTo>
                  <a:lnTo>
                    <a:pt x="674243" y="4045585"/>
                  </a:lnTo>
                  <a:cubicBezTo>
                    <a:pt x="301879" y="4045585"/>
                    <a:pt x="0" y="3743706"/>
                    <a:pt x="0" y="337134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583112" y="3038142"/>
            <a:ext cx="438347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FORMAL RULES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3112" y="3642122"/>
            <a:ext cx="4383472" cy="185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Logic expresses when a message should be accepted or rejected.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81680" y="2738199"/>
            <a:ext cx="5093189" cy="3034179"/>
            <a:chOff x="0" y="0"/>
            <a:chExt cx="6790919" cy="40455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90944" cy="4045585"/>
            </a:xfrm>
            <a:custGeom>
              <a:avLst/>
              <a:gdLst/>
              <a:ahLst/>
              <a:cxnLst/>
              <a:rect r="r" b="b" t="t" l="l"/>
              <a:pathLst>
                <a:path h="4045585" w="6790944">
                  <a:moveTo>
                    <a:pt x="0" y="674243"/>
                  </a:moveTo>
                  <a:cubicBezTo>
                    <a:pt x="0" y="301879"/>
                    <a:pt x="301879" y="0"/>
                    <a:pt x="674243" y="0"/>
                  </a:cubicBezTo>
                  <a:lnTo>
                    <a:pt x="6116701" y="0"/>
                  </a:lnTo>
                  <a:cubicBezTo>
                    <a:pt x="6489065" y="0"/>
                    <a:pt x="6790944" y="301879"/>
                    <a:pt x="6790944" y="674243"/>
                  </a:cubicBezTo>
                  <a:lnTo>
                    <a:pt x="6790944" y="3371342"/>
                  </a:lnTo>
                  <a:cubicBezTo>
                    <a:pt x="6790944" y="3743706"/>
                    <a:pt x="6489065" y="4045585"/>
                    <a:pt x="6116701" y="4045585"/>
                  </a:cubicBezTo>
                  <a:lnTo>
                    <a:pt x="674243" y="4045585"/>
                  </a:lnTo>
                  <a:cubicBezTo>
                    <a:pt x="301879" y="4045585"/>
                    <a:pt x="0" y="3743706"/>
                    <a:pt x="0" y="337134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36534" y="3038142"/>
            <a:ext cx="438347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MATHEMATICAL MODELS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36534" y="3642122"/>
            <a:ext cx="4383472" cy="185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Sets, counting, number theory, graphs, and algebra model different security needs.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35101" y="2738199"/>
            <a:ext cx="5093189" cy="3034179"/>
            <a:chOff x="0" y="0"/>
            <a:chExt cx="6790919" cy="40455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90944" cy="4045585"/>
            </a:xfrm>
            <a:custGeom>
              <a:avLst/>
              <a:gdLst/>
              <a:ahLst/>
              <a:cxnLst/>
              <a:rect r="r" b="b" t="t" l="l"/>
              <a:pathLst>
                <a:path h="4045585" w="6790944">
                  <a:moveTo>
                    <a:pt x="0" y="674243"/>
                  </a:moveTo>
                  <a:cubicBezTo>
                    <a:pt x="0" y="301879"/>
                    <a:pt x="301879" y="0"/>
                    <a:pt x="674243" y="0"/>
                  </a:cubicBezTo>
                  <a:lnTo>
                    <a:pt x="6116701" y="0"/>
                  </a:lnTo>
                  <a:cubicBezTo>
                    <a:pt x="6489065" y="0"/>
                    <a:pt x="6790944" y="301879"/>
                    <a:pt x="6790944" y="674243"/>
                  </a:cubicBezTo>
                  <a:lnTo>
                    <a:pt x="6790944" y="3371342"/>
                  </a:lnTo>
                  <a:cubicBezTo>
                    <a:pt x="6790944" y="3743706"/>
                    <a:pt x="6489065" y="4045585"/>
                    <a:pt x="6116701" y="4045585"/>
                  </a:cubicBezTo>
                  <a:lnTo>
                    <a:pt x="674243" y="4045585"/>
                  </a:lnTo>
                  <a:cubicBezTo>
                    <a:pt x="301879" y="4045585"/>
                    <a:pt x="0" y="3743706"/>
                    <a:pt x="0" y="3371342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E2D2B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289955" y="3038142"/>
            <a:ext cx="438347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D7766"/>
                </a:solidFill>
                <a:latin typeface="Aptos Bold"/>
                <a:ea typeface="Aptos Bold"/>
                <a:cs typeface="Aptos Bold"/>
                <a:sym typeface="Aptos Bold"/>
              </a:rPr>
              <a:t>ONE ARCHITECTURE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89955" y="3642122"/>
            <a:ext cx="4383472" cy="185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63022"/>
                </a:solidFill>
                <a:latin typeface="Aptos"/>
                <a:ea typeface="Aptos"/>
                <a:cs typeface="Aptos"/>
                <a:sym typeface="Aptos"/>
              </a:rPr>
              <a:t>The six modules work together to explain authentication, key management, and message integrity.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5661" y="6987245"/>
            <a:ext cx="15007952" cy="92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463022"/>
                </a:solidFill>
                <a:latin typeface="Aptos Bold"/>
                <a:ea typeface="Aptos Bold"/>
                <a:cs typeface="Aptos Bold"/>
                <a:sym typeface="Aptos Bold"/>
              </a:rPr>
              <a:t>Conclusion: discrete mathematics provides the structure for describing and analysing secure messaging systems.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55053" y="9723063"/>
            <a:ext cx="59489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695E52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706" y="480431"/>
            <a:ext cx="17089774" cy="1235402"/>
            <a:chOff x="0" y="0"/>
            <a:chExt cx="22786365" cy="1647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86339" cy="1647317"/>
            </a:xfrm>
            <a:custGeom>
              <a:avLst/>
              <a:gdLst/>
              <a:ahLst/>
              <a:cxnLst/>
              <a:rect r="r" b="b" t="t" l="l"/>
              <a:pathLst>
                <a:path h="1647317" w="22786339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lnTo>
                    <a:pt x="22511765" y="0"/>
                  </a:lnTo>
                  <a:cubicBezTo>
                    <a:pt x="22663404" y="0"/>
                    <a:pt x="22786339" y="122936"/>
                    <a:pt x="22786339" y="274574"/>
                  </a:cubicBezTo>
                  <a:lnTo>
                    <a:pt x="22786339" y="1372743"/>
                  </a:lnTo>
                  <a:cubicBezTo>
                    <a:pt x="22786339" y="1524381"/>
                    <a:pt x="22663404" y="1647317"/>
                    <a:pt x="22511765" y="1647317"/>
                  </a:cubicBezTo>
                  <a:lnTo>
                    <a:pt x="274574" y="1647317"/>
                  </a:lnTo>
                  <a:cubicBezTo>
                    <a:pt x="122936" y="1647190"/>
                    <a:pt x="0" y="1524254"/>
                    <a:pt x="0" y="1372616"/>
                  </a:cubicBezTo>
                  <a:close/>
                </a:path>
              </a:pathLst>
            </a:custGeom>
            <a:solidFill>
              <a:srgbClr val="5B40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2786365" cy="1637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3"/>
                </a:lnSpc>
              </a:pPr>
              <a:r>
                <a:rPr lang="en-US" sz="4053" b="true">
                  <a:solidFill>
                    <a:srgbClr val="FFFAF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LINKS &amp; QR CODES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52312" y="2036093"/>
            <a:ext cx="16151924" cy="896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4E3522"/>
                </a:solidFill>
                <a:latin typeface="Aptos"/>
                <a:ea typeface="Aptos"/>
                <a:cs typeface="Aptos"/>
                <a:sym typeface="Aptos"/>
              </a:rPr>
              <a:t>GitHub Repository: https://github.com/alapatijohnbabu-bit/mathematical-security-architecture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4E3522"/>
                </a:solidFill>
                <a:latin typeface="Aptos"/>
                <a:ea typeface="Aptos"/>
                <a:cs typeface="Aptos"/>
                <a:sym typeface="Aptos"/>
              </a:rPr>
              <a:t>Live Website: https://strong-sorbet-1fbd13.netlify.app/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092" y="3355896"/>
            <a:ext cx="5161817" cy="5573620"/>
            <a:chOff x="0" y="0"/>
            <a:chExt cx="6882422" cy="74314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2384" cy="7431405"/>
            </a:xfrm>
            <a:custGeom>
              <a:avLst/>
              <a:gdLst/>
              <a:ahLst/>
              <a:cxnLst/>
              <a:rect r="r" b="b" t="t" l="l"/>
              <a:pathLst>
                <a:path h="7431405" w="6882384">
                  <a:moveTo>
                    <a:pt x="0" y="1147064"/>
                  </a:moveTo>
                  <a:cubicBezTo>
                    <a:pt x="0" y="513588"/>
                    <a:pt x="513588" y="0"/>
                    <a:pt x="1147064" y="0"/>
                  </a:cubicBezTo>
                  <a:lnTo>
                    <a:pt x="5735320" y="0"/>
                  </a:lnTo>
                  <a:cubicBezTo>
                    <a:pt x="6368796" y="0"/>
                    <a:pt x="6882384" y="513588"/>
                    <a:pt x="6882384" y="1147064"/>
                  </a:cubicBezTo>
                  <a:lnTo>
                    <a:pt x="6882384" y="6284341"/>
                  </a:lnTo>
                  <a:cubicBezTo>
                    <a:pt x="6882384" y="6917817"/>
                    <a:pt x="6368796" y="7431405"/>
                    <a:pt x="5735320" y="7431405"/>
                  </a:cubicBezTo>
                  <a:lnTo>
                    <a:pt x="1147064" y="7431405"/>
                  </a:lnTo>
                  <a:cubicBezTo>
                    <a:pt x="513588" y="7431532"/>
                    <a:pt x="0" y="6917944"/>
                    <a:pt x="0" y="6284341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3C1A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89577" y="3642122"/>
            <a:ext cx="455283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5B402A"/>
                </a:solidFill>
                <a:latin typeface="Aptos Bold"/>
                <a:ea typeface="Aptos Bold"/>
                <a:cs typeface="Aptos Bold"/>
                <a:sym typeface="Aptos Bold"/>
              </a:rPr>
              <a:t>LIVE WEBSITE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17833" y="4282735"/>
            <a:ext cx="2882608" cy="2882608"/>
            <a:chOff x="0" y="0"/>
            <a:chExt cx="3843477" cy="3843477"/>
          </a:xfrm>
        </p:grpSpPr>
        <p:sp>
          <p:nvSpPr>
            <p:cNvPr name="Freeform 10" id="10" descr="website_qr.png"/>
            <p:cNvSpPr/>
            <p:nvPr/>
          </p:nvSpPr>
          <p:spPr>
            <a:xfrm flipH="false" flipV="false" rot="0">
              <a:off x="0" y="0"/>
              <a:ext cx="3843528" cy="3843528"/>
            </a:xfrm>
            <a:custGeom>
              <a:avLst/>
              <a:gdLst/>
              <a:ahLst/>
              <a:cxnLst/>
              <a:rect r="r" b="b" t="t" l="l"/>
              <a:pathLst>
                <a:path h="3843528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3843528"/>
                  </a:lnTo>
                  <a:lnTo>
                    <a:pt x="0" y="384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39314" y="7384980"/>
            <a:ext cx="4639637" cy="1166774"/>
            <a:chOff x="0" y="0"/>
            <a:chExt cx="6186183" cy="15556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86177" cy="1555695"/>
            </a:xfrm>
            <a:custGeom>
              <a:avLst/>
              <a:gdLst/>
              <a:ahLst/>
              <a:cxnLst/>
              <a:rect r="r" b="b" t="t" l="l"/>
              <a:pathLst>
                <a:path h="1555695" w="6186177">
                  <a:moveTo>
                    <a:pt x="0" y="0"/>
                  </a:moveTo>
                  <a:lnTo>
                    <a:pt x="6186177" y="0"/>
                  </a:lnTo>
                  <a:lnTo>
                    <a:pt x="6186177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81" r="0" b="-2748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6186183" cy="1555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4E3522"/>
                  </a:solidFill>
                  <a:latin typeface="Aptos"/>
                  <a:ea typeface="Aptos"/>
                  <a:cs typeface="Aptos"/>
                  <a:sym typeface="Aptos"/>
                </a:rPr>
                <a:t>Scan to open the project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4E3522"/>
                  </a:solidFill>
                  <a:latin typeface="Aptos"/>
                  <a:ea typeface="Aptos"/>
                  <a:cs typeface="Aptos"/>
                  <a:sym typeface="Aptos"/>
                </a:rPr>
                <a:t>in a laptop or phone browser.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13043" y="3355896"/>
            <a:ext cx="5161817" cy="5573620"/>
            <a:chOff x="0" y="0"/>
            <a:chExt cx="6882422" cy="74314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82384" cy="7431405"/>
            </a:xfrm>
            <a:custGeom>
              <a:avLst/>
              <a:gdLst/>
              <a:ahLst/>
              <a:cxnLst/>
              <a:rect r="r" b="b" t="t" l="l"/>
              <a:pathLst>
                <a:path h="7431405" w="6882384">
                  <a:moveTo>
                    <a:pt x="0" y="1147064"/>
                  </a:moveTo>
                  <a:cubicBezTo>
                    <a:pt x="0" y="513588"/>
                    <a:pt x="513588" y="0"/>
                    <a:pt x="1147064" y="0"/>
                  </a:cubicBezTo>
                  <a:lnTo>
                    <a:pt x="5735320" y="0"/>
                  </a:lnTo>
                  <a:cubicBezTo>
                    <a:pt x="6368796" y="0"/>
                    <a:pt x="6882384" y="513588"/>
                    <a:pt x="6882384" y="1147064"/>
                  </a:cubicBezTo>
                  <a:lnTo>
                    <a:pt x="6882384" y="6284341"/>
                  </a:lnTo>
                  <a:cubicBezTo>
                    <a:pt x="6882384" y="6917817"/>
                    <a:pt x="6368796" y="7431405"/>
                    <a:pt x="5735320" y="7431405"/>
                  </a:cubicBezTo>
                  <a:lnTo>
                    <a:pt x="1147064" y="7431405"/>
                  </a:lnTo>
                  <a:cubicBezTo>
                    <a:pt x="513588" y="7431532"/>
                    <a:pt x="0" y="6917944"/>
                    <a:pt x="0" y="6284341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3C1A8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817538" y="3642122"/>
            <a:ext cx="455283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5B402A"/>
                </a:solidFill>
                <a:latin typeface="Aptos Bold"/>
                <a:ea typeface="Aptos Bold"/>
                <a:cs typeface="Aptos Bold"/>
                <a:sym typeface="Aptos Bold"/>
              </a:rPr>
              <a:t>GITHUB PROJECT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645784" y="4282735"/>
            <a:ext cx="2882608" cy="2882608"/>
            <a:chOff x="0" y="0"/>
            <a:chExt cx="3843477" cy="3843477"/>
          </a:xfrm>
        </p:grpSpPr>
        <p:sp>
          <p:nvSpPr>
            <p:cNvPr name="Freeform 18" id="18" descr="github_qr.png"/>
            <p:cNvSpPr/>
            <p:nvPr/>
          </p:nvSpPr>
          <p:spPr>
            <a:xfrm flipH="false" flipV="false" rot="0">
              <a:off x="0" y="0"/>
              <a:ext cx="3843528" cy="3843528"/>
            </a:xfrm>
            <a:custGeom>
              <a:avLst/>
              <a:gdLst/>
              <a:ahLst/>
              <a:cxnLst/>
              <a:rect r="r" b="b" t="t" l="l"/>
              <a:pathLst>
                <a:path h="3843528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3843528"/>
                  </a:lnTo>
                  <a:lnTo>
                    <a:pt x="0" y="384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767274" y="7384980"/>
            <a:ext cx="4639637" cy="1166774"/>
            <a:chOff x="0" y="0"/>
            <a:chExt cx="6186183" cy="15556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86177" cy="1555695"/>
            </a:xfrm>
            <a:custGeom>
              <a:avLst/>
              <a:gdLst/>
              <a:ahLst/>
              <a:cxnLst/>
              <a:rect r="r" b="b" t="t" l="l"/>
              <a:pathLst>
                <a:path h="1555695" w="6186177">
                  <a:moveTo>
                    <a:pt x="0" y="0"/>
                  </a:moveTo>
                  <a:lnTo>
                    <a:pt x="6186177" y="0"/>
                  </a:lnTo>
                  <a:lnTo>
                    <a:pt x="6186177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81" r="0" b="-2748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186183" cy="1555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4E3522"/>
                  </a:solidFill>
                  <a:latin typeface="Aptos"/>
                  <a:ea typeface="Aptos"/>
                  <a:cs typeface="Aptos"/>
                  <a:sym typeface="Aptos"/>
                </a:rPr>
                <a:t>Scan to view the source,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4E3522"/>
                  </a:solidFill>
                  <a:latin typeface="Aptos"/>
                  <a:ea typeface="Aptos"/>
                  <a:cs typeface="Aptos"/>
                  <a:sym typeface="Aptos"/>
                </a:rPr>
                <a:t>README and project files.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41003" y="3355896"/>
            <a:ext cx="5161817" cy="5573620"/>
            <a:chOff x="0" y="0"/>
            <a:chExt cx="6882422" cy="74314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82384" cy="7431405"/>
            </a:xfrm>
            <a:custGeom>
              <a:avLst/>
              <a:gdLst/>
              <a:ahLst/>
              <a:cxnLst/>
              <a:rect r="r" b="b" t="t" l="l"/>
              <a:pathLst>
                <a:path h="7431405" w="6882384">
                  <a:moveTo>
                    <a:pt x="0" y="1147064"/>
                  </a:moveTo>
                  <a:cubicBezTo>
                    <a:pt x="0" y="513588"/>
                    <a:pt x="513588" y="0"/>
                    <a:pt x="1147064" y="0"/>
                  </a:cubicBezTo>
                  <a:lnTo>
                    <a:pt x="5735320" y="0"/>
                  </a:lnTo>
                  <a:cubicBezTo>
                    <a:pt x="6368796" y="0"/>
                    <a:pt x="6882384" y="513588"/>
                    <a:pt x="6882384" y="1147064"/>
                  </a:cubicBezTo>
                  <a:lnTo>
                    <a:pt x="6882384" y="6284341"/>
                  </a:lnTo>
                  <a:cubicBezTo>
                    <a:pt x="6882384" y="6917817"/>
                    <a:pt x="6368796" y="7431405"/>
                    <a:pt x="5735320" y="7431405"/>
                  </a:cubicBezTo>
                  <a:lnTo>
                    <a:pt x="1147064" y="7431405"/>
                  </a:lnTo>
                  <a:cubicBezTo>
                    <a:pt x="513588" y="7431532"/>
                    <a:pt x="0" y="6917944"/>
                    <a:pt x="0" y="6284341"/>
                  </a:cubicBezTo>
                  <a:close/>
                </a:path>
              </a:pathLst>
            </a:custGeom>
            <a:solidFill>
              <a:srgbClr val="FFFCF6"/>
            </a:solidFill>
            <a:ln w="14299" cap="sq">
              <a:solidFill>
                <a:srgbClr val="D3C1A8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445489" y="3642122"/>
            <a:ext cx="455283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5B402A"/>
                </a:solidFill>
                <a:latin typeface="Aptos Bold"/>
                <a:ea typeface="Aptos Bold"/>
                <a:cs typeface="Aptos Bold"/>
                <a:sym typeface="Aptos Bold"/>
              </a:rPr>
              <a:t>BASE APP / APK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95235" y="7384980"/>
            <a:ext cx="4639637" cy="1166774"/>
            <a:chOff x="0" y="0"/>
            <a:chExt cx="6186183" cy="155569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86177" cy="1555695"/>
            </a:xfrm>
            <a:custGeom>
              <a:avLst/>
              <a:gdLst/>
              <a:ahLst/>
              <a:cxnLst/>
              <a:rect r="r" b="b" t="t" l="l"/>
              <a:pathLst>
                <a:path h="1555695" w="6186177">
                  <a:moveTo>
                    <a:pt x="0" y="0"/>
                  </a:moveTo>
                  <a:lnTo>
                    <a:pt x="6186177" y="0"/>
                  </a:lnTo>
                  <a:lnTo>
                    <a:pt x="6186177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81" r="0" b="-2748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186183" cy="1555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4E3522"/>
                  </a:solidFill>
                  <a:latin typeface="Aptos"/>
                  <a:ea typeface="Aptos"/>
                  <a:cs typeface="Aptos"/>
                  <a:sym typeface="Aptos"/>
                </a:rPr>
                <a:t>Scan the QR code you provided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4E3522"/>
                  </a:solidFill>
                  <a:latin typeface="Aptos"/>
                  <a:ea typeface="Aptos"/>
                  <a:cs typeface="Aptos"/>
                  <a:sym typeface="Aptos"/>
                </a:rPr>
                <a:t>to access your app.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20940" y="9270082"/>
            <a:ext cx="1608328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75563B"/>
                </a:solidFill>
                <a:latin typeface="Aptos Italics"/>
                <a:ea typeface="Aptos Italics"/>
                <a:cs typeface="Aptos Italics"/>
                <a:sym typeface="Aptos Italics"/>
              </a:rPr>
              <a:t>Base app QR code provided by the project owner.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273745" y="4282735"/>
            <a:ext cx="2882608" cy="2882608"/>
            <a:chOff x="0" y="0"/>
            <a:chExt cx="3843477" cy="3843477"/>
          </a:xfrm>
        </p:grpSpPr>
        <p:sp>
          <p:nvSpPr>
            <p:cNvPr name="Freeform 30" id="30" descr="1000193350.png"/>
            <p:cNvSpPr/>
            <p:nvPr/>
          </p:nvSpPr>
          <p:spPr>
            <a:xfrm flipH="false" flipV="false" rot="0">
              <a:off x="0" y="0"/>
              <a:ext cx="3843528" cy="3843528"/>
            </a:xfrm>
            <a:custGeom>
              <a:avLst/>
              <a:gdLst/>
              <a:ahLst/>
              <a:cxnLst/>
              <a:rect r="r" b="b" t="t" l="l"/>
              <a:pathLst>
                <a:path h="3843528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3843528"/>
                  </a:lnTo>
                  <a:lnTo>
                    <a:pt x="0" y="384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DAHYCjYPVas</dc:identifier>
  <dcterms:modified xsi:type="dcterms:W3CDTF">2011-08-01T06:04:30Z</dcterms:modified>
  <cp:revision>1</cp:revision>
  <dc:title>mathematical_security_project_final_qr.pptx</dc:title>
</cp:coreProperties>
</file>